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8" r:id="rId1"/>
  </p:sldMasterIdLst>
  <p:notesMasterIdLst>
    <p:notesMasterId r:id="rId32"/>
  </p:notesMasterIdLst>
  <p:sldIdLst>
    <p:sldId id="256" r:id="rId2"/>
    <p:sldId id="257" r:id="rId3"/>
    <p:sldId id="282" r:id="rId4"/>
    <p:sldId id="283" r:id="rId5"/>
    <p:sldId id="284" r:id="rId6"/>
    <p:sldId id="285" r:id="rId7"/>
    <p:sldId id="272" r:id="rId8"/>
    <p:sldId id="281" r:id="rId9"/>
    <p:sldId id="258" r:id="rId10"/>
    <p:sldId id="276" r:id="rId11"/>
    <p:sldId id="259" r:id="rId12"/>
    <p:sldId id="274" r:id="rId13"/>
    <p:sldId id="273" r:id="rId14"/>
    <p:sldId id="277" r:id="rId15"/>
    <p:sldId id="278" r:id="rId16"/>
    <p:sldId id="270" r:id="rId17"/>
    <p:sldId id="271" r:id="rId18"/>
    <p:sldId id="275" r:id="rId19"/>
    <p:sldId id="260" r:id="rId20"/>
    <p:sldId id="280" r:id="rId21"/>
    <p:sldId id="261" r:id="rId22"/>
    <p:sldId id="279" r:id="rId23"/>
    <p:sldId id="262" r:id="rId24"/>
    <p:sldId id="263" r:id="rId25"/>
    <p:sldId id="264" r:id="rId26"/>
    <p:sldId id="265" r:id="rId27"/>
    <p:sldId id="269" r:id="rId28"/>
    <p:sldId id="266" r:id="rId29"/>
    <p:sldId id="267" r:id="rId30"/>
    <p:sldId id="268" r:id="rId31"/>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1A8210-842F-4628-AB7B-31DA93E461B6}" v="7" dt="2026-06-19T09:55:06.5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020" autoAdjust="0"/>
  </p:normalViewPr>
  <p:slideViewPr>
    <p:cSldViewPr snapToGrid="0">
      <p:cViewPr varScale="1">
        <p:scale>
          <a:sx n="161" d="100"/>
          <a:sy n="161" d="100"/>
        </p:scale>
        <p:origin x="2488"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kas Ott" userId="37bbbfe7-548d-45d7-948e-7f281591a279" providerId="ADAL" clId="{F0D8CBBF-E659-493E-9C07-8E98833A790D}"/>
    <pc:docChg chg="undo custSel mod addSld delSld modSld sldOrd addMainMaster delMainMaster">
      <pc:chgData name="Lukas Ott" userId="37bbbfe7-548d-45d7-948e-7f281591a279" providerId="ADAL" clId="{F0D8CBBF-E659-493E-9C07-8E98833A790D}" dt="2026-06-19T09:55:22.009" v="707" actId="729"/>
      <pc:docMkLst>
        <pc:docMk/>
      </pc:docMkLst>
      <pc:sldChg chg="addSp modSp mod">
        <pc:chgData name="Lukas Ott" userId="37bbbfe7-548d-45d7-948e-7f281591a279" providerId="ADAL" clId="{F0D8CBBF-E659-493E-9C07-8E98833A790D}" dt="2026-05-22T13:08:25.392" v="622" actId="20577"/>
        <pc:sldMkLst>
          <pc:docMk/>
          <pc:sldMk cId="610228760" sldId="256"/>
        </pc:sldMkLst>
        <pc:spChg chg="mod">
          <ac:chgData name="Lukas Ott" userId="37bbbfe7-548d-45d7-948e-7f281591a279" providerId="ADAL" clId="{F0D8CBBF-E659-493E-9C07-8E98833A790D}" dt="2026-05-22T13:08:25.392" v="622" actId="20577"/>
          <ac:spMkLst>
            <pc:docMk/>
            <pc:sldMk cId="610228760" sldId="256"/>
            <ac:spMk id="3" creationId="{09D8D554-E820-D9AF-56FC-BC7CE485040A}"/>
          </ac:spMkLst>
        </pc:spChg>
      </pc:sldChg>
      <pc:sldChg chg="addSp delSp modSp new mod">
        <pc:chgData name="Lukas Ott" userId="37bbbfe7-548d-45d7-948e-7f281591a279" providerId="ADAL" clId="{F0D8CBBF-E659-493E-9C07-8E98833A790D}" dt="2026-06-19T09:48:08.569" v="628" actId="20577"/>
        <pc:sldMkLst>
          <pc:docMk/>
          <pc:sldMk cId="1118671862" sldId="281"/>
        </pc:sldMkLst>
        <pc:spChg chg="mod">
          <ac:chgData name="Lukas Ott" userId="37bbbfe7-548d-45d7-948e-7f281591a279" providerId="ADAL" clId="{F0D8CBBF-E659-493E-9C07-8E98833A790D}" dt="2026-06-19T09:47:44.688" v="624"/>
          <ac:spMkLst>
            <pc:docMk/>
            <pc:sldMk cId="1118671862" sldId="281"/>
            <ac:spMk id="2" creationId="{37638DE7-DCDB-64BD-7C9A-9033A13CC111}"/>
          </ac:spMkLst>
        </pc:spChg>
        <pc:spChg chg="add del mod">
          <ac:chgData name="Lukas Ott" userId="37bbbfe7-548d-45d7-948e-7f281591a279" providerId="ADAL" clId="{F0D8CBBF-E659-493E-9C07-8E98833A790D}" dt="2026-06-19T09:48:08.569" v="628" actId="20577"/>
          <ac:spMkLst>
            <pc:docMk/>
            <pc:sldMk cId="1118671862" sldId="281"/>
            <ac:spMk id="3" creationId="{AC54EE73-EE23-B128-7ECA-E54301239342}"/>
          </ac:spMkLst>
        </pc:spChg>
        <pc:spChg chg="add mod">
          <ac:chgData name="Lukas Ott" userId="37bbbfe7-548d-45d7-948e-7f281591a279" providerId="ADAL" clId="{F0D8CBBF-E659-493E-9C07-8E98833A790D}" dt="2026-06-19T09:48:02.319" v="626"/>
          <ac:spMkLst>
            <pc:docMk/>
            <pc:sldMk cId="1118671862" sldId="281"/>
            <ac:spMk id="4" creationId="{2A3575EF-EECC-058B-4A3D-E90A5CF14671}"/>
          </ac:spMkLst>
        </pc:spChg>
      </pc:sldChg>
      <pc:sldChg chg="addSp modSp new mod ord modShow">
        <pc:chgData name="Lukas Ott" userId="37bbbfe7-548d-45d7-948e-7f281591a279" providerId="ADAL" clId="{F0D8CBBF-E659-493E-9C07-8E98833A790D}" dt="2026-06-19T09:52:54.212" v="674" actId="729"/>
        <pc:sldMkLst>
          <pc:docMk/>
          <pc:sldMk cId="592151036" sldId="282"/>
        </pc:sldMkLst>
        <pc:spChg chg="mod">
          <ac:chgData name="Lukas Ott" userId="37bbbfe7-548d-45d7-948e-7f281591a279" providerId="ADAL" clId="{F0D8CBBF-E659-493E-9C07-8E98833A790D}" dt="2026-06-19T09:51:51.328" v="632" actId="20577"/>
          <ac:spMkLst>
            <pc:docMk/>
            <pc:sldMk cId="592151036" sldId="282"/>
            <ac:spMk id="2" creationId="{1135D0D3-1C42-6246-0382-09F9FCAE36F9}"/>
          </ac:spMkLst>
        </pc:spChg>
        <pc:spChg chg="mod">
          <ac:chgData name="Lukas Ott" userId="37bbbfe7-548d-45d7-948e-7f281591a279" providerId="ADAL" clId="{F0D8CBBF-E659-493E-9C07-8E98833A790D}" dt="2026-06-19T09:52:15.583" v="638" actId="113"/>
          <ac:spMkLst>
            <pc:docMk/>
            <pc:sldMk cId="592151036" sldId="282"/>
            <ac:spMk id="3" creationId="{7D6E9360-C4E1-C096-467B-84E4C0C68C7C}"/>
          </ac:spMkLst>
        </pc:spChg>
        <pc:spChg chg="add mod">
          <ac:chgData name="Lukas Ott" userId="37bbbfe7-548d-45d7-948e-7f281591a279" providerId="ADAL" clId="{F0D8CBBF-E659-493E-9C07-8E98833A790D}" dt="2026-06-19T09:52:43.929" v="671" actId="1076"/>
          <ac:spMkLst>
            <pc:docMk/>
            <pc:sldMk cId="592151036" sldId="282"/>
            <ac:spMk id="4" creationId="{4C23C073-9AE8-A62B-A1FE-BB6B5E06CBE1}"/>
          </ac:spMkLst>
        </pc:spChg>
      </pc:sldChg>
      <pc:sldChg chg="addSp modSp new mod modShow">
        <pc:chgData name="Lukas Ott" userId="37bbbfe7-548d-45d7-948e-7f281591a279" providerId="ADAL" clId="{F0D8CBBF-E659-493E-9C07-8E98833A790D}" dt="2026-06-19T09:55:10.815" v="705" actId="729"/>
        <pc:sldMkLst>
          <pc:docMk/>
          <pc:sldMk cId="730485435" sldId="283"/>
        </pc:sldMkLst>
        <pc:spChg chg="mod">
          <ac:chgData name="Lukas Ott" userId="37bbbfe7-548d-45d7-948e-7f281591a279" providerId="ADAL" clId="{F0D8CBBF-E659-493E-9C07-8E98833A790D}" dt="2026-06-19T09:53:10.026" v="679" actId="20577"/>
          <ac:spMkLst>
            <pc:docMk/>
            <pc:sldMk cId="730485435" sldId="283"/>
            <ac:spMk id="2" creationId="{B212A580-35E2-0386-076C-6976B7A5BD99}"/>
          </ac:spMkLst>
        </pc:spChg>
        <pc:spChg chg="mod">
          <ac:chgData name="Lukas Ott" userId="37bbbfe7-548d-45d7-948e-7f281591a279" providerId="ADAL" clId="{F0D8CBBF-E659-493E-9C07-8E98833A790D}" dt="2026-06-19T09:53:41.990" v="686" actId="113"/>
          <ac:spMkLst>
            <pc:docMk/>
            <pc:sldMk cId="730485435" sldId="283"/>
            <ac:spMk id="3" creationId="{B1CEC972-5689-A28E-7979-63D01B6AF0D7}"/>
          </ac:spMkLst>
        </pc:spChg>
        <pc:spChg chg="add mod">
          <ac:chgData name="Lukas Ott" userId="37bbbfe7-548d-45d7-948e-7f281591a279" providerId="ADAL" clId="{F0D8CBBF-E659-493E-9C07-8E98833A790D}" dt="2026-06-19T09:53:16.183" v="680"/>
          <ac:spMkLst>
            <pc:docMk/>
            <pc:sldMk cId="730485435" sldId="283"/>
            <ac:spMk id="4" creationId="{7F48D1D2-78E7-092B-753E-0E00C976FB9B}"/>
          </ac:spMkLst>
        </pc:spChg>
      </pc:sldChg>
      <pc:sldChg chg="addSp modSp new mod modShow">
        <pc:chgData name="Lukas Ott" userId="37bbbfe7-548d-45d7-948e-7f281591a279" providerId="ADAL" clId="{F0D8CBBF-E659-493E-9C07-8E98833A790D}" dt="2026-06-19T09:55:17.188" v="706" actId="729"/>
        <pc:sldMkLst>
          <pc:docMk/>
          <pc:sldMk cId="649813360" sldId="284"/>
        </pc:sldMkLst>
        <pc:spChg chg="mod">
          <ac:chgData name="Lukas Ott" userId="37bbbfe7-548d-45d7-948e-7f281591a279" providerId="ADAL" clId="{F0D8CBBF-E659-493E-9C07-8E98833A790D}" dt="2026-06-19T09:53:52.775" v="689" actId="27636"/>
          <ac:spMkLst>
            <pc:docMk/>
            <pc:sldMk cId="649813360" sldId="284"/>
            <ac:spMk id="2" creationId="{66685AC0-E36B-26FB-1B27-80A3B4A12827}"/>
          </ac:spMkLst>
        </pc:spChg>
        <pc:spChg chg="mod">
          <ac:chgData name="Lukas Ott" userId="37bbbfe7-548d-45d7-948e-7f281591a279" providerId="ADAL" clId="{F0D8CBBF-E659-493E-9C07-8E98833A790D}" dt="2026-06-19T09:54:16.043" v="695" actId="113"/>
          <ac:spMkLst>
            <pc:docMk/>
            <pc:sldMk cId="649813360" sldId="284"/>
            <ac:spMk id="3" creationId="{E619F924-FEE4-3457-EA0B-4F7B9872B036}"/>
          </ac:spMkLst>
        </pc:spChg>
        <pc:spChg chg="add mod">
          <ac:chgData name="Lukas Ott" userId="37bbbfe7-548d-45d7-948e-7f281591a279" providerId="ADAL" clId="{F0D8CBBF-E659-493E-9C07-8E98833A790D}" dt="2026-06-19T09:55:05.332" v="703"/>
          <ac:spMkLst>
            <pc:docMk/>
            <pc:sldMk cId="649813360" sldId="284"/>
            <ac:spMk id="4" creationId="{DF8D041E-5570-5B8D-7F42-3C72640CBFA5}"/>
          </ac:spMkLst>
        </pc:spChg>
      </pc:sldChg>
      <pc:sldChg chg="addSp modSp new mod modShow">
        <pc:chgData name="Lukas Ott" userId="37bbbfe7-548d-45d7-948e-7f281591a279" providerId="ADAL" clId="{F0D8CBBF-E659-493E-9C07-8E98833A790D}" dt="2026-06-19T09:55:22.009" v="707" actId="729"/>
        <pc:sldMkLst>
          <pc:docMk/>
          <pc:sldMk cId="3796117504" sldId="285"/>
        </pc:sldMkLst>
        <pc:spChg chg="mod">
          <ac:chgData name="Lukas Ott" userId="37bbbfe7-548d-45d7-948e-7f281591a279" providerId="ADAL" clId="{F0D8CBBF-E659-493E-9C07-8E98833A790D}" dt="2026-06-19T09:54:29.672" v="698" actId="27636"/>
          <ac:spMkLst>
            <pc:docMk/>
            <pc:sldMk cId="3796117504" sldId="285"/>
            <ac:spMk id="2" creationId="{648830D2-937A-F630-5C89-D4473C090698}"/>
          </ac:spMkLst>
        </pc:spChg>
        <pc:spChg chg="mod">
          <ac:chgData name="Lukas Ott" userId="37bbbfe7-548d-45d7-948e-7f281591a279" providerId="ADAL" clId="{F0D8CBBF-E659-493E-9C07-8E98833A790D}" dt="2026-06-19T09:54:45.711" v="702" actId="113"/>
          <ac:spMkLst>
            <pc:docMk/>
            <pc:sldMk cId="3796117504" sldId="285"/>
            <ac:spMk id="3" creationId="{757C265A-7F4F-5155-8539-2D30FA081BA1}"/>
          </ac:spMkLst>
        </pc:spChg>
        <pc:spChg chg="add mod">
          <ac:chgData name="Lukas Ott" userId="37bbbfe7-548d-45d7-948e-7f281591a279" providerId="ADAL" clId="{F0D8CBBF-E659-493E-9C07-8E98833A790D}" dt="2026-06-19T09:55:06.514" v="704"/>
          <ac:spMkLst>
            <pc:docMk/>
            <pc:sldMk cId="3796117504" sldId="285"/>
            <ac:spMk id="4" creationId="{63617957-0BF7-468C-6981-A9CF159D4F1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F80D41-BFFE-4241-90DD-FD15E303D2AB}" type="datetimeFigureOut">
              <a:rPr lang="en-DE" smtClean="0"/>
              <a:t>19/06/2026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6CBFF-2B9B-4E81-B44E-FEC33C1B4ABD}" type="slidenum">
              <a:rPr lang="en-DE" smtClean="0"/>
              <a:t>‹#›</a:t>
            </a:fld>
            <a:endParaRPr lang="en-DE"/>
          </a:p>
        </p:txBody>
      </p:sp>
    </p:spTree>
    <p:extLst>
      <p:ext uri="{BB962C8B-B14F-4D97-AF65-F5344CB8AC3E}">
        <p14:creationId xmlns:p14="http://schemas.microsoft.com/office/powerpoint/2010/main" val="1803984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Slide Content</a:t>
            </a:r>
          </a:p>
          <a:p>
            <a:pPr fontAlgn="t"/>
            <a:r>
              <a:rPr lang="en-US" sz="1200" b="0" i="0" kern="1200" dirty="0">
                <a:solidFill>
                  <a:schemeClr val="tx1"/>
                </a:solidFill>
                <a:effectLst/>
                <a:latin typeface="+mn-lt"/>
                <a:ea typeface="+mn-ea"/>
                <a:cs typeface="+mn-cs"/>
              </a:rPr>
              <a:t>GMP‑regulated industries demand trustworthy </a:t>
            </a:r>
            <a:r>
              <a:rPr lang="en-US" sz="1200" b="0" i="0" kern="1200" dirty="0" err="1">
                <a:solidFill>
                  <a:schemeClr val="tx1"/>
                </a:solidFill>
                <a:effectLst/>
                <a:latin typeface="+mn-lt"/>
                <a:ea typeface="+mn-ea"/>
                <a:cs typeface="+mn-cs"/>
              </a:rPr>
              <a:t>IIoT</a:t>
            </a:r>
            <a:r>
              <a:rPr lang="en-US" sz="1200" b="0" i="0" kern="1200" dirty="0">
                <a:solidFill>
                  <a:schemeClr val="tx1"/>
                </a:solidFill>
                <a:effectLst/>
                <a:latin typeface="+mn-lt"/>
                <a:ea typeface="+mn-ea"/>
                <a:cs typeface="+mn-cs"/>
              </a:rPr>
              <a:t> data</a:t>
            </a:r>
          </a:p>
          <a:p>
            <a:pPr fontAlgn="t"/>
            <a:r>
              <a:rPr lang="en-US" sz="1200" b="0" i="0" kern="1200" dirty="0">
                <a:solidFill>
                  <a:schemeClr val="tx1"/>
                </a:solidFill>
                <a:effectLst/>
                <a:latin typeface="+mn-lt"/>
                <a:ea typeface="+mn-ea"/>
                <a:cs typeface="+mn-cs"/>
              </a:rPr>
              <a:t>Annex 11 &amp; FDA 21 CFR Part 11 → focus on data integrity</a:t>
            </a:r>
          </a:p>
          <a:p>
            <a:pPr fontAlgn="t"/>
            <a:r>
              <a:rPr lang="en-US" sz="1200" b="0" i="0" kern="1200" dirty="0">
                <a:solidFill>
                  <a:schemeClr val="tx1"/>
                </a:solidFill>
                <a:effectLst/>
                <a:latin typeface="+mn-lt"/>
                <a:ea typeface="+mn-ea"/>
                <a:cs typeface="+mn-cs"/>
              </a:rPr>
              <a:t>Open source technologies enable scalable, auditable industrial platforms</a:t>
            </a:r>
          </a:p>
          <a:p>
            <a:pPr fontAlgn="t"/>
            <a:r>
              <a:rPr lang="en-US" sz="1200" b="1" i="0" kern="1200" dirty="0">
                <a:solidFill>
                  <a:schemeClr val="tx1"/>
                </a:solidFill>
                <a:effectLst/>
                <a:latin typeface="+mn-lt"/>
                <a:ea typeface="+mn-ea"/>
                <a:cs typeface="+mn-cs"/>
              </a:rPr>
              <a:t>Speaker Notes</a:t>
            </a:r>
          </a:p>
          <a:p>
            <a:pPr fontAlgn="t"/>
            <a:r>
              <a:rPr lang="en-US" sz="1200" b="0" i="0" kern="1200" dirty="0">
                <a:solidFill>
                  <a:schemeClr val="tx1"/>
                </a:solidFill>
                <a:effectLst/>
                <a:latin typeface="+mn-lt"/>
                <a:ea typeface="+mn-ea"/>
                <a:cs typeface="+mn-cs"/>
              </a:rPr>
              <a:t>Open with the core challenge: industrial processes generate massive volumes of time-series data, but regulations require strict control and traceability.</a:t>
            </a:r>
          </a:p>
          <a:p>
            <a:pPr fontAlgn="t"/>
            <a:r>
              <a:rPr lang="en-US" sz="1200" b="0" i="0" kern="1200" dirty="0">
                <a:solidFill>
                  <a:schemeClr val="tx1"/>
                </a:solidFill>
                <a:effectLst/>
                <a:latin typeface="+mn-lt"/>
                <a:ea typeface="+mn-ea"/>
                <a:cs typeface="+mn-cs"/>
              </a:rPr>
              <a:t>Many vendors offer expensive historians; however, open‑source solutions are now mature enough for regulated environments.</a:t>
            </a:r>
          </a:p>
          <a:p>
            <a:pPr fontAlgn="t"/>
            <a:r>
              <a:rPr lang="en-US" sz="1200" b="0" i="0" kern="1200" dirty="0">
                <a:solidFill>
                  <a:schemeClr val="tx1"/>
                </a:solidFill>
                <a:effectLst/>
                <a:latin typeface="+mn-lt"/>
                <a:ea typeface="+mn-ea"/>
                <a:cs typeface="+mn-cs"/>
              </a:rPr>
              <a:t>Introduce the goal: show how the Apache ecosystem can power a compliant </a:t>
            </a:r>
            <a:r>
              <a:rPr lang="en-US" sz="1200" b="0" i="0" kern="1200" dirty="0" err="1">
                <a:solidFill>
                  <a:schemeClr val="tx1"/>
                </a:solidFill>
                <a:effectLst/>
                <a:latin typeface="+mn-lt"/>
                <a:ea typeface="+mn-ea"/>
                <a:cs typeface="+mn-cs"/>
              </a:rPr>
              <a:t>IIoT</a:t>
            </a:r>
            <a:r>
              <a:rPr lang="en-US" sz="1200" b="0" i="0" kern="1200" dirty="0">
                <a:solidFill>
                  <a:schemeClr val="tx1"/>
                </a:solidFill>
                <a:effectLst/>
                <a:latin typeface="+mn-lt"/>
                <a:ea typeface="+mn-ea"/>
                <a:cs typeface="+mn-cs"/>
              </a:rPr>
              <a:t> platform combining historians, stream processing, ingestion pipelines, and data lakes.</a:t>
            </a:r>
          </a:p>
          <a:p>
            <a:endParaRPr lang="en-DE" dirty="0"/>
          </a:p>
        </p:txBody>
      </p:sp>
      <p:sp>
        <p:nvSpPr>
          <p:cNvPr id="4" name="Slide Number Placeholder 3"/>
          <p:cNvSpPr>
            <a:spLocks noGrp="1"/>
          </p:cNvSpPr>
          <p:nvPr>
            <p:ph type="sldNum" sz="quarter" idx="5"/>
          </p:nvPr>
        </p:nvSpPr>
        <p:spPr/>
        <p:txBody>
          <a:bodyPr/>
          <a:lstStyle/>
          <a:p>
            <a:fld id="{2776CBFF-2B9B-4E81-B44E-FEC33C1B4ABD}" type="slidenum">
              <a:rPr lang="en-DE" smtClean="0"/>
              <a:t>9</a:t>
            </a:fld>
            <a:endParaRPr lang="en-DE"/>
          </a:p>
        </p:txBody>
      </p:sp>
    </p:spTree>
    <p:extLst>
      <p:ext uri="{BB962C8B-B14F-4D97-AF65-F5344CB8AC3E}">
        <p14:creationId xmlns:p14="http://schemas.microsoft.com/office/powerpoint/2010/main" val="1844991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de-DE" sz="1200" b="1" i="0" kern="1200" dirty="0">
                <a:solidFill>
                  <a:schemeClr val="tx1"/>
                </a:solidFill>
                <a:effectLst/>
                <a:latin typeface="+mn-lt"/>
                <a:ea typeface="+mn-ea"/>
                <a:cs typeface="+mn-cs"/>
              </a:rPr>
              <a:t>Slide Content</a:t>
            </a:r>
          </a:p>
          <a:p>
            <a:pPr fontAlgn="t"/>
            <a:r>
              <a:rPr lang="de-DE" sz="1200" b="0" i="0" kern="1200" dirty="0">
                <a:solidFill>
                  <a:schemeClr val="tx1"/>
                </a:solidFill>
                <a:effectLst/>
                <a:latin typeface="+mn-lt"/>
                <a:ea typeface="+mn-ea"/>
                <a:cs typeface="+mn-cs"/>
              </a:rPr>
              <a:t>ALCOA+ </a:t>
            </a:r>
            <a:r>
              <a:rPr lang="de-DE" sz="1200" b="0" i="0" kern="1200" dirty="0" err="1">
                <a:solidFill>
                  <a:schemeClr val="tx1"/>
                </a:solidFill>
                <a:effectLst/>
                <a:latin typeface="+mn-lt"/>
                <a:ea typeface="+mn-ea"/>
                <a:cs typeface="+mn-cs"/>
              </a:rPr>
              <a:t>principles</a:t>
            </a:r>
            <a:endParaRPr lang="de-DE" sz="1200" b="0" i="0" kern="1200" dirty="0">
              <a:solidFill>
                <a:schemeClr val="tx1"/>
              </a:solidFill>
              <a:effectLst/>
              <a:latin typeface="+mn-lt"/>
              <a:ea typeface="+mn-ea"/>
              <a:cs typeface="+mn-cs"/>
            </a:endParaRPr>
          </a:p>
          <a:p>
            <a:pPr fontAlgn="t"/>
            <a:r>
              <a:rPr lang="de-DE" sz="1200" b="0" i="0" kern="1200" dirty="0">
                <a:solidFill>
                  <a:schemeClr val="tx1"/>
                </a:solidFill>
                <a:effectLst/>
                <a:latin typeface="+mn-lt"/>
                <a:ea typeface="+mn-ea"/>
                <a:cs typeface="+mn-cs"/>
              </a:rPr>
              <a:t>Audit </a:t>
            </a:r>
            <a:r>
              <a:rPr lang="de-DE" sz="1200" b="0" i="0" kern="1200" dirty="0" err="1">
                <a:solidFill>
                  <a:schemeClr val="tx1"/>
                </a:solidFill>
                <a:effectLst/>
                <a:latin typeface="+mn-lt"/>
                <a:ea typeface="+mn-ea"/>
                <a:cs typeface="+mn-cs"/>
              </a:rPr>
              <a:t>trails</a:t>
            </a:r>
            <a:r>
              <a:rPr lang="de-DE" sz="1200" b="0" i="0" kern="1200" dirty="0">
                <a:solidFill>
                  <a:schemeClr val="tx1"/>
                </a:solidFill>
                <a:effectLst/>
                <a:latin typeface="+mn-lt"/>
                <a:ea typeface="+mn-ea"/>
                <a:cs typeface="+mn-cs"/>
              </a:rPr>
              <a:t> &amp; electronic </a:t>
            </a:r>
            <a:r>
              <a:rPr lang="de-DE" sz="1200" b="0" i="0" kern="1200" dirty="0" err="1">
                <a:solidFill>
                  <a:schemeClr val="tx1"/>
                </a:solidFill>
                <a:effectLst/>
                <a:latin typeface="+mn-lt"/>
                <a:ea typeface="+mn-ea"/>
                <a:cs typeface="+mn-cs"/>
              </a:rPr>
              <a:t>records</a:t>
            </a:r>
            <a:endParaRPr lang="de-DE" sz="1200" b="0" i="0" kern="1200" dirty="0">
              <a:solidFill>
                <a:schemeClr val="tx1"/>
              </a:solidFill>
              <a:effectLst/>
              <a:latin typeface="+mn-lt"/>
              <a:ea typeface="+mn-ea"/>
              <a:cs typeface="+mn-cs"/>
            </a:endParaRPr>
          </a:p>
          <a:p>
            <a:pPr fontAlgn="t"/>
            <a:r>
              <a:rPr lang="de-DE" sz="1200" b="0" i="0" kern="1200" dirty="0">
                <a:solidFill>
                  <a:schemeClr val="tx1"/>
                </a:solidFill>
                <a:effectLst/>
                <a:latin typeface="+mn-lt"/>
                <a:ea typeface="+mn-ea"/>
                <a:cs typeface="+mn-cs"/>
              </a:rPr>
              <a:t>Validation &amp; </a:t>
            </a:r>
            <a:r>
              <a:rPr lang="de-DE" sz="1200" b="0" i="0" kern="1200" dirty="0" err="1">
                <a:solidFill>
                  <a:schemeClr val="tx1"/>
                </a:solidFill>
                <a:effectLst/>
                <a:latin typeface="+mn-lt"/>
                <a:ea typeface="+mn-ea"/>
                <a:cs typeface="+mn-cs"/>
              </a:rPr>
              <a:t>reproducibility</a:t>
            </a:r>
            <a:endParaRPr lang="de-DE" sz="1200" b="0" i="0" kern="1200" dirty="0">
              <a:solidFill>
                <a:schemeClr val="tx1"/>
              </a:solidFill>
              <a:effectLst/>
              <a:latin typeface="+mn-lt"/>
              <a:ea typeface="+mn-ea"/>
              <a:cs typeface="+mn-cs"/>
            </a:endParaRPr>
          </a:p>
          <a:p>
            <a:pPr fontAlgn="t"/>
            <a:r>
              <a:rPr lang="de-DE" sz="1200" b="0" i="0" kern="1200" dirty="0">
                <a:solidFill>
                  <a:schemeClr val="tx1"/>
                </a:solidFill>
                <a:effectLst/>
                <a:latin typeface="+mn-lt"/>
                <a:ea typeface="+mn-ea"/>
                <a:cs typeface="+mn-cs"/>
              </a:rPr>
              <a:t>High-</a:t>
            </a:r>
            <a:r>
              <a:rPr lang="de-DE" sz="1200" b="0" i="0" kern="1200" dirty="0" err="1">
                <a:solidFill>
                  <a:schemeClr val="tx1"/>
                </a:solidFill>
                <a:effectLst/>
                <a:latin typeface="+mn-lt"/>
                <a:ea typeface="+mn-ea"/>
                <a:cs typeface="+mn-cs"/>
              </a:rPr>
              <a:t>frequency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sensor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introduces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challenges</a:t>
            </a:r>
            <a:endParaRPr lang="de-DE" sz="1200" b="0" i="0" kern="1200" dirty="0">
              <a:solidFill>
                <a:schemeClr val="tx1"/>
              </a:solidFill>
              <a:effectLst/>
              <a:latin typeface="+mn-lt"/>
              <a:ea typeface="+mn-ea"/>
              <a:cs typeface="+mn-cs"/>
            </a:endParaRPr>
          </a:p>
          <a:p>
            <a:pPr fontAlgn="t"/>
            <a:r>
              <a:rPr lang="de-DE" sz="1200" b="1" i="0" kern="1200" dirty="0">
                <a:solidFill>
                  <a:schemeClr val="tx1"/>
                </a:solidFill>
                <a:effectLst/>
                <a:latin typeface="+mn-lt"/>
                <a:ea typeface="+mn-ea"/>
                <a:cs typeface="+mn-cs"/>
              </a:rPr>
              <a:t>Speaker Notes</a:t>
            </a:r>
          </a:p>
          <a:p>
            <a:pPr fontAlgn="t"/>
            <a:r>
              <a:rPr lang="de-DE" sz="1200" b="0" i="0" kern="1200" dirty="0">
                <a:solidFill>
                  <a:schemeClr val="tx1"/>
                </a:solidFill>
                <a:effectLst/>
                <a:latin typeface="+mn-lt"/>
                <a:ea typeface="+mn-ea"/>
                <a:cs typeface="+mn-cs"/>
              </a:rPr>
              <a:t>Walk </a:t>
            </a:r>
            <a:r>
              <a:rPr lang="de-DE" sz="1200" b="0" i="0" kern="1200" dirty="0" err="1">
                <a:solidFill>
                  <a:schemeClr val="tx1"/>
                </a:solidFill>
                <a:effectLst/>
                <a:latin typeface="+mn-lt"/>
                <a:ea typeface="+mn-ea"/>
                <a:cs typeface="+mn-cs"/>
              </a:rPr>
              <a:t>through</a:t>
            </a:r>
            <a:r>
              <a:rPr lang="de-DE" sz="1200" b="0" i="0" kern="1200" dirty="0">
                <a:solidFill>
                  <a:schemeClr val="tx1"/>
                </a:solidFill>
                <a:effectLst/>
                <a:latin typeface="+mn-lt"/>
                <a:ea typeface="+mn-ea"/>
                <a:cs typeface="+mn-cs"/>
              </a:rPr>
              <a:t> ALCOA+ </a:t>
            </a:r>
            <a:r>
              <a:rPr lang="de-DE" sz="1200" b="0" i="0" kern="1200" dirty="0" err="1">
                <a:solidFill>
                  <a:schemeClr val="tx1"/>
                </a:solidFill>
                <a:effectLst/>
                <a:latin typeface="+mn-lt"/>
                <a:ea typeface="+mn-ea"/>
                <a:cs typeface="+mn-cs"/>
              </a:rPr>
              <a:t>briefly</a:t>
            </a:r>
            <a:r>
              <a:rPr lang="de-DE" sz="1200" b="0" i="0" kern="1200" dirty="0">
                <a:solidFill>
                  <a:schemeClr val="tx1"/>
                </a:solidFill>
                <a:effectLst/>
                <a:latin typeface="+mn-lt"/>
                <a:ea typeface="+mn-ea"/>
                <a:cs typeface="+mn-cs"/>
              </a:rPr>
              <a:t>: Attributable, </a:t>
            </a:r>
            <a:r>
              <a:rPr lang="de-DE" sz="1200" b="0" i="0" kern="1200" dirty="0" err="1">
                <a:solidFill>
                  <a:schemeClr val="tx1"/>
                </a:solidFill>
                <a:effectLst/>
                <a:latin typeface="+mn-lt"/>
                <a:ea typeface="+mn-ea"/>
                <a:cs typeface="+mn-cs"/>
              </a:rPr>
              <a:t>Legible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Contemporaneous</a:t>
            </a:r>
            <a:r>
              <a:rPr lang="de-DE" sz="1200" b="0" i="0" kern="1200" dirty="0">
                <a:solidFill>
                  <a:schemeClr val="tx1"/>
                </a:solidFill>
                <a:effectLst/>
                <a:latin typeface="+mn-lt"/>
                <a:ea typeface="+mn-ea"/>
                <a:cs typeface="+mn-cs"/>
              </a:rPr>
              <a:t>, Original, </a:t>
            </a:r>
            <a:r>
              <a:rPr lang="de-DE" sz="1200" b="0" i="0" kern="1200" dirty="0" err="1">
                <a:solidFill>
                  <a:schemeClr val="tx1"/>
                </a:solidFill>
                <a:effectLst/>
                <a:latin typeface="+mn-lt"/>
                <a:ea typeface="+mn-ea"/>
                <a:cs typeface="+mn-cs"/>
              </a:rPr>
              <a:t>Accurate</a:t>
            </a:r>
            <a:r>
              <a:rPr lang="de-DE" sz="1200" b="0" i="0" kern="1200" dirty="0">
                <a:solidFill>
                  <a:schemeClr val="tx1"/>
                </a:solidFill>
                <a:effectLst/>
                <a:latin typeface="+mn-lt"/>
                <a:ea typeface="+mn-ea"/>
                <a:cs typeface="+mn-cs"/>
              </a:rPr>
              <a:t> + </a:t>
            </a:r>
            <a:r>
              <a:rPr lang="de-DE" sz="1200" b="0" i="0" kern="1200" dirty="0" err="1">
                <a:solidFill>
                  <a:schemeClr val="tx1"/>
                </a:solidFill>
                <a:effectLst/>
                <a:latin typeface="+mn-lt"/>
                <a:ea typeface="+mn-ea"/>
                <a:cs typeface="+mn-cs"/>
              </a:rPr>
              <a:t>Complete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Consistent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Enduring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Available</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Emphasize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how</a:t>
            </a:r>
            <a:r>
              <a:rPr lang="de-DE" sz="1200" b="0" i="0" kern="1200" dirty="0">
                <a:solidFill>
                  <a:schemeClr val="tx1"/>
                </a:solidFill>
                <a:effectLst/>
                <a:latin typeface="+mn-lt"/>
                <a:ea typeface="+mn-ea"/>
                <a:cs typeface="+mn-cs"/>
              </a:rPr>
              <a:t> time-</a:t>
            </a:r>
            <a:r>
              <a:rPr lang="de-DE" sz="1200" b="0" i="0" kern="1200" dirty="0" err="1">
                <a:solidFill>
                  <a:schemeClr val="tx1"/>
                </a:solidFill>
                <a:effectLst/>
                <a:latin typeface="+mn-lt"/>
                <a:ea typeface="+mn-ea"/>
                <a:cs typeface="+mn-cs"/>
              </a:rPr>
              <a:t>series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creates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new</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pressures</a:t>
            </a:r>
            <a:r>
              <a:rPr lang="de-DE" sz="1200" b="0" i="0" kern="1200" dirty="0">
                <a:solidFill>
                  <a:schemeClr val="tx1"/>
                </a:solidFill>
                <a:effectLst/>
                <a:latin typeface="+mn-lt"/>
                <a:ea typeface="+mn-ea"/>
                <a:cs typeface="+mn-cs"/>
              </a:rPr>
              <a:t>: rapid </a:t>
            </a:r>
            <a:r>
              <a:rPr lang="de-DE" sz="1200" b="0" i="0" kern="1200" dirty="0" err="1">
                <a:solidFill>
                  <a:schemeClr val="tx1"/>
                </a:solidFill>
                <a:effectLst/>
                <a:latin typeface="+mn-lt"/>
                <a:ea typeface="+mn-ea"/>
                <a:cs typeface="+mn-cs"/>
              </a:rPr>
              <a:t>ingestion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lossless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integrity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versioning</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long</a:t>
            </a:r>
            <a:r>
              <a:rPr lang="de-DE" sz="1200" b="0" i="0" kern="1200" dirty="0">
                <a:solidFill>
                  <a:schemeClr val="tx1"/>
                </a:solidFill>
                <a:effectLst/>
                <a:latin typeface="+mn-lt"/>
                <a:ea typeface="+mn-ea"/>
                <a:cs typeface="+mn-cs"/>
              </a:rPr>
              <a:t>-term </a:t>
            </a:r>
            <a:r>
              <a:rPr lang="de-DE" sz="1200" b="0" i="0" kern="1200" dirty="0" err="1">
                <a:solidFill>
                  <a:schemeClr val="tx1"/>
                </a:solidFill>
                <a:effectLst/>
                <a:latin typeface="+mn-lt"/>
                <a:ea typeface="+mn-ea"/>
                <a:cs typeface="+mn-cs"/>
              </a:rPr>
              <a:t>storage</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Bridge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specialized</a:t>
            </a:r>
            <a:r>
              <a:rPr lang="de-DE" sz="1200" b="0" i="0" kern="1200" dirty="0">
                <a:solidFill>
                  <a:schemeClr val="tx1"/>
                </a:solidFill>
                <a:effectLst/>
                <a:latin typeface="+mn-lt"/>
                <a:ea typeface="+mn-ea"/>
                <a:cs typeface="+mn-cs"/>
              </a:rPr>
              <a:t> time-</a:t>
            </a:r>
            <a:r>
              <a:rPr lang="de-DE" sz="1200" b="0" i="0" kern="1200" dirty="0" err="1">
                <a:solidFill>
                  <a:schemeClr val="tx1"/>
                </a:solidFill>
                <a:effectLst/>
                <a:latin typeface="+mn-lt"/>
                <a:ea typeface="+mn-ea"/>
                <a:cs typeface="+mn-cs"/>
              </a:rPr>
              <a:t>series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systems</a:t>
            </a:r>
            <a:r>
              <a:rPr lang="de-DE" sz="1200" b="0" i="0" kern="1200" dirty="0">
                <a:solidFill>
                  <a:schemeClr val="tx1"/>
                </a:solidFill>
                <a:effectLst/>
                <a:latin typeface="+mn-lt"/>
                <a:ea typeface="+mn-ea"/>
                <a:cs typeface="+mn-cs"/>
              </a:rPr>
              <a:t> like </a:t>
            </a:r>
            <a:r>
              <a:rPr lang="de-DE" sz="1200" b="0" i="0" kern="1200" dirty="0" err="1">
                <a:solidFill>
                  <a:schemeClr val="tx1"/>
                </a:solidFill>
                <a:effectLst/>
                <a:latin typeface="+mn-lt"/>
                <a:ea typeface="+mn-ea"/>
                <a:cs typeface="+mn-cs"/>
              </a:rPr>
              <a:t>IoTDB</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TSFile</a:t>
            </a:r>
            <a:r>
              <a:rPr lang="de-DE" sz="1200" b="0" i="0" kern="1200" dirty="0">
                <a:solidFill>
                  <a:schemeClr val="tx1"/>
                </a:solidFill>
                <a:effectLst/>
                <a:latin typeface="+mn-lt"/>
                <a:ea typeface="+mn-ea"/>
                <a:cs typeface="+mn-cs"/>
              </a:rPr>
              <a:t> matter.</a:t>
            </a:r>
          </a:p>
          <a:p>
            <a:endParaRPr lang="en-DE" dirty="0"/>
          </a:p>
        </p:txBody>
      </p:sp>
      <p:sp>
        <p:nvSpPr>
          <p:cNvPr id="4" name="Slide Number Placeholder 3"/>
          <p:cNvSpPr>
            <a:spLocks noGrp="1"/>
          </p:cNvSpPr>
          <p:nvPr>
            <p:ph type="sldNum" sz="quarter" idx="5"/>
          </p:nvPr>
        </p:nvSpPr>
        <p:spPr/>
        <p:txBody>
          <a:bodyPr/>
          <a:lstStyle/>
          <a:p>
            <a:fld id="{2776CBFF-2B9B-4E81-B44E-FEC33C1B4ABD}" type="slidenum">
              <a:rPr lang="en-DE" smtClean="0"/>
              <a:t>11</a:t>
            </a:fld>
            <a:endParaRPr lang="en-DE"/>
          </a:p>
        </p:txBody>
      </p:sp>
    </p:spTree>
    <p:extLst>
      <p:ext uri="{BB962C8B-B14F-4D97-AF65-F5344CB8AC3E}">
        <p14:creationId xmlns:p14="http://schemas.microsoft.com/office/powerpoint/2010/main" val="2940860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Slide Content</a:t>
            </a:r>
          </a:p>
          <a:p>
            <a:pPr fontAlgn="t"/>
            <a:r>
              <a:rPr lang="en-US" sz="1200" b="0" i="0" kern="1200" dirty="0">
                <a:solidFill>
                  <a:schemeClr val="tx1"/>
                </a:solidFill>
                <a:effectLst/>
                <a:latin typeface="+mn-lt"/>
                <a:ea typeface="+mn-ea"/>
                <a:cs typeface="+mn-cs"/>
              </a:rPr>
              <a:t>Transparency &amp; trust</a:t>
            </a:r>
          </a:p>
          <a:p>
            <a:pPr fontAlgn="t"/>
            <a:r>
              <a:rPr lang="en-US" sz="1200" b="0" i="0" kern="1200" dirty="0">
                <a:solidFill>
                  <a:schemeClr val="tx1"/>
                </a:solidFill>
                <a:effectLst/>
                <a:latin typeface="+mn-lt"/>
                <a:ea typeface="+mn-ea"/>
                <a:cs typeface="+mn-cs"/>
              </a:rPr>
              <a:t>Extensibility &amp; interoperability</a:t>
            </a:r>
          </a:p>
          <a:p>
            <a:pPr fontAlgn="t"/>
            <a:r>
              <a:rPr lang="en-US" sz="1200" b="0" i="0" kern="1200" dirty="0">
                <a:solidFill>
                  <a:schemeClr val="tx1"/>
                </a:solidFill>
                <a:effectLst/>
                <a:latin typeface="+mn-lt"/>
                <a:ea typeface="+mn-ea"/>
                <a:cs typeface="+mn-cs"/>
              </a:rPr>
              <a:t>Strong community governance</a:t>
            </a:r>
          </a:p>
          <a:p>
            <a:pPr fontAlgn="t"/>
            <a:r>
              <a:rPr lang="en-US" sz="1200" b="0" i="0" kern="1200" dirty="0">
                <a:solidFill>
                  <a:schemeClr val="tx1"/>
                </a:solidFill>
                <a:effectLst/>
                <a:latin typeface="+mn-lt"/>
                <a:ea typeface="+mn-ea"/>
                <a:cs typeface="+mn-cs"/>
              </a:rPr>
              <a:t>Vendor independence</a:t>
            </a:r>
          </a:p>
          <a:p>
            <a:pPr fontAlgn="t"/>
            <a:r>
              <a:rPr lang="en-US" sz="1200" b="1" i="0" kern="1200" dirty="0">
                <a:solidFill>
                  <a:schemeClr val="tx1"/>
                </a:solidFill>
                <a:effectLst/>
                <a:latin typeface="+mn-lt"/>
                <a:ea typeface="+mn-ea"/>
                <a:cs typeface="+mn-cs"/>
              </a:rPr>
              <a:t>Speaker Notes</a:t>
            </a:r>
          </a:p>
          <a:p>
            <a:pPr fontAlgn="t"/>
            <a:r>
              <a:rPr lang="en-US" sz="1200" b="0" i="0" kern="1200" dirty="0">
                <a:solidFill>
                  <a:schemeClr val="tx1"/>
                </a:solidFill>
                <a:effectLst/>
                <a:latin typeface="+mn-lt"/>
                <a:ea typeface="+mn-ea"/>
                <a:cs typeface="+mn-cs"/>
              </a:rPr>
              <a:t>Explain that open source aligns well with validation because code is inspectable.</a:t>
            </a:r>
          </a:p>
          <a:p>
            <a:pPr fontAlgn="t"/>
            <a:r>
              <a:rPr lang="en-US" sz="1200" b="0" i="0" kern="1200" dirty="0">
                <a:solidFill>
                  <a:schemeClr val="tx1"/>
                </a:solidFill>
                <a:effectLst/>
                <a:latin typeface="+mn-lt"/>
                <a:ea typeface="+mn-ea"/>
                <a:cs typeface="+mn-cs"/>
              </a:rPr>
              <a:t>Community-driven release cycles reduce lock‑in and increase reliability.</a:t>
            </a:r>
          </a:p>
          <a:p>
            <a:pPr fontAlgn="t"/>
            <a:r>
              <a:rPr lang="en-US" sz="1200" b="0" i="0" kern="1200" dirty="0">
                <a:solidFill>
                  <a:schemeClr val="tx1"/>
                </a:solidFill>
                <a:effectLst/>
                <a:latin typeface="+mn-lt"/>
                <a:ea typeface="+mn-ea"/>
                <a:cs typeface="+mn-cs"/>
              </a:rPr>
              <a:t>Show that major enterprises rely on Apache foundations for mission‑critical workloads.</a:t>
            </a:r>
          </a:p>
          <a:p>
            <a:endParaRPr lang="en-DE" dirty="0"/>
          </a:p>
        </p:txBody>
      </p:sp>
      <p:sp>
        <p:nvSpPr>
          <p:cNvPr id="4" name="Slide Number Placeholder 3"/>
          <p:cNvSpPr>
            <a:spLocks noGrp="1"/>
          </p:cNvSpPr>
          <p:nvPr>
            <p:ph type="sldNum" sz="quarter" idx="5"/>
          </p:nvPr>
        </p:nvSpPr>
        <p:spPr/>
        <p:txBody>
          <a:bodyPr/>
          <a:lstStyle/>
          <a:p>
            <a:fld id="{2776CBFF-2B9B-4E81-B44E-FEC33C1B4ABD}" type="slidenum">
              <a:rPr lang="en-DE" smtClean="0"/>
              <a:t>19</a:t>
            </a:fld>
            <a:endParaRPr lang="en-DE"/>
          </a:p>
        </p:txBody>
      </p:sp>
    </p:spTree>
    <p:extLst>
      <p:ext uri="{BB962C8B-B14F-4D97-AF65-F5344CB8AC3E}">
        <p14:creationId xmlns:p14="http://schemas.microsoft.com/office/powerpoint/2010/main" val="1502572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Slide Content</a:t>
            </a:r>
          </a:p>
          <a:p>
            <a:pPr fontAlgn="t"/>
            <a:r>
              <a:rPr lang="en-US" sz="1200" b="0" i="0" kern="1200" dirty="0">
                <a:solidFill>
                  <a:schemeClr val="tx1"/>
                </a:solidFill>
                <a:effectLst/>
                <a:latin typeface="+mn-lt"/>
                <a:ea typeface="+mn-ea"/>
                <a:cs typeface="+mn-cs"/>
              </a:rPr>
              <a:t>High‑performance time-series ingestion</a:t>
            </a:r>
          </a:p>
          <a:p>
            <a:pPr fontAlgn="t"/>
            <a:r>
              <a:rPr lang="en-US" sz="1200" b="0" i="0" kern="1200" dirty="0">
                <a:solidFill>
                  <a:schemeClr val="tx1"/>
                </a:solidFill>
                <a:effectLst/>
                <a:latin typeface="+mn-lt"/>
                <a:ea typeface="+mn-ea"/>
                <a:cs typeface="+mn-cs"/>
              </a:rPr>
              <a:t>Schema model for machine data</a:t>
            </a:r>
          </a:p>
          <a:p>
            <a:pPr fontAlgn="t"/>
            <a:r>
              <a:rPr lang="en-US" sz="1200" b="0" i="0" kern="1200" dirty="0">
                <a:solidFill>
                  <a:schemeClr val="tx1"/>
                </a:solidFill>
                <a:effectLst/>
                <a:latin typeface="+mn-lt"/>
                <a:ea typeface="+mn-ea"/>
                <a:cs typeface="+mn-cs"/>
              </a:rPr>
              <a:t>Role as hot storage</a:t>
            </a:r>
          </a:p>
          <a:p>
            <a:pPr fontAlgn="t"/>
            <a:r>
              <a:rPr lang="en-US" sz="1200" b="0" i="0" kern="1200" dirty="0">
                <a:solidFill>
                  <a:schemeClr val="tx1"/>
                </a:solidFill>
                <a:effectLst/>
                <a:latin typeface="+mn-lt"/>
                <a:ea typeface="+mn-ea"/>
                <a:cs typeface="+mn-cs"/>
              </a:rPr>
              <a:t>Built-in mechanisms supporting auditability</a:t>
            </a:r>
          </a:p>
          <a:p>
            <a:pPr fontAlgn="t"/>
            <a:r>
              <a:rPr lang="en-US" sz="1200" b="1" i="0" kern="1200" dirty="0">
                <a:solidFill>
                  <a:schemeClr val="tx1"/>
                </a:solidFill>
                <a:effectLst/>
                <a:latin typeface="+mn-lt"/>
                <a:ea typeface="+mn-ea"/>
                <a:cs typeface="+mn-cs"/>
              </a:rPr>
              <a:t>Speaker Notes</a:t>
            </a:r>
          </a:p>
          <a:p>
            <a:pPr fontAlgn="t"/>
            <a:r>
              <a:rPr lang="en-US" sz="1200" b="0" i="0" kern="1200" dirty="0">
                <a:solidFill>
                  <a:schemeClr val="tx1"/>
                </a:solidFill>
                <a:effectLst/>
                <a:latin typeface="+mn-lt"/>
                <a:ea typeface="+mn-ea"/>
                <a:cs typeface="+mn-cs"/>
              </a:rPr>
              <a:t>Describe </a:t>
            </a:r>
            <a:r>
              <a:rPr lang="en-US" sz="1200" b="0" i="0" kern="1200" dirty="0" err="1">
                <a:solidFill>
                  <a:schemeClr val="tx1"/>
                </a:solidFill>
                <a:effectLst/>
                <a:latin typeface="+mn-lt"/>
                <a:ea typeface="+mn-ea"/>
                <a:cs typeface="+mn-cs"/>
              </a:rPr>
              <a:t>IoTDB's</a:t>
            </a:r>
            <a:r>
              <a:rPr lang="en-US" sz="1200" b="0" i="0" kern="1200" dirty="0">
                <a:solidFill>
                  <a:schemeClr val="tx1"/>
                </a:solidFill>
                <a:effectLst/>
                <a:latin typeface="+mn-lt"/>
                <a:ea typeface="+mn-ea"/>
                <a:cs typeface="+mn-cs"/>
              </a:rPr>
              <a:t> performance advantages in </a:t>
            </a:r>
            <a:r>
              <a:rPr lang="en-US" sz="1200" b="0" i="0" kern="1200" dirty="0" err="1">
                <a:solidFill>
                  <a:schemeClr val="tx1"/>
                </a:solidFill>
                <a:effectLst/>
                <a:latin typeface="+mn-lt"/>
                <a:ea typeface="+mn-ea"/>
                <a:cs typeface="+mn-cs"/>
              </a:rPr>
              <a:t>IIoT</a:t>
            </a:r>
            <a:r>
              <a:rPr lang="en-US" sz="1200" b="0" i="0" kern="1200" dirty="0">
                <a:solidFill>
                  <a:schemeClr val="tx1"/>
                </a:solidFill>
                <a:effectLst/>
                <a:latin typeface="+mn-lt"/>
                <a:ea typeface="+mn-ea"/>
                <a:cs typeface="+mn-cs"/>
              </a:rPr>
              <a:t> environments (compression, efficient writes).</a:t>
            </a:r>
          </a:p>
          <a:p>
            <a:pPr fontAlgn="t"/>
            <a:r>
              <a:rPr lang="en-US" sz="1200" b="0" i="0" kern="1200" dirty="0">
                <a:solidFill>
                  <a:schemeClr val="tx1"/>
                </a:solidFill>
                <a:effectLst/>
                <a:latin typeface="+mn-lt"/>
                <a:ea typeface="+mn-ea"/>
                <a:cs typeface="+mn-cs"/>
              </a:rPr>
              <a:t>Explain why historians are foundational in GMP: all raw sensor data must be captured in its original form.</a:t>
            </a:r>
          </a:p>
          <a:p>
            <a:pPr fontAlgn="t"/>
            <a:r>
              <a:rPr lang="en-US" sz="1200" b="0" i="0" kern="1200" dirty="0">
                <a:solidFill>
                  <a:schemeClr val="tx1"/>
                </a:solidFill>
                <a:effectLst/>
                <a:latin typeface="+mn-lt"/>
                <a:ea typeface="+mn-ea"/>
                <a:cs typeface="+mn-cs"/>
              </a:rPr>
              <a:t>Mention access control, retention, and logging as components supporting compliance (not turn‑key validation, but enablers).</a:t>
            </a:r>
          </a:p>
          <a:p>
            <a:endParaRPr lang="en-DE" dirty="0"/>
          </a:p>
        </p:txBody>
      </p:sp>
      <p:sp>
        <p:nvSpPr>
          <p:cNvPr id="4" name="Slide Number Placeholder 3"/>
          <p:cNvSpPr>
            <a:spLocks noGrp="1"/>
          </p:cNvSpPr>
          <p:nvPr>
            <p:ph type="sldNum" sz="quarter" idx="5"/>
          </p:nvPr>
        </p:nvSpPr>
        <p:spPr/>
        <p:txBody>
          <a:bodyPr/>
          <a:lstStyle/>
          <a:p>
            <a:fld id="{2776CBFF-2B9B-4E81-B44E-FEC33C1B4ABD}" type="slidenum">
              <a:rPr lang="en-DE" smtClean="0"/>
              <a:t>21</a:t>
            </a:fld>
            <a:endParaRPr lang="en-DE"/>
          </a:p>
        </p:txBody>
      </p:sp>
    </p:spTree>
    <p:extLst>
      <p:ext uri="{BB962C8B-B14F-4D97-AF65-F5344CB8AC3E}">
        <p14:creationId xmlns:p14="http://schemas.microsoft.com/office/powerpoint/2010/main" val="1980958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de-DE" sz="1200" b="1" i="0" kern="1200" dirty="0">
                <a:solidFill>
                  <a:schemeClr val="tx1"/>
                </a:solidFill>
                <a:effectLst/>
                <a:latin typeface="+mn-lt"/>
                <a:ea typeface="+mn-ea"/>
                <a:cs typeface="+mn-cs"/>
              </a:rPr>
              <a:t>Slide Content</a:t>
            </a:r>
          </a:p>
          <a:p>
            <a:pPr fontAlgn="t"/>
            <a:r>
              <a:rPr lang="de-DE" sz="1200" b="0" i="0" kern="1200" dirty="0" err="1">
                <a:solidFill>
                  <a:schemeClr val="tx1"/>
                </a:solidFill>
                <a:effectLst/>
                <a:latin typeface="+mn-lt"/>
                <a:ea typeface="+mn-ea"/>
                <a:cs typeface="+mn-cs"/>
              </a:rPr>
              <a:t>TSFile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overview</a:t>
            </a:r>
            <a:endParaRPr lang="de-DE" sz="1200" b="0" i="0" kern="1200" dirty="0">
              <a:solidFill>
                <a:schemeClr val="tx1"/>
              </a:solidFill>
              <a:effectLst/>
              <a:latin typeface="+mn-lt"/>
              <a:ea typeface="+mn-ea"/>
              <a:cs typeface="+mn-cs"/>
            </a:endParaRPr>
          </a:p>
          <a:p>
            <a:pPr fontAlgn="t"/>
            <a:r>
              <a:rPr lang="de-DE" sz="1200" b="0" i="0" kern="1200" dirty="0" err="1">
                <a:solidFill>
                  <a:schemeClr val="tx1"/>
                </a:solidFill>
                <a:effectLst/>
                <a:latin typeface="+mn-lt"/>
                <a:ea typeface="+mn-ea"/>
                <a:cs typeface="+mn-cs"/>
              </a:rPr>
              <a:t>TSFile’s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immutability</a:t>
            </a:r>
            <a:r>
              <a:rPr lang="de-DE" sz="1200" b="0" i="0" kern="1200" dirty="0">
                <a:solidFill>
                  <a:schemeClr val="tx1"/>
                </a:solidFill>
                <a:effectLst/>
                <a:latin typeface="+mn-lt"/>
                <a:ea typeface="+mn-ea"/>
                <a:cs typeface="+mn-cs"/>
              </a:rPr>
              <a:t> &amp; </a:t>
            </a:r>
            <a:r>
              <a:rPr lang="de-DE" sz="1200" b="0" i="0" kern="1200" dirty="0" err="1">
                <a:solidFill>
                  <a:schemeClr val="tx1"/>
                </a:solidFill>
                <a:effectLst/>
                <a:latin typeface="+mn-lt"/>
                <a:ea typeface="+mn-ea"/>
                <a:cs typeface="+mn-cs"/>
              </a:rPr>
              <a:t>chunked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layout</a:t>
            </a:r>
            <a:endParaRPr lang="de-DE" sz="1200" b="0" i="0" kern="1200" dirty="0">
              <a:solidFill>
                <a:schemeClr val="tx1"/>
              </a:solidFill>
              <a:effectLst/>
              <a:latin typeface="+mn-lt"/>
              <a:ea typeface="+mn-ea"/>
              <a:cs typeface="+mn-cs"/>
            </a:endParaRPr>
          </a:p>
          <a:p>
            <a:pPr fontAlgn="t"/>
            <a:r>
              <a:rPr lang="de-DE" sz="1200" b="0" i="0" kern="1200" dirty="0" err="1">
                <a:solidFill>
                  <a:schemeClr val="tx1"/>
                </a:solidFill>
                <a:effectLst/>
                <a:latin typeface="+mn-lt"/>
                <a:ea typeface="+mn-ea"/>
                <a:cs typeface="+mn-cs"/>
              </a:rPr>
              <a:t>Iceberg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long</a:t>
            </a:r>
            <a:r>
              <a:rPr lang="de-DE" sz="1200" b="0" i="0" kern="1200" dirty="0">
                <a:solidFill>
                  <a:schemeClr val="tx1"/>
                </a:solidFill>
                <a:effectLst/>
                <a:latin typeface="+mn-lt"/>
                <a:ea typeface="+mn-ea"/>
                <a:cs typeface="+mn-cs"/>
              </a:rPr>
              <a:t>-term </a:t>
            </a:r>
            <a:r>
              <a:rPr lang="de-DE" sz="1200" b="0" i="0" kern="1200" dirty="0" err="1">
                <a:solidFill>
                  <a:schemeClr val="tx1"/>
                </a:solidFill>
                <a:effectLst/>
                <a:latin typeface="+mn-lt"/>
                <a:ea typeface="+mn-ea"/>
                <a:cs typeface="+mn-cs"/>
              </a:rPr>
              <a:t>storage</a:t>
            </a:r>
            <a:endParaRPr lang="de-DE" sz="1200" b="0" i="0" kern="1200" dirty="0">
              <a:solidFill>
                <a:schemeClr val="tx1"/>
              </a:solidFill>
              <a:effectLst/>
              <a:latin typeface="+mn-lt"/>
              <a:ea typeface="+mn-ea"/>
              <a:cs typeface="+mn-cs"/>
            </a:endParaRPr>
          </a:p>
          <a:p>
            <a:pPr fontAlgn="t"/>
            <a:r>
              <a:rPr lang="de-DE" sz="1200" b="0" i="0" kern="1200" dirty="0" err="1">
                <a:solidFill>
                  <a:schemeClr val="tx1"/>
                </a:solidFill>
                <a:effectLst/>
                <a:latin typeface="+mn-lt"/>
                <a:ea typeface="+mn-ea"/>
                <a:cs typeface="+mn-cs"/>
              </a:rPr>
              <a:t>Combined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architecture</a:t>
            </a:r>
            <a:endParaRPr lang="de-DE" sz="1200" b="0" i="0" kern="1200" dirty="0">
              <a:solidFill>
                <a:schemeClr val="tx1"/>
              </a:solidFill>
              <a:effectLst/>
              <a:latin typeface="+mn-lt"/>
              <a:ea typeface="+mn-ea"/>
              <a:cs typeface="+mn-cs"/>
            </a:endParaRPr>
          </a:p>
          <a:p>
            <a:pPr fontAlgn="t"/>
            <a:r>
              <a:rPr lang="de-DE" sz="1200" b="1" i="0" kern="1200" dirty="0">
                <a:solidFill>
                  <a:schemeClr val="tx1"/>
                </a:solidFill>
                <a:effectLst/>
                <a:latin typeface="+mn-lt"/>
                <a:ea typeface="+mn-ea"/>
                <a:cs typeface="+mn-cs"/>
              </a:rPr>
              <a:t>Speaker Notes</a:t>
            </a:r>
          </a:p>
          <a:p>
            <a:pPr fontAlgn="t"/>
            <a:r>
              <a:rPr lang="de-DE" sz="1200" b="0" i="0" kern="1200" dirty="0" err="1">
                <a:solidFill>
                  <a:schemeClr val="tx1"/>
                </a:solidFill>
                <a:effectLst/>
                <a:latin typeface="+mn-lt"/>
                <a:ea typeface="+mn-ea"/>
                <a:cs typeface="+mn-cs"/>
              </a:rPr>
              <a:t>TSFile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highly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optimized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for</a:t>
            </a:r>
            <a:r>
              <a:rPr lang="de-DE" sz="1200" b="0" i="0" kern="1200" dirty="0">
                <a:solidFill>
                  <a:schemeClr val="tx1"/>
                </a:solidFill>
                <a:effectLst/>
                <a:latin typeface="+mn-lt"/>
                <a:ea typeface="+mn-ea"/>
                <a:cs typeface="+mn-cs"/>
              </a:rPr>
              <a:t> large-</a:t>
            </a:r>
            <a:r>
              <a:rPr lang="de-DE" sz="1200" b="0" i="0" kern="1200" dirty="0" err="1">
                <a:solidFill>
                  <a:schemeClr val="tx1"/>
                </a:solidFill>
                <a:effectLst/>
                <a:latin typeface="+mn-lt"/>
                <a:ea typeface="+mn-ea"/>
                <a:cs typeface="+mn-cs"/>
              </a:rPr>
              <a:t>scale</a:t>
            </a:r>
            <a:r>
              <a:rPr lang="de-DE" sz="1200" b="0" i="0" kern="1200" dirty="0">
                <a:solidFill>
                  <a:schemeClr val="tx1"/>
                </a:solidFill>
                <a:effectLst/>
                <a:latin typeface="+mn-lt"/>
                <a:ea typeface="+mn-ea"/>
                <a:cs typeface="+mn-cs"/>
              </a:rPr>
              <a:t> time-</a:t>
            </a:r>
            <a:r>
              <a:rPr lang="de-DE" sz="1200" b="0" i="0" kern="1200" dirty="0" err="1">
                <a:solidFill>
                  <a:schemeClr val="tx1"/>
                </a:solidFill>
                <a:effectLst/>
                <a:latin typeface="+mn-lt"/>
                <a:ea typeface="+mn-ea"/>
                <a:cs typeface="+mn-cs"/>
              </a:rPr>
              <a:t>series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offering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structured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segments</a:t>
            </a:r>
            <a:r>
              <a:rPr lang="de-DE" sz="1200" b="0" i="0" kern="1200" dirty="0">
                <a:solidFill>
                  <a:schemeClr val="tx1"/>
                </a:solidFill>
                <a:effectLst/>
                <a:latin typeface="+mn-lt"/>
                <a:ea typeface="+mn-ea"/>
                <a:cs typeface="+mn-cs"/>
              </a:rPr>
              <a:t> ideal </a:t>
            </a:r>
            <a:r>
              <a:rPr lang="de-DE" sz="1200" b="0" i="0" kern="1200" dirty="0" err="1">
                <a:solidFill>
                  <a:schemeClr val="tx1"/>
                </a:solidFill>
                <a:effectLst/>
                <a:latin typeface="+mn-lt"/>
                <a:ea typeface="+mn-ea"/>
                <a:cs typeface="+mn-cs"/>
              </a:rPr>
              <a:t>for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auditability</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Iceberg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provides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metadata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layer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needed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cold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storage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schema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evolution</a:t>
            </a:r>
            <a:r>
              <a:rPr lang="de-DE" sz="1200" b="0" i="0" kern="1200" dirty="0">
                <a:solidFill>
                  <a:schemeClr val="tx1"/>
                </a:solidFill>
                <a:effectLst/>
                <a:latin typeface="+mn-lt"/>
                <a:ea typeface="+mn-ea"/>
                <a:cs typeface="+mn-cs"/>
              </a:rPr>
              <a:t>, ACID, time-</a:t>
            </a:r>
            <a:r>
              <a:rPr lang="de-DE" sz="1200" b="0" i="0" kern="1200" dirty="0" err="1">
                <a:solidFill>
                  <a:schemeClr val="tx1"/>
                </a:solidFill>
                <a:effectLst/>
                <a:latin typeface="+mn-lt"/>
                <a:ea typeface="+mn-ea"/>
                <a:cs typeface="+mn-cs"/>
              </a:rPr>
              <a:t>travel</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Highlight </a:t>
            </a:r>
            <a:r>
              <a:rPr lang="de-DE" sz="1200" b="0" i="0" kern="1200" dirty="0" err="1">
                <a:solidFill>
                  <a:schemeClr val="tx1"/>
                </a:solidFill>
                <a:effectLst/>
                <a:latin typeface="+mn-lt"/>
                <a:ea typeface="+mn-ea"/>
                <a:cs typeface="+mn-cs"/>
              </a:rPr>
              <a:t>that</a:t>
            </a:r>
            <a:r>
              <a:rPr lang="de-DE" sz="1200" b="0" i="0" kern="1200" dirty="0">
                <a:solidFill>
                  <a:schemeClr val="tx1"/>
                </a:solidFill>
                <a:effectLst/>
                <a:latin typeface="+mn-lt"/>
                <a:ea typeface="+mn-ea"/>
                <a:cs typeface="+mn-cs"/>
              </a:rPr>
              <a:t> GMP </a:t>
            </a:r>
            <a:r>
              <a:rPr lang="de-DE" sz="1200" b="0" i="0" kern="1200" dirty="0" err="1">
                <a:solidFill>
                  <a:schemeClr val="tx1"/>
                </a:solidFill>
                <a:effectLst/>
                <a:latin typeface="+mn-lt"/>
                <a:ea typeface="+mn-ea"/>
                <a:cs typeface="+mn-cs"/>
              </a:rPr>
              <a:t>audits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often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require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reconstructing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historical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states</a:t>
            </a:r>
            <a:r>
              <a:rPr lang="de-DE" sz="1200" b="0" i="0" kern="1200" dirty="0">
                <a:solidFill>
                  <a:schemeClr val="tx1"/>
                </a:solidFill>
                <a:effectLst/>
                <a:latin typeface="+mn-lt"/>
                <a:ea typeface="+mn-ea"/>
                <a:cs typeface="+mn-cs"/>
              </a:rPr>
              <a:t> — </a:t>
            </a:r>
            <a:r>
              <a:rPr lang="de-DE" sz="1200" b="0" i="0" kern="1200" dirty="0" err="1">
                <a:solidFill>
                  <a:schemeClr val="tx1"/>
                </a:solidFill>
                <a:effectLst/>
                <a:latin typeface="+mn-lt"/>
                <a:ea typeface="+mn-ea"/>
                <a:cs typeface="+mn-cs"/>
              </a:rPr>
              <a:t>Iceberg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makes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reproducible</a:t>
            </a:r>
            <a:r>
              <a:rPr lang="de-DE" sz="1200" b="0" i="0" kern="1200" dirty="0">
                <a:solidFill>
                  <a:schemeClr val="tx1"/>
                </a:solidFill>
                <a:effectLst/>
                <a:latin typeface="+mn-lt"/>
                <a:ea typeface="+mn-ea"/>
                <a:cs typeface="+mn-cs"/>
              </a:rPr>
              <a:t>.</a:t>
            </a:r>
          </a:p>
          <a:p>
            <a:endParaRPr lang="en-DE" dirty="0"/>
          </a:p>
        </p:txBody>
      </p:sp>
      <p:sp>
        <p:nvSpPr>
          <p:cNvPr id="4" name="Slide Number Placeholder 3"/>
          <p:cNvSpPr>
            <a:spLocks noGrp="1"/>
          </p:cNvSpPr>
          <p:nvPr>
            <p:ph type="sldNum" sz="quarter" idx="5"/>
          </p:nvPr>
        </p:nvSpPr>
        <p:spPr/>
        <p:txBody>
          <a:bodyPr/>
          <a:lstStyle/>
          <a:p>
            <a:fld id="{2776CBFF-2B9B-4E81-B44E-FEC33C1B4ABD}" type="slidenum">
              <a:rPr lang="en-DE" smtClean="0"/>
              <a:t>23</a:t>
            </a:fld>
            <a:endParaRPr lang="en-DE"/>
          </a:p>
        </p:txBody>
      </p:sp>
    </p:spTree>
    <p:extLst>
      <p:ext uri="{BB962C8B-B14F-4D97-AF65-F5344CB8AC3E}">
        <p14:creationId xmlns:p14="http://schemas.microsoft.com/office/powerpoint/2010/main" val="3694464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de-DE" sz="1200" b="1" i="0" kern="1200" dirty="0">
                <a:solidFill>
                  <a:schemeClr val="tx1"/>
                </a:solidFill>
                <a:effectLst/>
                <a:latin typeface="+mn-lt"/>
                <a:ea typeface="+mn-ea"/>
                <a:cs typeface="+mn-cs"/>
              </a:rPr>
              <a:t>6.1 Messaging &amp; Ingestion</a:t>
            </a:r>
          </a:p>
          <a:p>
            <a:pPr fontAlgn="t"/>
            <a:r>
              <a:rPr lang="de-DE" sz="1200" b="1" i="0" kern="1200" dirty="0">
                <a:solidFill>
                  <a:schemeClr val="tx1"/>
                </a:solidFill>
                <a:effectLst/>
                <a:latin typeface="+mn-lt"/>
                <a:ea typeface="+mn-ea"/>
                <a:cs typeface="+mn-cs"/>
              </a:rPr>
              <a:t>Slide Content</a:t>
            </a:r>
            <a:endParaRPr lang="de-DE" sz="1200" b="0" i="0" kern="1200" dirty="0">
              <a:solidFill>
                <a:schemeClr val="tx1"/>
              </a:solidFill>
              <a:effectLst/>
              <a:latin typeface="+mn-lt"/>
              <a:ea typeface="+mn-ea"/>
              <a:cs typeface="+mn-cs"/>
            </a:endParaRPr>
          </a:p>
          <a:p>
            <a:pPr fontAlgn="t"/>
            <a:r>
              <a:rPr lang="de-DE" sz="1200" b="0" i="0" kern="1200" dirty="0">
                <a:solidFill>
                  <a:schemeClr val="tx1"/>
                </a:solidFill>
                <a:effectLst/>
                <a:latin typeface="+mn-lt"/>
                <a:ea typeface="+mn-ea"/>
                <a:cs typeface="+mn-cs"/>
              </a:rPr>
              <a:t>Apache </a:t>
            </a:r>
            <a:r>
              <a:rPr lang="de-DE" sz="1200" b="0" i="0" kern="1200" dirty="0" err="1">
                <a:solidFill>
                  <a:schemeClr val="tx1"/>
                </a:solidFill>
                <a:effectLst/>
                <a:latin typeface="+mn-lt"/>
                <a:ea typeface="+mn-ea"/>
                <a:cs typeface="+mn-cs"/>
              </a:rPr>
              <a:t>BifroMQ</a:t>
            </a:r>
            <a:r>
              <a:rPr lang="de-DE" sz="1200" b="0" i="0" kern="1200" dirty="0">
                <a:solidFill>
                  <a:schemeClr val="tx1"/>
                </a:solidFill>
                <a:effectLst/>
                <a:latin typeface="+mn-lt"/>
                <a:ea typeface="+mn-ea"/>
                <a:cs typeface="+mn-cs"/>
              </a:rPr>
              <a:t> (MQTT </a:t>
            </a:r>
            <a:r>
              <a:rPr lang="de-DE" sz="1200" b="0" i="0" kern="1200" dirty="0" err="1">
                <a:solidFill>
                  <a:schemeClr val="tx1"/>
                </a:solidFill>
                <a:effectLst/>
                <a:latin typeface="+mn-lt"/>
                <a:ea typeface="+mn-ea"/>
                <a:cs typeface="+mn-cs"/>
              </a:rPr>
              <a:t>broker</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Apache Kafka (stream </a:t>
            </a:r>
            <a:r>
              <a:rPr lang="de-DE" sz="1200" b="0" i="0" kern="1200" dirty="0" err="1">
                <a:solidFill>
                  <a:schemeClr val="tx1"/>
                </a:solidFill>
                <a:effectLst/>
                <a:latin typeface="+mn-lt"/>
                <a:ea typeface="+mn-ea"/>
                <a:cs typeface="+mn-cs"/>
              </a:rPr>
              <a:t>ingestion</a:t>
            </a:r>
            <a:r>
              <a:rPr lang="de-DE" sz="1200" b="0" i="0" kern="1200" dirty="0">
                <a:solidFill>
                  <a:schemeClr val="tx1"/>
                </a:solidFill>
                <a:effectLst/>
                <a:latin typeface="+mn-lt"/>
                <a:ea typeface="+mn-ea"/>
                <a:cs typeface="+mn-cs"/>
              </a:rPr>
              <a:t>)</a:t>
            </a:r>
          </a:p>
          <a:p>
            <a:pPr fontAlgn="t"/>
            <a:r>
              <a:rPr lang="de-DE" sz="1200" b="1" i="0" kern="1200" dirty="0">
                <a:solidFill>
                  <a:schemeClr val="tx1"/>
                </a:solidFill>
                <a:effectLst/>
                <a:latin typeface="+mn-lt"/>
                <a:ea typeface="+mn-ea"/>
                <a:cs typeface="+mn-cs"/>
              </a:rPr>
              <a:t>Speaker Notes</a:t>
            </a:r>
            <a:endParaRPr lang="de-DE" sz="1200" b="0" i="0" kern="1200" dirty="0">
              <a:solidFill>
                <a:schemeClr val="tx1"/>
              </a:solidFill>
              <a:effectLst/>
              <a:latin typeface="+mn-lt"/>
              <a:ea typeface="+mn-ea"/>
              <a:cs typeface="+mn-cs"/>
            </a:endParaRPr>
          </a:p>
          <a:p>
            <a:pPr fontAlgn="t"/>
            <a:r>
              <a:rPr lang="de-DE" sz="1200" b="0" i="0" kern="1200" dirty="0">
                <a:solidFill>
                  <a:schemeClr val="tx1"/>
                </a:solidFill>
                <a:effectLst/>
                <a:latin typeface="+mn-lt"/>
                <a:ea typeface="+mn-ea"/>
                <a:cs typeface="+mn-cs"/>
              </a:rPr>
              <a:t>Show </a:t>
            </a:r>
            <a:r>
              <a:rPr lang="de-DE" sz="1200" b="0" i="0" kern="1200" dirty="0" err="1">
                <a:solidFill>
                  <a:schemeClr val="tx1"/>
                </a:solidFill>
                <a:effectLst/>
                <a:latin typeface="+mn-lt"/>
                <a:ea typeface="+mn-ea"/>
                <a:cs typeface="+mn-cs"/>
              </a:rPr>
              <a:t>how</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BifroMQ</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allows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secure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device-to-cloud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messaging</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Kafka </a:t>
            </a:r>
            <a:r>
              <a:rPr lang="de-DE" sz="1200" b="0" i="0" kern="1200" dirty="0" err="1">
                <a:solidFill>
                  <a:schemeClr val="tx1"/>
                </a:solidFill>
                <a:effectLst/>
                <a:latin typeface="+mn-lt"/>
                <a:ea typeface="+mn-ea"/>
                <a:cs typeface="+mn-cs"/>
              </a:rPr>
              <a:t>ensures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replayability</a:t>
            </a:r>
            <a:r>
              <a:rPr lang="de-DE" sz="1200" b="0" i="0" kern="1200" dirty="0">
                <a:solidFill>
                  <a:schemeClr val="tx1"/>
                </a:solidFill>
                <a:effectLst/>
                <a:latin typeface="+mn-lt"/>
                <a:ea typeface="+mn-ea"/>
                <a:cs typeface="+mn-cs"/>
              </a:rPr>
              <a:t> — an essential </a:t>
            </a:r>
            <a:r>
              <a:rPr lang="de-DE" sz="1200" b="0" i="0" kern="1200" dirty="0" err="1">
                <a:solidFill>
                  <a:schemeClr val="tx1"/>
                </a:solidFill>
                <a:effectLst/>
                <a:latin typeface="+mn-lt"/>
                <a:ea typeface="+mn-ea"/>
                <a:cs typeface="+mn-cs"/>
              </a:rPr>
              <a:t>property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audit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investigations</a:t>
            </a:r>
            <a:r>
              <a:rPr lang="de-DE" sz="1200" b="0" i="0" kern="1200" dirty="0">
                <a:solidFill>
                  <a:schemeClr val="tx1"/>
                </a:solidFill>
                <a:effectLst/>
                <a:latin typeface="+mn-lt"/>
                <a:ea typeface="+mn-ea"/>
                <a:cs typeface="+mn-cs"/>
              </a:rPr>
              <a:t>.</a:t>
            </a:r>
          </a:p>
          <a:p>
            <a:pPr fontAlgn="t"/>
            <a:br>
              <a:rPr lang="de-DE" sz="1200" b="0" i="0" kern="1200" dirty="0">
                <a:solidFill>
                  <a:schemeClr val="tx1"/>
                </a:solidFill>
                <a:effectLst/>
                <a:latin typeface="+mn-lt"/>
                <a:ea typeface="+mn-ea"/>
                <a:cs typeface="+mn-cs"/>
              </a:rPr>
            </a:br>
            <a:endParaRPr lang="de-DE" sz="1200" b="0" i="0" kern="1200" dirty="0">
              <a:solidFill>
                <a:schemeClr val="tx1"/>
              </a:solidFill>
              <a:effectLst/>
              <a:latin typeface="+mn-lt"/>
              <a:ea typeface="+mn-ea"/>
              <a:cs typeface="+mn-cs"/>
            </a:endParaRPr>
          </a:p>
          <a:p>
            <a:pPr fontAlgn="t"/>
            <a:r>
              <a:rPr lang="de-DE" sz="1200" b="1" i="0" kern="1200" dirty="0">
                <a:solidFill>
                  <a:schemeClr val="tx1"/>
                </a:solidFill>
                <a:effectLst/>
                <a:latin typeface="+mn-lt"/>
                <a:ea typeface="+mn-ea"/>
                <a:cs typeface="+mn-cs"/>
              </a:rPr>
              <a:t>6.2 Industrial Connectivity</a:t>
            </a:r>
          </a:p>
          <a:p>
            <a:pPr fontAlgn="t"/>
            <a:r>
              <a:rPr lang="de-DE" sz="1200" b="1" i="0" kern="1200" dirty="0">
                <a:solidFill>
                  <a:schemeClr val="tx1"/>
                </a:solidFill>
                <a:effectLst/>
                <a:latin typeface="+mn-lt"/>
                <a:ea typeface="+mn-ea"/>
                <a:cs typeface="+mn-cs"/>
              </a:rPr>
              <a:t>Slide Content</a:t>
            </a:r>
            <a:endParaRPr lang="de-DE" sz="1200" b="0" i="0" kern="1200" dirty="0">
              <a:solidFill>
                <a:schemeClr val="tx1"/>
              </a:solidFill>
              <a:effectLst/>
              <a:latin typeface="+mn-lt"/>
              <a:ea typeface="+mn-ea"/>
              <a:cs typeface="+mn-cs"/>
            </a:endParaRPr>
          </a:p>
          <a:p>
            <a:pPr fontAlgn="t"/>
            <a:r>
              <a:rPr lang="de-DE" sz="1200" b="0" i="0" kern="1200" dirty="0">
                <a:solidFill>
                  <a:schemeClr val="tx1"/>
                </a:solidFill>
                <a:effectLst/>
                <a:latin typeface="+mn-lt"/>
                <a:ea typeface="+mn-ea"/>
                <a:cs typeface="+mn-cs"/>
              </a:rPr>
              <a:t>Apache PLC4X (OPC-UA, Modbus, S7…)</a:t>
            </a:r>
          </a:p>
          <a:p>
            <a:pPr fontAlgn="t"/>
            <a:r>
              <a:rPr lang="de-DE" sz="1200" b="1" i="0" kern="1200" dirty="0">
                <a:solidFill>
                  <a:schemeClr val="tx1"/>
                </a:solidFill>
                <a:effectLst/>
                <a:latin typeface="+mn-lt"/>
                <a:ea typeface="+mn-ea"/>
                <a:cs typeface="+mn-cs"/>
              </a:rPr>
              <a:t>Speaker Notes</a:t>
            </a:r>
            <a:endParaRPr lang="de-DE" sz="1200" b="0" i="0" kern="1200" dirty="0">
              <a:solidFill>
                <a:schemeClr val="tx1"/>
              </a:solidFill>
              <a:effectLst/>
              <a:latin typeface="+mn-lt"/>
              <a:ea typeface="+mn-ea"/>
              <a:cs typeface="+mn-cs"/>
            </a:endParaRPr>
          </a:p>
          <a:p>
            <a:pPr fontAlgn="t"/>
            <a:r>
              <a:rPr lang="de-DE" sz="1200" b="0" i="0" kern="1200" dirty="0">
                <a:solidFill>
                  <a:schemeClr val="tx1"/>
                </a:solidFill>
                <a:effectLst/>
                <a:latin typeface="+mn-lt"/>
                <a:ea typeface="+mn-ea"/>
                <a:cs typeface="+mn-cs"/>
              </a:rPr>
              <a:t>Stress </a:t>
            </a:r>
            <a:r>
              <a:rPr lang="de-DE" sz="1200" b="0" i="0" kern="1200" dirty="0" err="1">
                <a:solidFill>
                  <a:schemeClr val="tx1"/>
                </a:solidFill>
                <a:effectLst/>
                <a:latin typeface="+mn-lt"/>
                <a:ea typeface="+mn-ea"/>
                <a:cs typeface="+mn-cs"/>
              </a:rPr>
              <a:t>how</a:t>
            </a:r>
            <a:r>
              <a:rPr lang="de-DE" sz="1200" b="0" i="0" kern="1200" dirty="0">
                <a:solidFill>
                  <a:schemeClr val="tx1"/>
                </a:solidFill>
                <a:effectLst/>
                <a:latin typeface="+mn-lt"/>
                <a:ea typeface="+mn-ea"/>
                <a:cs typeface="+mn-cs"/>
              </a:rPr>
              <a:t> PLC4X </a:t>
            </a:r>
            <a:r>
              <a:rPr lang="de-DE" sz="1200" b="0" i="0" kern="1200" dirty="0" err="1">
                <a:solidFill>
                  <a:schemeClr val="tx1"/>
                </a:solidFill>
                <a:effectLst/>
                <a:latin typeface="+mn-lt"/>
                <a:ea typeface="+mn-ea"/>
                <a:cs typeface="+mn-cs"/>
              </a:rPr>
              <a:t>provides</a:t>
            </a:r>
            <a:r>
              <a:rPr lang="de-DE" sz="1200" b="0" i="0" kern="1200" dirty="0">
                <a:solidFill>
                  <a:schemeClr val="tx1"/>
                </a:solidFill>
                <a:effectLst/>
                <a:latin typeface="+mn-lt"/>
                <a:ea typeface="+mn-ea"/>
                <a:cs typeface="+mn-cs"/>
              </a:rPr>
              <a:t> a </a:t>
            </a:r>
            <a:r>
              <a:rPr lang="de-DE" sz="1200" b="0" i="0" kern="1200" dirty="0" err="1">
                <a:solidFill>
                  <a:schemeClr val="tx1"/>
                </a:solidFill>
                <a:effectLst/>
                <a:latin typeface="+mn-lt"/>
                <a:ea typeface="+mn-ea"/>
                <a:cs typeface="+mn-cs"/>
              </a:rPr>
              <a:t>unified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way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pull </a:t>
            </a:r>
            <a:r>
              <a:rPr lang="de-DE" sz="1200" b="0" i="0" kern="1200" dirty="0" err="1">
                <a:solidFill>
                  <a:schemeClr val="tx1"/>
                </a:solidFill>
                <a:effectLst/>
                <a:latin typeface="+mn-lt"/>
                <a:ea typeface="+mn-ea"/>
                <a:cs typeface="+mn-cs"/>
              </a:rPr>
              <a:t>machine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using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industrial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protocols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common</a:t>
            </a:r>
            <a:r>
              <a:rPr lang="de-DE" sz="1200" b="0" i="0" kern="1200" dirty="0">
                <a:solidFill>
                  <a:schemeClr val="tx1"/>
                </a:solidFill>
                <a:effectLst/>
                <a:latin typeface="+mn-lt"/>
                <a:ea typeface="+mn-ea"/>
                <a:cs typeface="+mn-cs"/>
              </a:rPr>
              <a:t> in </a:t>
            </a:r>
            <a:r>
              <a:rPr lang="de-DE" sz="1200" b="0" i="0" kern="1200" dirty="0" err="1">
                <a:solidFill>
                  <a:schemeClr val="tx1"/>
                </a:solidFill>
                <a:effectLst/>
                <a:latin typeface="+mn-lt"/>
                <a:ea typeface="+mn-ea"/>
                <a:cs typeface="+mn-cs"/>
              </a:rPr>
              <a:t>manufacturing</a:t>
            </a:r>
            <a:r>
              <a:rPr lang="de-DE" sz="1200" b="0" i="0" kern="1200" dirty="0">
                <a:solidFill>
                  <a:schemeClr val="tx1"/>
                </a:solidFill>
                <a:effectLst/>
                <a:latin typeface="+mn-lt"/>
                <a:ea typeface="+mn-ea"/>
                <a:cs typeface="+mn-cs"/>
              </a:rPr>
              <a:t>.</a:t>
            </a:r>
          </a:p>
          <a:p>
            <a:pPr fontAlgn="t"/>
            <a:br>
              <a:rPr lang="de-DE" sz="1200" b="0" i="0" kern="1200" dirty="0">
                <a:solidFill>
                  <a:schemeClr val="tx1"/>
                </a:solidFill>
                <a:effectLst/>
                <a:latin typeface="+mn-lt"/>
                <a:ea typeface="+mn-ea"/>
                <a:cs typeface="+mn-cs"/>
              </a:rPr>
            </a:br>
            <a:endParaRPr lang="de-DE" sz="1200" b="0" i="0" kern="1200" dirty="0">
              <a:solidFill>
                <a:schemeClr val="tx1"/>
              </a:solidFill>
              <a:effectLst/>
              <a:latin typeface="+mn-lt"/>
              <a:ea typeface="+mn-ea"/>
              <a:cs typeface="+mn-cs"/>
            </a:endParaRPr>
          </a:p>
          <a:p>
            <a:pPr fontAlgn="t"/>
            <a:r>
              <a:rPr lang="de-DE" sz="1200" b="1" i="0" kern="1200" dirty="0">
                <a:solidFill>
                  <a:schemeClr val="tx1"/>
                </a:solidFill>
                <a:effectLst/>
                <a:latin typeface="+mn-lt"/>
                <a:ea typeface="+mn-ea"/>
                <a:cs typeface="+mn-cs"/>
              </a:rPr>
              <a:t>6.3 Integration &amp; Flow Management</a:t>
            </a:r>
          </a:p>
          <a:p>
            <a:pPr fontAlgn="t"/>
            <a:r>
              <a:rPr lang="de-DE" sz="1200" b="1" i="0" kern="1200" dirty="0">
                <a:solidFill>
                  <a:schemeClr val="tx1"/>
                </a:solidFill>
                <a:effectLst/>
                <a:latin typeface="+mn-lt"/>
                <a:ea typeface="+mn-ea"/>
                <a:cs typeface="+mn-cs"/>
              </a:rPr>
              <a:t>Slide Content</a:t>
            </a:r>
            <a:endParaRPr lang="de-DE" sz="1200" b="0" i="0" kern="1200" dirty="0">
              <a:solidFill>
                <a:schemeClr val="tx1"/>
              </a:solidFill>
              <a:effectLst/>
              <a:latin typeface="+mn-lt"/>
              <a:ea typeface="+mn-ea"/>
              <a:cs typeface="+mn-cs"/>
            </a:endParaRPr>
          </a:p>
          <a:p>
            <a:pPr fontAlgn="t"/>
            <a:r>
              <a:rPr lang="de-DE" sz="1200" b="0" i="0" kern="1200" dirty="0">
                <a:solidFill>
                  <a:schemeClr val="tx1"/>
                </a:solidFill>
                <a:effectLst/>
                <a:latin typeface="+mn-lt"/>
                <a:ea typeface="+mn-ea"/>
                <a:cs typeface="+mn-cs"/>
              </a:rPr>
              <a:t>Apache </a:t>
            </a:r>
            <a:r>
              <a:rPr lang="de-DE" sz="1200" b="0" i="0" kern="1200" dirty="0" err="1">
                <a:solidFill>
                  <a:schemeClr val="tx1"/>
                </a:solidFill>
                <a:effectLst/>
                <a:latin typeface="+mn-lt"/>
                <a:ea typeface="+mn-ea"/>
                <a:cs typeface="+mn-cs"/>
              </a:rPr>
              <a:t>NiFi</a:t>
            </a:r>
            <a:r>
              <a:rPr lang="de-DE" sz="1200" b="0" i="0" kern="1200" dirty="0">
                <a:solidFill>
                  <a:schemeClr val="tx1"/>
                </a:solidFill>
                <a:effectLst/>
                <a:latin typeface="+mn-lt"/>
                <a:ea typeface="+mn-ea"/>
                <a:cs typeface="+mn-cs"/>
              </a:rPr>
              <a:t> / </a:t>
            </a:r>
            <a:r>
              <a:rPr lang="de-DE" sz="1200" b="0" i="0" kern="1200" dirty="0" err="1">
                <a:solidFill>
                  <a:schemeClr val="tx1"/>
                </a:solidFill>
                <a:effectLst/>
                <a:latin typeface="+mn-lt"/>
                <a:ea typeface="+mn-ea"/>
                <a:cs typeface="+mn-cs"/>
              </a:rPr>
              <a:t>MiNiFi</a:t>
            </a:r>
            <a:endParaRPr lang="de-DE" sz="1200" b="0" i="0" kern="1200" dirty="0">
              <a:solidFill>
                <a:schemeClr val="tx1"/>
              </a:solidFill>
              <a:effectLst/>
              <a:latin typeface="+mn-lt"/>
              <a:ea typeface="+mn-ea"/>
              <a:cs typeface="+mn-cs"/>
            </a:endParaRPr>
          </a:p>
          <a:p>
            <a:pPr fontAlgn="t"/>
            <a:r>
              <a:rPr lang="de-DE" sz="1200" b="0" i="0" kern="1200" dirty="0" err="1">
                <a:solidFill>
                  <a:schemeClr val="tx1"/>
                </a:solidFill>
                <a:effectLst/>
                <a:latin typeface="+mn-lt"/>
                <a:ea typeface="+mn-ea"/>
                <a:cs typeface="+mn-cs"/>
              </a:rPr>
              <a:t>Provenance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tracking</a:t>
            </a:r>
            <a:endParaRPr lang="de-DE" sz="1200" b="0" i="0" kern="1200" dirty="0">
              <a:solidFill>
                <a:schemeClr val="tx1"/>
              </a:solidFill>
              <a:effectLst/>
              <a:latin typeface="+mn-lt"/>
              <a:ea typeface="+mn-ea"/>
              <a:cs typeface="+mn-cs"/>
            </a:endParaRPr>
          </a:p>
          <a:p>
            <a:pPr fontAlgn="t"/>
            <a:r>
              <a:rPr lang="de-DE" sz="1200" b="1" i="0" kern="1200" dirty="0">
                <a:solidFill>
                  <a:schemeClr val="tx1"/>
                </a:solidFill>
                <a:effectLst/>
                <a:latin typeface="+mn-lt"/>
                <a:ea typeface="+mn-ea"/>
                <a:cs typeface="+mn-cs"/>
              </a:rPr>
              <a:t>Speaker Notes</a:t>
            </a:r>
            <a:endParaRPr lang="de-DE" sz="1200" b="0" i="0" kern="1200" dirty="0">
              <a:solidFill>
                <a:schemeClr val="tx1"/>
              </a:solidFill>
              <a:effectLst/>
              <a:latin typeface="+mn-lt"/>
              <a:ea typeface="+mn-ea"/>
              <a:cs typeface="+mn-cs"/>
            </a:endParaRPr>
          </a:p>
          <a:p>
            <a:pPr fontAlgn="t"/>
            <a:r>
              <a:rPr lang="de-DE" sz="1200" b="0" i="0" kern="1200" dirty="0" err="1">
                <a:solidFill>
                  <a:schemeClr val="tx1"/>
                </a:solidFill>
                <a:effectLst/>
                <a:latin typeface="+mn-lt"/>
                <a:ea typeface="+mn-ea"/>
                <a:cs typeface="+mn-cs"/>
              </a:rPr>
              <a:t>Explain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NiFi’s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strength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flow</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visibility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essential </a:t>
            </a:r>
            <a:r>
              <a:rPr lang="de-DE" sz="1200" b="0" i="0" kern="1200" dirty="0" err="1">
                <a:solidFill>
                  <a:schemeClr val="tx1"/>
                </a:solidFill>
                <a:effectLst/>
                <a:latin typeface="+mn-lt"/>
                <a:ea typeface="+mn-ea"/>
                <a:cs typeface="+mn-cs"/>
              </a:rPr>
              <a:t>for</a:t>
            </a:r>
            <a:r>
              <a:rPr lang="de-DE" sz="1200" b="0" i="0" kern="1200" dirty="0">
                <a:solidFill>
                  <a:schemeClr val="tx1"/>
                </a:solidFill>
                <a:effectLst/>
                <a:latin typeface="+mn-lt"/>
                <a:ea typeface="+mn-ea"/>
                <a:cs typeface="+mn-cs"/>
              </a:rPr>
              <a:t> Annex 11 </a:t>
            </a:r>
            <a:r>
              <a:rPr lang="de-DE" sz="1200" b="0" i="0" kern="1200" dirty="0" err="1">
                <a:solidFill>
                  <a:schemeClr val="tx1"/>
                </a:solidFill>
                <a:effectLst/>
                <a:latin typeface="+mn-lt"/>
                <a:ea typeface="+mn-ea"/>
                <a:cs typeface="+mn-cs"/>
              </a:rPr>
              <a:t>compliance</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Provenance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capabilities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allow</a:t>
            </a:r>
            <a:r>
              <a:rPr lang="de-DE" sz="1200" b="0" i="0" kern="1200" dirty="0">
                <a:solidFill>
                  <a:schemeClr val="tx1"/>
                </a:solidFill>
                <a:effectLst/>
                <a:latin typeface="+mn-lt"/>
                <a:ea typeface="+mn-ea"/>
                <a:cs typeface="+mn-cs"/>
              </a:rPr>
              <a:t> a “</a:t>
            </a:r>
            <a:r>
              <a:rPr lang="de-DE" sz="1200" b="0" i="0" kern="1200" dirty="0" err="1">
                <a:solidFill>
                  <a:schemeClr val="tx1"/>
                </a:solidFill>
                <a:effectLst/>
                <a:latin typeface="+mn-lt"/>
                <a:ea typeface="+mn-ea"/>
                <a:cs typeface="+mn-cs"/>
              </a:rPr>
              <a:t>chain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custody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transformations</a:t>
            </a:r>
            <a:r>
              <a:rPr lang="de-DE" sz="1200" b="0" i="0" kern="1200" dirty="0">
                <a:solidFill>
                  <a:schemeClr val="tx1"/>
                </a:solidFill>
                <a:effectLst/>
                <a:latin typeface="+mn-lt"/>
                <a:ea typeface="+mn-ea"/>
                <a:cs typeface="+mn-cs"/>
              </a:rPr>
              <a:t>.</a:t>
            </a:r>
          </a:p>
          <a:p>
            <a:pPr fontAlgn="t"/>
            <a:br>
              <a:rPr lang="de-DE" sz="1200" b="0" i="0" kern="1200" dirty="0">
                <a:solidFill>
                  <a:schemeClr val="tx1"/>
                </a:solidFill>
                <a:effectLst/>
                <a:latin typeface="+mn-lt"/>
                <a:ea typeface="+mn-ea"/>
                <a:cs typeface="+mn-cs"/>
              </a:rPr>
            </a:br>
            <a:endParaRPr lang="de-DE" sz="1200" b="0" i="0" kern="1200" dirty="0">
              <a:solidFill>
                <a:schemeClr val="tx1"/>
              </a:solidFill>
              <a:effectLst/>
              <a:latin typeface="+mn-lt"/>
              <a:ea typeface="+mn-ea"/>
              <a:cs typeface="+mn-cs"/>
            </a:endParaRPr>
          </a:p>
          <a:p>
            <a:pPr fontAlgn="t"/>
            <a:r>
              <a:rPr lang="de-DE" sz="1200" b="1" i="0" kern="1200" dirty="0">
                <a:solidFill>
                  <a:schemeClr val="tx1"/>
                </a:solidFill>
                <a:effectLst/>
                <a:latin typeface="+mn-lt"/>
                <a:ea typeface="+mn-ea"/>
                <a:cs typeface="+mn-cs"/>
              </a:rPr>
              <a:t>6.4 Real-Time Processing &amp; Analytics</a:t>
            </a:r>
          </a:p>
          <a:p>
            <a:pPr fontAlgn="t"/>
            <a:r>
              <a:rPr lang="de-DE" sz="1200" b="1" i="0" kern="1200" dirty="0">
                <a:solidFill>
                  <a:schemeClr val="tx1"/>
                </a:solidFill>
                <a:effectLst/>
                <a:latin typeface="+mn-lt"/>
                <a:ea typeface="+mn-ea"/>
                <a:cs typeface="+mn-cs"/>
              </a:rPr>
              <a:t>Slide Content</a:t>
            </a:r>
            <a:endParaRPr lang="de-DE" sz="1200" b="0" i="0" kern="1200" dirty="0">
              <a:solidFill>
                <a:schemeClr val="tx1"/>
              </a:solidFill>
              <a:effectLst/>
              <a:latin typeface="+mn-lt"/>
              <a:ea typeface="+mn-ea"/>
              <a:cs typeface="+mn-cs"/>
            </a:endParaRPr>
          </a:p>
          <a:p>
            <a:pPr fontAlgn="t"/>
            <a:r>
              <a:rPr lang="de-DE" sz="1200" b="0" i="0" kern="1200" dirty="0">
                <a:solidFill>
                  <a:schemeClr val="tx1"/>
                </a:solidFill>
                <a:effectLst/>
                <a:latin typeface="+mn-lt"/>
                <a:ea typeface="+mn-ea"/>
                <a:cs typeface="+mn-cs"/>
              </a:rPr>
              <a:t>Apache </a:t>
            </a:r>
            <a:r>
              <a:rPr lang="de-DE" sz="1200" b="0" i="0" kern="1200" dirty="0" err="1">
                <a:solidFill>
                  <a:schemeClr val="tx1"/>
                </a:solidFill>
                <a:effectLst/>
                <a:latin typeface="+mn-lt"/>
                <a:ea typeface="+mn-ea"/>
                <a:cs typeface="+mn-cs"/>
              </a:rPr>
              <a:t>StreamPipes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low</a:t>
            </a:r>
            <a:r>
              <a:rPr lang="de-DE" sz="1200" b="0" i="0" kern="1200" dirty="0">
                <a:solidFill>
                  <a:schemeClr val="tx1"/>
                </a:solidFill>
                <a:effectLst/>
                <a:latin typeface="+mn-lt"/>
                <a:ea typeface="+mn-ea"/>
                <a:cs typeface="+mn-cs"/>
              </a:rPr>
              <a:t>-code </a:t>
            </a:r>
            <a:r>
              <a:rPr lang="de-DE" sz="1200" b="0" i="0" kern="1200" dirty="0" err="1">
                <a:solidFill>
                  <a:schemeClr val="tx1"/>
                </a:solidFill>
                <a:effectLst/>
                <a:latin typeface="+mn-lt"/>
                <a:ea typeface="+mn-ea"/>
                <a:cs typeface="+mn-cs"/>
              </a:rPr>
              <a:t>industrial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analytics</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Apache Flink (</a:t>
            </a:r>
            <a:r>
              <a:rPr lang="de-DE" sz="1200" b="0" i="0" kern="1200" dirty="0" err="1">
                <a:solidFill>
                  <a:schemeClr val="tx1"/>
                </a:solidFill>
                <a:effectLst/>
                <a:latin typeface="+mn-lt"/>
                <a:ea typeface="+mn-ea"/>
                <a:cs typeface="+mn-cs"/>
              </a:rPr>
              <a:t>stateful</a:t>
            </a:r>
            <a:r>
              <a:rPr lang="de-DE" sz="1200" b="0" i="0" kern="1200" dirty="0">
                <a:solidFill>
                  <a:schemeClr val="tx1"/>
                </a:solidFill>
                <a:effectLst/>
                <a:latin typeface="+mn-lt"/>
                <a:ea typeface="+mn-ea"/>
                <a:cs typeface="+mn-cs"/>
              </a:rPr>
              <a:t> stream </a:t>
            </a:r>
            <a:r>
              <a:rPr lang="de-DE" sz="1200" b="0" i="0" kern="1200" dirty="0" err="1">
                <a:solidFill>
                  <a:schemeClr val="tx1"/>
                </a:solidFill>
                <a:effectLst/>
                <a:latin typeface="+mn-lt"/>
                <a:ea typeface="+mn-ea"/>
                <a:cs typeface="+mn-cs"/>
              </a:rPr>
              <a:t>processing</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Apache Beam (</a:t>
            </a:r>
            <a:r>
              <a:rPr lang="de-DE" sz="1200" b="0" i="0" kern="1200" dirty="0" err="1">
                <a:solidFill>
                  <a:schemeClr val="tx1"/>
                </a:solidFill>
                <a:effectLst/>
                <a:latin typeface="+mn-lt"/>
                <a:ea typeface="+mn-ea"/>
                <a:cs typeface="+mn-cs"/>
              </a:rPr>
              <a:t>unified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batch</a:t>
            </a:r>
            <a:r>
              <a:rPr lang="de-DE" sz="1200" b="0" i="0" kern="1200" dirty="0">
                <a:solidFill>
                  <a:schemeClr val="tx1"/>
                </a:solidFill>
                <a:effectLst/>
                <a:latin typeface="+mn-lt"/>
                <a:ea typeface="+mn-ea"/>
                <a:cs typeface="+mn-cs"/>
              </a:rPr>
              <a:t>/stream </a:t>
            </a:r>
            <a:r>
              <a:rPr lang="de-DE" sz="1200" b="0" i="0" kern="1200" dirty="0" err="1">
                <a:solidFill>
                  <a:schemeClr val="tx1"/>
                </a:solidFill>
                <a:effectLst/>
                <a:latin typeface="+mn-lt"/>
                <a:ea typeface="+mn-ea"/>
                <a:cs typeface="+mn-cs"/>
              </a:rPr>
              <a:t>pipelines</a:t>
            </a:r>
            <a:r>
              <a:rPr lang="de-DE" sz="1200" b="0" i="0" kern="1200" dirty="0">
                <a:solidFill>
                  <a:schemeClr val="tx1"/>
                </a:solidFill>
                <a:effectLst/>
                <a:latin typeface="+mn-lt"/>
                <a:ea typeface="+mn-ea"/>
                <a:cs typeface="+mn-cs"/>
              </a:rPr>
              <a:t>)</a:t>
            </a:r>
          </a:p>
          <a:p>
            <a:pPr fontAlgn="t"/>
            <a:r>
              <a:rPr lang="de-DE" sz="1200" b="1" i="0" kern="1200" dirty="0">
                <a:solidFill>
                  <a:schemeClr val="tx1"/>
                </a:solidFill>
                <a:effectLst/>
                <a:latin typeface="+mn-lt"/>
                <a:ea typeface="+mn-ea"/>
                <a:cs typeface="+mn-cs"/>
              </a:rPr>
              <a:t>Speaker Notes</a:t>
            </a:r>
            <a:endParaRPr lang="de-DE" sz="1200" b="0" i="0" kern="1200" dirty="0">
              <a:solidFill>
                <a:schemeClr val="tx1"/>
              </a:solidFill>
              <a:effectLst/>
              <a:latin typeface="+mn-lt"/>
              <a:ea typeface="+mn-ea"/>
              <a:cs typeface="+mn-cs"/>
            </a:endParaRPr>
          </a:p>
          <a:p>
            <a:pPr fontAlgn="t"/>
            <a:r>
              <a:rPr lang="de-DE" sz="1200" b="1" i="0" kern="1200" dirty="0" err="1">
                <a:solidFill>
                  <a:schemeClr val="tx1"/>
                </a:solidFill>
                <a:effectLst/>
                <a:latin typeface="+mn-lt"/>
                <a:ea typeface="+mn-ea"/>
                <a:cs typeface="+mn-cs"/>
              </a:rPr>
              <a:t>StreamPipes</a:t>
            </a:r>
            <a:r>
              <a:rPr lang="de-DE" sz="1200" b="0" i="0" kern="1200" dirty="0">
                <a:solidFill>
                  <a:schemeClr val="tx1"/>
                </a:solidFill>
                <a:effectLst/>
                <a:latin typeface="+mn-lt"/>
                <a:ea typeface="+mn-ea"/>
                <a:cs typeface="+mn-cs"/>
              </a:rPr>
              <a:t>: highlight </a:t>
            </a:r>
            <a:r>
              <a:rPr lang="de-DE" sz="1200" b="0" i="0" kern="1200" dirty="0" err="1">
                <a:solidFill>
                  <a:schemeClr val="tx1"/>
                </a:solidFill>
                <a:effectLst/>
                <a:latin typeface="+mn-lt"/>
                <a:ea typeface="+mn-ea"/>
                <a:cs typeface="+mn-cs"/>
              </a:rPr>
              <a:t>how</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domain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experts</a:t>
            </a:r>
            <a:r>
              <a:rPr lang="de-DE" sz="1200" b="0" i="0" kern="1200" dirty="0">
                <a:solidFill>
                  <a:schemeClr val="tx1"/>
                </a:solidFill>
                <a:effectLst/>
                <a:latin typeface="+mn-lt"/>
                <a:ea typeface="+mn-ea"/>
                <a:cs typeface="+mn-cs"/>
              </a:rPr>
              <a:t> (not just </a:t>
            </a:r>
            <a:r>
              <a:rPr lang="de-DE" sz="1200" b="0" i="0" kern="1200" dirty="0" err="1">
                <a:solidFill>
                  <a:schemeClr val="tx1"/>
                </a:solidFill>
                <a:effectLst/>
                <a:latin typeface="+mn-lt"/>
                <a:ea typeface="+mn-ea"/>
                <a:cs typeface="+mn-cs"/>
              </a:rPr>
              <a:t>developers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can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compose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analytics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pipelines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dashboards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anomaly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detection</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event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processing</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StreamPipes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particularly</a:t>
            </a:r>
            <a:r>
              <a:rPr lang="de-DE" sz="1200" b="0" i="0" kern="1200" dirty="0">
                <a:solidFill>
                  <a:schemeClr val="tx1"/>
                </a:solidFill>
                <a:effectLst/>
                <a:latin typeface="+mn-lt"/>
                <a:ea typeface="+mn-ea"/>
                <a:cs typeface="+mn-cs"/>
              </a:rPr>
              <a:t> relevant </a:t>
            </a:r>
            <a:r>
              <a:rPr lang="de-DE" sz="1200" b="0" i="0" kern="1200" dirty="0" err="1">
                <a:solidFill>
                  <a:schemeClr val="tx1"/>
                </a:solidFill>
                <a:effectLst/>
                <a:latin typeface="+mn-lt"/>
                <a:ea typeface="+mn-ea"/>
                <a:cs typeface="+mn-cs"/>
              </a:rPr>
              <a:t>for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shop-floor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teams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that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need</a:t>
            </a:r>
            <a:r>
              <a:rPr lang="de-DE" sz="1200" b="0" i="0" kern="1200" dirty="0">
                <a:solidFill>
                  <a:schemeClr val="tx1"/>
                </a:solidFill>
                <a:effectLst/>
                <a:latin typeface="+mn-lt"/>
                <a:ea typeface="+mn-ea"/>
                <a:cs typeface="+mn-cs"/>
              </a:rPr>
              <a:t> live </a:t>
            </a:r>
            <a:r>
              <a:rPr lang="de-DE" sz="1200" b="0" i="0" kern="1200" dirty="0" err="1">
                <a:solidFill>
                  <a:schemeClr val="tx1"/>
                </a:solidFill>
                <a:effectLst/>
                <a:latin typeface="+mn-lt"/>
                <a:ea typeface="+mn-ea"/>
                <a:cs typeface="+mn-cs"/>
              </a:rPr>
              <a:t>monitoring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without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coding</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Flink </a:t>
            </a:r>
            <a:r>
              <a:rPr lang="de-DE" sz="1200" b="0" i="0" kern="1200" dirty="0" err="1">
                <a:solidFill>
                  <a:schemeClr val="tx1"/>
                </a:solidFill>
                <a:effectLst/>
                <a:latin typeface="+mn-lt"/>
                <a:ea typeface="+mn-ea"/>
                <a:cs typeface="+mn-cs"/>
              </a:rPr>
              <a:t>provides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advanced</a:t>
            </a:r>
            <a:r>
              <a:rPr lang="de-DE" sz="1200" b="0" i="0" kern="1200" dirty="0">
                <a:solidFill>
                  <a:schemeClr val="tx1"/>
                </a:solidFill>
                <a:effectLst/>
                <a:latin typeface="+mn-lt"/>
                <a:ea typeface="+mn-ea"/>
                <a:cs typeface="+mn-cs"/>
              </a:rPr>
              <a:t> real‑time </a:t>
            </a:r>
            <a:r>
              <a:rPr lang="de-DE" sz="1200" b="0" i="0" kern="1200" dirty="0" err="1">
                <a:solidFill>
                  <a:schemeClr val="tx1"/>
                </a:solidFill>
                <a:effectLst/>
                <a:latin typeface="+mn-lt"/>
                <a:ea typeface="+mn-ea"/>
                <a:cs typeface="+mn-cs"/>
              </a:rPr>
              <a:t>validation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threshold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detection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patterns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event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correlation</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Beam </a:t>
            </a:r>
            <a:r>
              <a:rPr lang="de-DE" sz="1200" b="0" i="0" kern="1200" dirty="0" err="1">
                <a:solidFill>
                  <a:schemeClr val="tx1"/>
                </a:solidFill>
                <a:effectLst/>
                <a:latin typeface="+mn-lt"/>
                <a:ea typeface="+mn-ea"/>
                <a:cs typeface="+mn-cs"/>
              </a:rPr>
              <a:t>ensures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transformation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logic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can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validated</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executed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consistently</a:t>
            </a:r>
            <a:r>
              <a:rPr lang="de-DE" sz="1200" b="0" i="0" kern="1200" dirty="0">
                <a:solidFill>
                  <a:schemeClr val="tx1"/>
                </a:solidFill>
                <a:effectLst/>
                <a:latin typeface="+mn-lt"/>
                <a:ea typeface="+mn-ea"/>
                <a:cs typeface="+mn-cs"/>
              </a:rPr>
              <a:t>.</a:t>
            </a:r>
          </a:p>
          <a:p>
            <a:pPr fontAlgn="t"/>
            <a:br>
              <a:rPr lang="de-DE" sz="1200" b="0" i="0" kern="1200" dirty="0">
                <a:solidFill>
                  <a:schemeClr val="tx1"/>
                </a:solidFill>
                <a:effectLst/>
                <a:latin typeface="+mn-lt"/>
                <a:ea typeface="+mn-ea"/>
                <a:cs typeface="+mn-cs"/>
              </a:rPr>
            </a:br>
            <a:endParaRPr lang="de-DE" sz="1200" b="0" i="0" kern="1200" dirty="0">
              <a:solidFill>
                <a:schemeClr val="tx1"/>
              </a:solidFill>
              <a:effectLst/>
              <a:latin typeface="+mn-lt"/>
              <a:ea typeface="+mn-ea"/>
              <a:cs typeface="+mn-cs"/>
            </a:endParaRPr>
          </a:p>
          <a:p>
            <a:pPr fontAlgn="t"/>
            <a:r>
              <a:rPr lang="de-DE" sz="1200" b="1" i="0" kern="1200" dirty="0">
                <a:solidFill>
                  <a:schemeClr val="tx1"/>
                </a:solidFill>
                <a:effectLst/>
                <a:latin typeface="+mn-lt"/>
                <a:ea typeface="+mn-ea"/>
                <a:cs typeface="+mn-cs"/>
              </a:rPr>
              <a:t>6.5 Storage &amp; Analytics</a:t>
            </a:r>
          </a:p>
          <a:p>
            <a:pPr fontAlgn="t"/>
            <a:r>
              <a:rPr lang="de-DE" sz="1200" b="1" i="0" kern="1200" dirty="0">
                <a:solidFill>
                  <a:schemeClr val="tx1"/>
                </a:solidFill>
                <a:effectLst/>
                <a:latin typeface="+mn-lt"/>
                <a:ea typeface="+mn-ea"/>
                <a:cs typeface="+mn-cs"/>
              </a:rPr>
              <a:t>Slide Content</a:t>
            </a:r>
            <a:endParaRPr lang="de-DE" sz="1200" b="0" i="0" kern="1200" dirty="0">
              <a:solidFill>
                <a:schemeClr val="tx1"/>
              </a:solidFill>
              <a:effectLst/>
              <a:latin typeface="+mn-lt"/>
              <a:ea typeface="+mn-ea"/>
              <a:cs typeface="+mn-cs"/>
            </a:endParaRPr>
          </a:p>
          <a:p>
            <a:pPr fontAlgn="t"/>
            <a:r>
              <a:rPr lang="de-DE" sz="1200" b="0" i="0" kern="1200" dirty="0" err="1">
                <a:solidFill>
                  <a:schemeClr val="tx1"/>
                </a:solidFill>
                <a:effectLst/>
                <a:latin typeface="+mn-lt"/>
                <a:ea typeface="+mn-ea"/>
                <a:cs typeface="+mn-cs"/>
              </a:rPr>
              <a:t>IoTDB</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hot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storage</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TSFile</a:t>
            </a:r>
            <a:r>
              <a:rPr lang="de-DE" sz="1200" b="0" i="0" kern="1200" dirty="0">
                <a:solidFill>
                  <a:schemeClr val="tx1"/>
                </a:solidFill>
                <a:effectLst/>
                <a:latin typeface="+mn-lt"/>
                <a:ea typeface="+mn-ea"/>
                <a:cs typeface="+mn-cs"/>
              </a:rPr>
              <a:t> (intermediate)</a:t>
            </a:r>
          </a:p>
          <a:p>
            <a:pPr fontAlgn="t"/>
            <a:r>
              <a:rPr lang="de-DE" sz="1200" b="0" i="0" kern="1200" dirty="0" err="1">
                <a:solidFill>
                  <a:schemeClr val="tx1"/>
                </a:solidFill>
                <a:effectLst/>
                <a:latin typeface="+mn-lt"/>
                <a:ea typeface="+mn-ea"/>
                <a:cs typeface="+mn-cs"/>
              </a:rPr>
              <a:t>Iceberg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cold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long</a:t>
            </a:r>
            <a:r>
              <a:rPr lang="de-DE" sz="1200" b="0" i="0" kern="1200" dirty="0">
                <a:solidFill>
                  <a:schemeClr val="tx1"/>
                </a:solidFill>
                <a:effectLst/>
                <a:latin typeface="+mn-lt"/>
                <a:ea typeface="+mn-ea"/>
                <a:cs typeface="+mn-cs"/>
              </a:rPr>
              <a:t>-term </a:t>
            </a:r>
            <a:r>
              <a:rPr lang="de-DE" sz="1200" b="0" i="0" kern="1200" dirty="0" err="1">
                <a:solidFill>
                  <a:schemeClr val="tx1"/>
                </a:solidFill>
                <a:effectLst/>
                <a:latin typeface="+mn-lt"/>
                <a:ea typeface="+mn-ea"/>
                <a:cs typeface="+mn-cs"/>
              </a:rPr>
              <a:t>archive</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Hadoop/</a:t>
            </a:r>
            <a:r>
              <a:rPr lang="de-DE" sz="1200" b="0" i="0" kern="1200" dirty="0" err="1">
                <a:solidFill>
                  <a:schemeClr val="tx1"/>
                </a:solidFill>
                <a:effectLst/>
                <a:latin typeface="+mn-lt"/>
                <a:ea typeface="+mn-ea"/>
                <a:cs typeface="+mn-cs"/>
              </a:rPr>
              <a:t>Ozone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storage</a:t>
            </a:r>
            <a:r>
              <a:rPr lang="de-DE" sz="1200" b="0" i="0" kern="1200" dirty="0">
                <a:solidFill>
                  <a:schemeClr val="tx1"/>
                </a:solidFill>
                <a:effectLst/>
                <a:latin typeface="+mn-lt"/>
                <a:ea typeface="+mn-ea"/>
                <a:cs typeface="+mn-cs"/>
              </a:rPr>
              <a:t> backend)</a:t>
            </a:r>
          </a:p>
          <a:p>
            <a:pPr fontAlgn="t"/>
            <a:r>
              <a:rPr lang="de-DE" sz="1200" b="1" i="0" kern="1200" dirty="0">
                <a:solidFill>
                  <a:schemeClr val="tx1"/>
                </a:solidFill>
                <a:effectLst/>
                <a:latin typeface="+mn-lt"/>
                <a:ea typeface="+mn-ea"/>
                <a:cs typeface="+mn-cs"/>
              </a:rPr>
              <a:t>Speaker Notes</a:t>
            </a:r>
            <a:endParaRPr lang="de-DE" sz="1200" b="0" i="0" kern="1200" dirty="0">
              <a:solidFill>
                <a:schemeClr val="tx1"/>
              </a:solidFill>
              <a:effectLst/>
              <a:latin typeface="+mn-lt"/>
              <a:ea typeface="+mn-ea"/>
              <a:cs typeface="+mn-cs"/>
            </a:endParaRPr>
          </a:p>
          <a:p>
            <a:pPr fontAlgn="t"/>
            <a:r>
              <a:rPr lang="de-DE" sz="1200" b="0" i="0" kern="1200" dirty="0" err="1">
                <a:solidFill>
                  <a:schemeClr val="tx1"/>
                </a:solidFill>
                <a:effectLst/>
                <a:latin typeface="+mn-lt"/>
                <a:ea typeface="+mn-ea"/>
                <a:cs typeface="+mn-cs"/>
              </a:rPr>
              <a:t>Reiterate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multi‑tier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architecture</a:t>
            </a:r>
            <a:r>
              <a:rPr lang="de-DE" sz="1200" b="0" i="0" kern="1200" dirty="0">
                <a:solidFill>
                  <a:schemeClr val="tx1"/>
                </a:solidFill>
                <a:effectLst/>
                <a:latin typeface="+mn-lt"/>
                <a:ea typeface="+mn-ea"/>
                <a:cs typeface="+mn-cs"/>
              </a:rPr>
              <a:t>: fast </a:t>
            </a:r>
            <a:r>
              <a:rPr lang="de-DE" sz="1200" b="0" i="0" kern="1200" dirty="0" err="1">
                <a:solidFill>
                  <a:schemeClr val="tx1"/>
                </a:solidFill>
                <a:effectLst/>
                <a:latin typeface="+mn-lt"/>
                <a:ea typeface="+mn-ea"/>
                <a:cs typeface="+mn-cs"/>
              </a:rPr>
              <a:t>historian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optimized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file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format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compliant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lake</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Each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layer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supports</a:t>
            </a:r>
            <a:r>
              <a:rPr lang="de-DE" sz="1200" b="0" i="0" kern="1200" dirty="0">
                <a:solidFill>
                  <a:schemeClr val="tx1"/>
                </a:solidFill>
                <a:effectLst/>
                <a:latin typeface="+mn-lt"/>
                <a:ea typeface="+mn-ea"/>
                <a:cs typeface="+mn-cs"/>
              </a:rPr>
              <a:t> different </a:t>
            </a:r>
            <a:r>
              <a:rPr lang="de-DE" sz="1200" b="0" i="0" kern="1200" dirty="0" err="1">
                <a:solidFill>
                  <a:schemeClr val="tx1"/>
                </a:solidFill>
                <a:effectLst/>
                <a:latin typeface="+mn-lt"/>
                <a:ea typeface="+mn-ea"/>
                <a:cs typeface="+mn-cs"/>
              </a:rPr>
              <a:t>regulatory</a:t>
            </a:r>
            <a:r>
              <a:rPr lang="de-DE" sz="1200" b="0" i="0" kern="1200" dirty="0">
                <a:solidFill>
                  <a:schemeClr val="tx1"/>
                </a:solidFill>
                <a:effectLst/>
                <a:latin typeface="+mn-lt"/>
                <a:ea typeface="+mn-ea"/>
                <a:cs typeface="+mn-cs"/>
              </a:rPr>
              <a:t> and operational </a:t>
            </a:r>
            <a:r>
              <a:rPr lang="de-DE" sz="1200" b="0" i="0" kern="1200" dirty="0" err="1">
                <a:solidFill>
                  <a:schemeClr val="tx1"/>
                </a:solidFill>
                <a:effectLst/>
                <a:latin typeface="+mn-lt"/>
                <a:ea typeface="+mn-ea"/>
                <a:cs typeface="+mn-cs"/>
              </a:rPr>
              <a:t>needs</a:t>
            </a:r>
            <a:r>
              <a:rPr lang="de-DE" sz="1200" b="0" i="0" kern="1200" dirty="0">
                <a:solidFill>
                  <a:schemeClr val="tx1"/>
                </a:solidFill>
                <a:effectLst/>
                <a:latin typeface="+mn-lt"/>
                <a:ea typeface="+mn-ea"/>
                <a:cs typeface="+mn-cs"/>
              </a:rPr>
              <a:t>.</a:t>
            </a:r>
          </a:p>
          <a:p>
            <a:endParaRPr lang="en-DE" dirty="0"/>
          </a:p>
        </p:txBody>
      </p:sp>
      <p:sp>
        <p:nvSpPr>
          <p:cNvPr id="4" name="Slide Number Placeholder 3"/>
          <p:cNvSpPr>
            <a:spLocks noGrp="1"/>
          </p:cNvSpPr>
          <p:nvPr>
            <p:ph type="sldNum" sz="quarter" idx="5"/>
          </p:nvPr>
        </p:nvSpPr>
        <p:spPr/>
        <p:txBody>
          <a:bodyPr/>
          <a:lstStyle/>
          <a:p>
            <a:fld id="{2776CBFF-2B9B-4E81-B44E-FEC33C1B4ABD}" type="slidenum">
              <a:rPr lang="en-DE" smtClean="0"/>
              <a:t>24</a:t>
            </a:fld>
            <a:endParaRPr lang="en-DE"/>
          </a:p>
        </p:txBody>
      </p:sp>
    </p:spTree>
    <p:extLst>
      <p:ext uri="{BB962C8B-B14F-4D97-AF65-F5344CB8AC3E}">
        <p14:creationId xmlns:p14="http://schemas.microsoft.com/office/powerpoint/2010/main" val="1169969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de-DE" sz="1200" b="1" i="0" kern="1200" dirty="0">
                <a:solidFill>
                  <a:schemeClr val="tx1"/>
                </a:solidFill>
                <a:effectLst/>
                <a:latin typeface="+mn-lt"/>
                <a:ea typeface="+mn-ea"/>
                <a:cs typeface="+mn-cs"/>
              </a:rPr>
              <a:t>Slide Content</a:t>
            </a:r>
          </a:p>
          <a:p>
            <a:pPr fontAlgn="t"/>
            <a:r>
              <a:rPr lang="de-DE" sz="1200" b="0" i="0" kern="1200" dirty="0" err="1">
                <a:solidFill>
                  <a:schemeClr val="tx1"/>
                </a:solidFill>
                <a:effectLst/>
                <a:latin typeface="+mn-lt"/>
                <a:ea typeface="+mn-ea"/>
                <a:cs typeface="+mn-cs"/>
              </a:rPr>
              <a:t>Diagram</a:t>
            </a:r>
            <a:r>
              <a:rPr lang="de-DE" sz="1200" b="0" i="0" kern="1200" dirty="0">
                <a:solidFill>
                  <a:schemeClr val="tx1"/>
                </a:solidFill>
                <a:effectLst/>
                <a:latin typeface="+mn-lt"/>
                <a:ea typeface="+mn-ea"/>
                <a:cs typeface="+mn-cs"/>
              </a:rPr>
              <a:t>: Sensors → PLC4X → </a:t>
            </a:r>
            <a:r>
              <a:rPr lang="de-DE" sz="1200" b="0" i="0" kern="1200" dirty="0" err="1">
                <a:solidFill>
                  <a:schemeClr val="tx1"/>
                </a:solidFill>
                <a:effectLst/>
                <a:latin typeface="+mn-lt"/>
                <a:ea typeface="+mn-ea"/>
                <a:cs typeface="+mn-cs"/>
              </a:rPr>
              <a:t>BifroMQ</a:t>
            </a:r>
            <a:r>
              <a:rPr lang="de-DE" sz="1200" b="0" i="0" kern="1200" dirty="0">
                <a:solidFill>
                  <a:schemeClr val="tx1"/>
                </a:solidFill>
                <a:effectLst/>
                <a:latin typeface="+mn-lt"/>
                <a:ea typeface="+mn-ea"/>
                <a:cs typeface="+mn-cs"/>
              </a:rPr>
              <a:t>/Kafka → </a:t>
            </a:r>
            <a:r>
              <a:rPr lang="de-DE" sz="1200" b="0" i="0" kern="1200" dirty="0" err="1">
                <a:solidFill>
                  <a:schemeClr val="tx1"/>
                </a:solidFill>
                <a:effectLst/>
                <a:latin typeface="+mn-lt"/>
                <a:ea typeface="+mn-ea"/>
                <a:cs typeface="+mn-cs"/>
              </a:rPr>
              <a:t>NiFi</a:t>
            </a:r>
            <a:r>
              <a:rPr lang="de-DE" sz="1200" b="0" i="0" kern="1200" dirty="0">
                <a:solidFill>
                  <a:schemeClr val="tx1"/>
                </a:solidFill>
                <a:effectLst/>
                <a:latin typeface="+mn-lt"/>
                <a:ea typeface="+mn-ea"/>
                <a:cs typeface="+mn-cs"/>
              </a:rPr>
              <a:t> → </a:t>
            </a:r>
            <a:r>
              <a:rPr lang="de-DE" sz="1200" b="0" i="0" kern="1200" dirty="0" err="1">
                <a:solidFill>
                  <a:schemeClr val="tx1"/>
                </a:solidFill>
                <a:effectLst/>
                <a:latin typeface="+mn-lt"/>
                <a:ea typeface="+mn-ea"/>
                <a:cs typeface="+mn-cs"/>
              </a:rPr>
              <a:t>StreamPipes</a:t>
            </a:r>
            <a:r>
              <a:rPr lang="de-DE" sz="1200" b="0" i="0" kern="1200" dirty="0">
                <a:solidFill>
                  <a:schemeClr val="tx1"/>
                </a:solidFill>
                <a:effectLst/>
                <a:latin typeface="+mn-lt"/>
                <a:ea typeface="+mn-ea"/>
                <a:cs typeface="+mn-cs"/>
              </a:rPr>
              <a:t> → </a:t>
            </a:r>
            <a:r>
              <a:rPr lang="de-DE" sz="1200" b="0" i="0" kern="1200" dirty="0" err="1">
                <a:solidFill>
                  <a:schemeClr val="tx1"/>
                </a:solidFill>
                <a:effectLst/>
                <a:latin typeface="+mn-lt"/>
                <a:ea typeface="+mn-ea"/>
                <a:cs typeface="+mn-cs"/>
              </a:rPr>
              <a:t>IoTDB</a:t>
            </a:r>
            <a:r>
              <a:rPr lang="de-DE" sz="1200" b="0" i="0" kern="1200" dirty="0">
                <a:solidFill>
                  <a:schemeClr val="tx1"/>
                </a:solidFill>
                <a:effectLst/>
                <a:latin typeface="+mn-lt"/>
                <a:ea typeface="+mn-ea"/>
                <a:cs typeface="+mn-cs"/>
              </a:rPr>
              <a:t> → </a:t>
            </a:r>
            <a:r>
              <a:rPr lang="de-DE" sz="1200" b="0" i="0" kern="1200" dirty="0" err="1">
                <a:solidFill>
                  <a:schemeClr val="tx1"/>
                </a:solidFill>
                <a:effectLst/>
                <a:latin typeface="+mn-lt"/>
                <a:ea typeface="+mn-ea"/>
                <a:cs typeface="+mn-cs"/>
              </a:rPr>
              <a:t>TSFile</a:t>
            </a:r>
            <a:r>
              <a:rPr lang="de-DE" sz="1200" b="0" i="0" kern="1200" dirty="0">
                <a:solidFill>
                  <a:schemeClr val="tx1"/>
                </a:solidFill>
                <a:effectLst/>
                <a:latin typeface="+mn-lt"/>
                <a:ea typeface="+mn-ea"/>
                <a:cs typeface="+mn-cs"/>
              </a:rPr>
              <a:t> → </a:t>
            </a:r>
            <a:r>
              <a:rPr lang="de-DE" sz="1200" b="0" i="0" kern="1200" dirty="0" err="1">
                <a:solidFill>
                  <a:schemeClr val="tx1"/>
                </a:solidFill>
                <a:effectLst/>
                <a:latin typeface="+mn-lt"/>
                <a:ea typeface="+mn-ea"/>
                <a:cs typeface="+mn-cs"/>
              </a:rPr>
              <a:t>Iceberg</a:t>
            </a:r>
            <a:r>
              <a:rPr lang="de-DE" sz="1200" b="0" i="0" kern="1200" dirty="0">
                <a:solidFill>
                  <a:schemeClr val="tx1"/>
                </a:solidFill>
                <a:effectLst/>
                <a:latin typeface="+mn-lt"/>
                <a:ea typeface="+mn-ea"/>
                <a:cs typeface="+mn-cs"/>
              </a:rPr>
              <a:t> → Analytics</a:t>
            </a:r>
          </a:p>
          <a:p>
            <a:pPr fontAlgn="t"/>
            <a:r>
              <a:rPr lang="de-DE" sz="1200" b="1" i="0" kern="1200" dirty="0">
                <a:solidFill>
                  <a:schemeClr val="tx1"/>
                </a:solidFill>
                <a:effectLst/>
                <a:latin typeface="+mn-lt"/>
                <a:ea typeface="+mn-ea"/>
                <a:cs typeface="+mn-cs"/>
              </a:rPr>
              <a:t>Speaker Notes</a:t>
            </a:r>
          </a:p>
          <a:p>
            <a:pPr fontAlgn="t"/>
            <a:r>
              <a:rPr lang="de-DE" sz="1200" b="0" i="0" kern="1200" dirty="0">
                <a:solidFill>
                  <a:schemeClr val="tx1"/>
                </a:solidFill>
                <a:effectLst/>
                <a:latin typeface="+mn-lt"/>
                <a:ea typeface="+mn-ea"/>
                <a:cs typeface="+mn-cs"/>
              </a:rPr>
              <a:t>Walk </a:t>
            </a:r>
            <a:r>
              <a:rPr lang="de-DE" sz="1200" b="0" i="0" kern="1200" dirty="0" err="1">
                <a:solidFill>
                  <a:schemeClr val="tx1"/>
                </a:solidFill>
                <a:effectLst/>
                <a:latin typeface="+mn-lt"/>
                <a:ea typeface="+mn-ea"/>
                <a:cs typeface="+mn-cs"/>
              </a:rPr>
              <a:t>step</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step</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through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entire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journey</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Emphasize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where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audit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trails</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validation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checkpoints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occur</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Show </a:t>
            </a:r>
            <a:r>
              <a:rPr lang="de-DE" sz="1200" b="0" i="0" kern="1200" dirty="0" err="1">
                <a:solidFill>
                  <a:schemeClr val="tx1"/>
                </a:solidFill>
                <a:effectLst/>
                <a:latin typeface="+mn-lt"/>
                <a:ea typeface="+mn-ea"/>
                <a:cs typeface="+mn-cs"/>
              </a:rPr>
              <a:t>how</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StreamPipes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fits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between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ingestion</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historian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enable</a:t>
            </a:r>
            <a:r>
              <a:rPr lang="de-DE" sz="1200" b="0" i="0" kern="1200" dirty="0">
                <a:solidFill>
                  <a:schemeClr val="tx1"/>
                </a:solidFill>
                <a:effectLst/>
                <a:latin typeface="+mn-lt"/>
                <a:ea typeface="+mn-ea"/>
                <a:cs typeface="+mn-cs"/>
              </a:rPr>
              <a:t> operational </a:t>
            </a:r>
            <a:r>
              <a:rPr lang="de-DE" sz="1200" b="0" i="0" kern="1200" dirty="0" err="1">
                <a:solidFill>
                  <a:schemeClr val="tx1"/>
                </a:solidFill>
                <a:effectLst/>
                <a:latin typeface="+mn-lt"/>
                <a:ea typeface="+mn-ea"/>
                <a:cs typeface="+mn-cs"/>
              </a:rPr>
              <a:t>insights</a:t>
            </a:r>
            <a:r>
              <a:rPr lang="de-DE" sz="1200" b="0" i="0" kern="1200" dirty="0">
                <a:solidFill>
                  <a:schemeClr val="tx1"/>
                </a:solidFill>
                <a:effectLst/>
                <a:latin typeface="+mn-lt"/>
                <a:ea typeface="+mn-ea"/>
                <a:cs typeface="+mn-cs"/>
              </a:rPr>
              <a:t>.</a:t>
            </a:r>
          </a:p>
          <a:p>
            <a:endParaRPr lang="en-DE" dirty="0"/>
          </a:p>
        </p:txBody>
      </p:sp>
      <p:sp>
        <p:nvSpPr>
          <p:cNvPr id="4" name="Slide Number Placeholder 3"/>
          <p:cNvSpPr>
            <a:spLocks noGrp="1"/>
          </p:cNvSpPr>
          <p:nvPr>
            <p:ph type="sldNum" sz="quarter" idx="5"/>
          </p:nvPr>
        </p:nvSpPr>
        <p:spPr/>
        <p:txBody>
          <a:bodyPr/>
          <a:lstStyle/>
          <a:p>
            <a:fld id="{2776CBFF-2B9B-4E81-B44E-FEC33C1B4ABD}" type="slidenum">
              <a:rPr lang="en-DE" smtClean="0"/>
              <a:t>25</a:t>
            </a:fld>
            <a:endParaRPr lang="en-DE"/>
          </a:p>
        </p:txBody>
      </p:sp>
    </p:spTree>
    <p:extLst>
      <p:ext uri="{BB962C8B-B14F-4D97-AF65-F5344CB8AC3E}">
        <p14:creationId xmlns:p14="http://schemas.microsoft.com/office/powerpoint/2010/main" val="1274756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Slide Content</a:t>
            </a:r>
          </a:p>
          <a:p>
            <a:pPr fontAlgn="t"/>
            <a:r>
              <a:rPr lang="en-US" sz="1200" b="0" i="0" kern="1200" dirty="0">
                <a:solidFill>
                  <a:schemeClr val="tx1"/>
                </a:solidFill>
                <a:effectLst/>
                <a:latin typeface="+mn-lt"/>
                <a:ea typeface="+mn-ea"/>
                <a:cs typeface="+mn-cs"/>
              </a:rPr>
              <a:t>Annex 11: relevant chapters</a:t>
            </a:r>
          </a:p>
          <a:p>
            <a:pPr fontAlgn="t"/>
            <a:r>
              <a:rPr lang="en-US" sz="1200" b="0" i="0" kern="1200" dirty="0">
                <a:solidFill>
                  <a:schemeClr val="tx1"/>
                </a:solidFill>
                <a:effectLst/>
                <a:latin typeface="+mn-lt"/>
                <a:ea typeface="+mn-ea"/>
                <a:cs typeface="+mn-cs"/>
              </a:rPr>
              <a:t>FDA 21 CFR Part 11: electronic records</a:t>
            </a:r>
          </a:p>
          <a:p>
            <a:pPr fontAlgn="t"/>
            <a:r>
              <a:rPr lang="en-US" sz="1200" b="0" i="0" kern="1200" dirty="0">
                <a:solidFill>
                  <a:schemeClr val="tx1"/>
                </a:solidFill>
                <a:effectLst/>
                <a:latin typeface="+mn-lt"/>
                <a:ea typeface="+mn-ea"/>
                <a:cs typeface="+mn-cs"/>
              </a:rPr>
              <a:t>Validation strategy: GAMP 5</a:t>
            </a:r>
          </a:p>
          <a:p>
            <a:pPr fontAlgn="t"/>
            <a:r>
              <a:rPr lang="en-US" sz="1200" b="1" i="0" kern="1200" dirty="0">
                <a:solidFill>
                  <a:schemeClr val="tx1"/>
                </a:solidFill>
                <a:effectLst/>
                <a:latin typeface="+mn-lt"/>
                <a:ea typeface="+mn-ea"/>
                <a:cs typeface="+mn-cs"/>
              </a:rPr>
              <a:t>Speaker Notes</a:t>
            </a:r>
          </a:p>
          <a:p>
            <a:pPr fontAlgn="t"/>
            <a:r>
              <a:rPr lang="en-US" sz="1200" b="0" i="0" kern="1200" dirty="0">
                <a:solidFill>
                  <a:schemeClr val="tx1"/>
                </a:solidFill>
                <a:effectLst/>
                <a:latin typeface="+mn-lt"/>
                <a:ea typeface="+mn-ea"/>
                <a:cs typeface="+mn-cs"/>
              </a:rPr>
              <a:t>Clarify that open source doesn't remove responsibility for validation — but can simplify and improve transparency.</a:t>
            </a:r>
          </a:p>
          <a:p>
            <a:pPr fontAlgn="t"/>
            <a:r>
              <a:rPr lang="en-US" sz="1200" b="0" i="0" kern="1200" dirty="0">
                <a:solidFill>
                  <a:schemeClr val="tx1"/>
                </a:solidFill>
                <a:effectLst/>
                <a:latin typeface="+mn-lt"/>
                <a:ea typeface="+mn-ea"/>
                <a:cs typeface="+mn-cs"/>
              </a:rPr>
              <a:t>Map audit trails, access control, data integrity, and reproducibility to the architecture components.</a:t>
            </a:r>
          </a:p>
          <a:p>
            <a:endParaRPr lang="en-DE" dirty="0"/>
          </a:p>
        </p:txBody>
      </p:sp>
      <p:sp>
        <p:nvSpPr>
          <p:cNvPr id="4" name="Slide Number Placeholder 3"/>
          <p:cNvSpPr>
            <a:spLocks noGrp="1"/>
          </p:cNvSpPr>
          <p:nvPr>
            <p:ph type="sldNum" sz="quarter" idx="5"/>
          </p:nvPr>
        </p:nvSpPr>
        <p:spPr/>
        <p:txBody>
          <a:bodyPr/>
          <a:lstStyle/>
          <a:p>
            <a:fld id="{2776CBFF-2B9B-4E81-B44E-FEC33C1B4ABD}" type="slidenum">
              <a:rPr lang="en-DE" smtClean="0"/>
              <a:t>26</a:t>
            </a:fld>
            <a:endParaRPr lang="en-DE"/>
          </a:p>
        </p:txBody>
      </p:sp>
    </p:spTree>
    <p:extLst>
      <p:ext uri="{BB962C8B-B14F-4D97-AF65-F5344CB8AC3E}">
        <p14:creationId xmlns:p14="http://schemas.microsoft.com/office/powerpoint/2010/main" val="238499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Slide </a:t>
            </a:r>
            <a:r>
              <a:rPr lang="de-DE" dirty="0" err="1"/>
              <a:t>ContentExample</a:t>
            </a:r>
            <a:r>
              <a:rPr lang="de-DE" dirty="0"/>
              <a:t> </a:t>
            </a:r>
            <a:r>
              <a:rPr lang="de-DE" dirty="0" err="1"/>
              <a:t>manufacturing</a:t>
            </a:r>
            <a:r>
              <a:rPr lang="de-DE" dirty="0"/>
              <a:t> </a:t>
            </a:r>
            <a:r>
              <a:rPr lang="de-DE" dirty="0" err="1"/>
              <a:t>lineReal</a:t>
            </a:r>
            <a:r>
              <a:rPr lang="de-DE" dirty="0"/>
              <a:t>-time </a:t>
            </a:r>
            <a:r>
              <a:rPr lang="de-DE" dirty="0" err="1"/>
              <a:t>ingestion</a:t>
            </a:r>
            <a:r>
              <a:rPr lang="de-DE" dirty="0"/>
              <a:t> → </a:t>
            </a:r>
            <a:r>
              <a:rPr lang="de-DE" dirty="0" err="1"/>
              <a:t>StreamPipes</a:t>
            </a:r>
            <a:r>
              <a:rPr lang="de-DE" dirty="0"/>
              <a:t> </a:t>
            </a:r>
            <a:r>
              <a:rPr lang="de-DE" dirty="0" err="1"/>
              <a:t>analyticsIoTDB</a:t>
            </a:r>
            <a:r>
              <a:rPr lang="de-DE" dirty="0"/>
              <a:t> </a:t>
            </a:r>
            <a:r>
              <a:rPr lang="de-DE" dirty="0" err="1"/>
              <a:t>historian</a:t>
            </a:r>
            <a:r>
              <a:rPr lang="de-DE" dirty="0"/>
              <a:t> → </a:t>
            </a:r>
            <a:r>
              <a:rPr lang="de-DE" dirty="0" err="1"/>
              <a:t>Iceberg</a:t>
            </a:r>
            <a:r>
              <a:rPr lang="de-DE" dirty="0"/>
              <a:t> </a:t>
            </a:r>
            <a:r>
              <a:rPr lang="de-DE" dirty="0" err="1"/>
              <a:t>archiveTime-travel</a:t>
            </a:r>
            <a:r>
              <a:rPr lang="de-DE" dirty="0"/>
              <a:t> </a:t>
            </a:r>
            <a:r>
              <a:rPr lang="de-DE" dirty="0" err="1"/>
              <a:t>investigationSpeaker</a:t>
            </a:r>
            <a:r>
              <a:rPr lang="de-DE" dirty="0"/>
              <a:t> </a:t>
            </a:r>
            <a:r>
              <a:rPr lang="de-DE" dirty="0" err="1"/>
              <a:t>NotesUse</a:t>
            </a:r>
            <a:r>
              <a:rPr lang="de-DE" dirty="0"/>
              <a:t> a simple </a:t>
            </a:r>
            <a:r>
              <a:rPr lang="de-DE" dirty="0" err="1"/>
              <a:t>example</a:t>
            </a:r>
            <a:r>
              <a:rPr lang="de-DE" dirty="0"/>
              <a:t>: </a:t>
            </a:r>
            <a:r>
              <a:rPr lang="de-DE" dirty="0" err="1"/>
              <a:t>sudden</a:t>
            </a:r>
            <a:r>
              <a:rPr lang="de-DE" dirty="0"/>
              <a:t> </a:t>
            </a:r>
            <a:r>
              <a:rPr lang="de-DE" dirty="0" err="1"/>
              <a:t>temperature</a:t>
            </a:r>
            <a:r>
              <a:rPr lang="de-DE" dirty="0"/>
              <a:t> </a:t>
            </a:r>
            <a:r>
              <a:rPr lang="de-DE" dirty="0" err="1"/>
              <a:t>spike</a:t>
            </a:r>
            <a:r>
              <a:rPr lang="de-DE" dirty="0"/>
              <a:t> </a:t>
            </a:r>
            <a:r>
              <a:rPr lang="de-DE" dirty="0" err="1"/>
              <a:t>detected</a:t>
            </a:r>
            <a:r>
              <a:rPr lang="de-DE" dirty="0"/>
              <a:t> on a </a:t>
            </a:r>
            <a:r>
              <a:rPr lang="de-DE" dirty="0" err="1"/>
              <a:t>filling</a:t>
            </a:r>
            <a:r>
              <a:rPr lang="de-DE" dirty="0"/>
              <a:t> </a:t>
            </a:r>
            <a:r>
              <a:rPr lang="de-DE" dirty="0" err="1"/>
              <a:t>line.StreamPipes</a:t>
            </a:r>
            <a:r>
              <a:rPr lang="de-DE" dirty="0"/>
              <a:t> </a:t>
            </a:r>
            <a:r>
              <a:rPr lang="de-DE" dirty="0" err="1"/>
              <a:t>detects</a:t>
            </a:r>
            <a:r>
              <a:rPr lang="de-DE" dirty="0"/>
              <a:t> </a:t>
            </a:r>
            <a:r>
              <a:rPr lang="de-DE" dirty="0" err="1"/>
              <a:t>anomaly</a:t>
            </a:r>
            <a:r>
              <a:rPr lang="de-DE" dirty="0"/>
              <a:t> → </a:t>
            </a:r>
            <a:r>
              <a:rPr lang="de-DE" dirty="0" err="1"/>
              <a:t>IoTDB</a:t>
            </a:r>
            <a:r>
              <a:rPr lang="de-DE" dirty="0"/>
              <a:t> logs </a:t>
            </a:r>
            <a:r>
              <a:rPr lang="de-DE" dirty="0" err="1"/>
              <a:t>raw</a:t>
            </a:r>
            <a:r>
              <a:rPr lang="de-DE" dirty="0"/>
              <a:t> </a:t>
            </a:r>
            <a:r>
              <a:rPr lang="de-DE" dirty="0" err="1"/>
              <a:t>data</a:t>
            </a:r>
            <a:r>
              <a:rPr lang="de-DE" dirty="0"/>
              <a:t> → </a:t>
            </a:r>
            <a:r>
              <a:rPr lang="de-DE" dirty="0" err="1"/>
              <a:t>Iceberg</a:t>
            </a:r>
            <a:r>
              <a:rPr lang="de-DE" dirty="0"/>
              <a:t> </a:t>
            </a:r>
            <a:r>
              <a:rPr lang="de-DE" dirty="0" err="1"/>
              <a:t>supports</a:t>
            </a:r>
            <a:r>
              <a:rPr lang="de-DE" dirty="0"/>
              <a:t> </a:t>
            </a:r>
            <a:r>
              <a:rPr lang="de-DE" dirty="0" err="1"/>
              <a:t>retrospective</a:t>
            </a:r>
            <a:r>
              <a:rPr lang="de-DE" dirty="0"/>
              <a:t> </a:t>
            </a:r>
            <a:r>
              <a:rPr lang="de-DE" dirty="0" err="1"/>
              <a:t>investigation.Show</a:t>
            </a:r>
            <a:r>
              <a:rPr lang="de-DE" dirty="0"/>
              <a:t> </a:t>
            </a:r>
            <a:r>
              <a:rPr lang="de-DE" dirty="0" err="1"/>
              <a:t>how</a:t>
            </a:r>
            <a:r>
              <a:rPr lang="de-DE" dirty="0"/>
              <a:t> </a:t>
            </a:r>
            <a:r>
              <a:rPr lang="de-DE" dirty="0" err="1"/>
              <a:t>regulators</a:t>
            </a:r>
            <a:r>
              <a:rPr lang="de-DE" dirty="0"/>
              <a:t> </a:t>
            </a:r>
            <a:r>
              <a:rPr lang="de-DE" dirty="0" err="1"/>
              <a:t>expect</a:t>
            </a:r>
            <a:r>
              <a:rPr lang="de-DE" dirty="0"/>
              <a:t> </a:t>
            </a:r>
            <a:r>
              <a:rPr lang="de-DE" dirty="0" err="1"/>
              <a:t>you</a:t>
            </a:r>
            <a:r>
              <a:rPr lang="de-DE" dirty="0"/>
              <a:t> </a:t>
            </a:r>
            <a:r>
              <a:rPr lang="de-DE" dirty="0" err="1"/>
              <a:t>to</a:t>
            </a:r>
            <a:r>
              <a:rPr lang="de-DE" dirty="0"/>
              <a:t> </a:t>
            </a:r>
            <a:r>
              <a:rPr lang="de-DE" dirty="0" err="1"/>
              <a:t>answer</a:t>
            </a:r>
            <a:r>
              <a:rPr lang="de-DE" dirty="0"/>
              <a:t>: “</a:t>
            </a:r>
            <a:r>
              <a:rPr lang="de-DE" dirty="0" err="1"/>
              <a:t>What</a:t>
            </a:r>
            <a:r>
              <a:rPr lang="de-DE" dirty="0"/>
              <a:t> </a:t>
            </a:r>
            <a:r>
              <a:rPr lang="de-DE" dirty="0" err="1"/>
              <a:t>happened</a:t>
            </a:r>
            <a:r>
              <a:rPr lang="de-DE" dirty="0"/>
              <a:t>, </a:t>
            </a:r>
            <a:r>
              <a:rPr lang="de-DE" dirty="0" err="1"/>
              <a:t>when</a:t>
            </a:r>
            <a:r>
              <a:rPr lang="de-DE" dirty="0"/>
              <a:t>, and </a:t>
            </a:r>
            <a:r>
              <a:rPr lang="de-DE" dirty="0" err="1"/>
              <a:t>how</a:t>
            </a:r>
            <a:r>
              <a:rPr lang="de-DE" dirty="0"/>
              <a:t> do </a:t>
            </a:r>
            <a:r>
              <a:rPr lang="de-DE" dirty="0" err="1"/>
              <a:t>you</a:t>
            </a:r>
            <a:r>
              <a:rPr lang="de-DE" dirty="0"/>
              <a:t> </a:t>
            </a:r>
            <a:r>
              <a:rPr lang="de-DE" dirty="0" err="1"/>
              <a:t>know</a:t>
            </a:r>
            <a:r>
              <a:rPr lang="de-DE" dirty="0"/>
              <a:t> </a:t>
            </a:r>
            <a:r>
              <a:rPr lang="de-DE" dirty="0" err="1"/>
              <a:t>this</a:t>
            </a:r>
            <a:r>
              <a:rPr lang="de-DE" dirty="0"/>
              <a:t> </a:t>
            </a:r>
            <a:r>
              <a:rPr lang="de-DE" dirty="0" err="1"/>
              <a:t>data</a:t>
            </a:r>
            <a:r>
              <a:rPr lang="de-DE" dirty="0"/>
              <a:t> </a:t>
            </a:r>
            <a:r>
              <a:rPr lang="de-DE" dirty="0" err="1"/>
              <a:t>is</a:t>
            </a:r>
            <a:r>
              <a:rPr lang="de-DE" dirty="0"/>
              <a:t> </a:t>
            </a:r>
            <a:r>
              <a:rPr lang="de-DE" dirty="0" err="1"/>
              <a:t>trustworthy</a:t>
            </a:r>
            <a:r>
              <a:rPr lang="de-DE" dirty="0"/>
              <a:t>?”</a:t>
            </a:r>
            <a:endParaRPr lang="en-DE" dirty="0"/>
          </a:p>
        </p:txBody>
      </p:sp>
      <p:sp>
        <p:nvSpPr>
          <p:cNvPr id="4" name="Slide Number Placeholder 3"/>
          <p:cNvSpPr>
            <a:spLocks noGrp="1"/>
          </p:cNvSpPr>
          <p:nvPr>
            <p:ph type="sldNum" sz="quarter" idx="5"/>
          </p:nvPr>
        </p:nvSpPr>
        <p:spPr/>
        <p:txBody>
          <a:bodyPr/>
          <a:lstStyle/>
          <a:p>
            <a:fld id="{2776CBFF-2B9B-4E81-B44E-FEC33C1B4ABD}" type="slidenum">
              <a:rPr lang="en-DE" smtClean="0"/>
              <a:t>27</a:t>
            </a:fld>
            <a:endParaRPr lang="en-DE"/>
          </a:p>
        </p:txBody>
      </p:sp>
    </p:spTree>
    <p:extLst>
      <p:ext uri="{BB962C8B-B14F-4D97-AF65-F5344CB8AC3E}">
        <p14:creationId xmlns:p14="http://schemas.microsoft.com/office/powerpoint/2010/main" val="3348889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de-DE" sz="1200" b="1" i="0" kern="1200" dirty="0">
                <a:solidFill>
                  <a:schemeClr val="tx1"/>
                </a:solidFill>
                <a:effectLst/>
                <a:latin typeface="+mn-lt"/>
                <a:ea typeface="+mn-ea"/>
                <a:cs typeface="+mn-cs"/>
              </a:rPr>
              <a:t>Slide Content</a:t>
            </a:r>
          </a:p>
          <a:p>
            <a:pPr fontAlgn="t"/>
            <a:r>
              <a:rPr lang="de-DE" sz="1200" b="0" i="0" kern="1200" dirty="0">
                <a:solidFill>
                  <a:schemeClr val="tx1"/>
                </a:solidFill>
                <a:effectLst/>
                <a:latin typeface="+mn-lt"/>
                <a:ea typeface="+mn-ea"/>
                <a:cs typeface="+mn-cs"/>
              </a:rPr>
              <a:t>Open source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mature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enough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for</a:t>
            </a:r>
            <a:r>
              <a:rPr lang="de-DE" sz="1200" b="0" i="0" kern="1200" dirty="0">
                <a:solidFill>
                  <a:schemeClr val="tx1"/>
                </a:solidFill>
                <a:effectLst/>
                <a:latin typeface="+mn-lt"/>
                <a:ea typeface="+mn-ea"/>
                <a:cs typeface="+mn-cs"/>
              </a:rPr>
              <a:t> GMP </a:t>
            </a:r>
            <a:r>
              <a:rPr lang="de-DE" sz="1200" b="0" i="0" kern="1200" dirty="0" err="1">
                <a:solidFill>
                  <a:schemeClr val="tx1"/>
                </a:solidFill>
                <a:effectLst/>
                <a:latin typeface="+mn-lt"/>
                <a:ea typeface="+mn-ea"/>
                <a:cs typeface="+mn-cs"/>
              </a:rPr>
              <a:t>IIoT</a:t>
            </a:r>
            <a:endParaRPr lang="de-DE" sz="1200" b="0" i="0" kern="1200" dirty="0">
              <a:solidFill>
                <a:schemeClr val="tx1"/>
              </a:solidFill>
              <a:effectLst/>
              <a:latin typeface="+mn-lt"/>
              <a:ea typeface="+mn-ea"/>
              <a:cs typeface="+mn-cs"/>
            </a:endParaRPr>
          </a:p>
          <a:p>
            <a:pPr fontAlgn="t"/>
            <a:r>
              <a:rPr lang="de-DE" sz="1200" b="0" i="0" kern="1200" dirty="0" err="1">
                <a:solidFill>
                  <a:schemeClr val="tx1"/>
                </a:solidFill>
                <a:effectLst/>
                <a:latin typeface="+mn-lt"/>
                <a:ea typeface="+mn-ea"/>
                <a:cs typeface="+mn-cs"/>
              </a:rPr>
              <a:t>TSFile</a:t>
            </a:r>
            <a:r>
              <a:rPr lang="de-DE" sz="1200" b="0" i="0" kern="1200" dirty="0">
                <a:solidFill>
                  <a:schemeClr val="tx1"/>
                </a:solidFill>
                <a:effectLst/>
                <a:latin typeface="+mn-lt"/>
                <a:ea typeface="+mn-ea"/>
                <a:cs typeface="+mn-cs"/>
              </a:rPr>
              <a:t> + </a:t>
            </a:r>
            <a:r>
              <a:rPr lang="de-DE" sz="1200" b="0" i="0" kern="1200" dirty="0" err="1">
                <a:solidFill>
                  <a:schemeClr val="tx1"/>
                </a:solidFill>
                <a:effectLst/>
                <a:latin typeface="+mn-lt"/>
                <a:ea typeface="+mn-ea"/>
                <a:cs typeface="+mn-cs"/>
              </a:rPr>
              <a:t>Iceberg</a:t>
            </a:r>
            <a:r>
              <a:rPr lang="de-DE" sz="1200" b="0" i="0" kern="1200" dirty="0">
                <a:solidFill>
                  <a:schemeClr val="tx1"/>
                </a:solidFill>
                <a:effectLst/>
                <a:latin typeface="+mn-lt"/>
                <a:ea typeface="+mn-ea"/>
                <a:cs typeface="+mn-cs"/>
              </a:rPr>
              <a:t> = </a:t>
            </a:r>
            <a:r>
              <a:rPr lang="de-DE" sz="1200" b="0" i="0" kern="1200" dirty="0" err="1">
                <a:solidFill>
                  <a:schemeClr val="tx1"/>
                </a:solidFill>
                <a:effectLst/>
                <a:latin typeface="+mn-lt"/>
                <a:ea typeface="+mn-ea"/>
                <a:cs typeface="+mn-cs"/>
              </a:rPr>
              <a:t>future-proof</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compliant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storage</a:t>
            </a:r>
            <a:endParaRPr lang="de-DE" sz="1200" b="0" i="0" kern="1200" dirty="0">
              <a:solidFill>
                <a:schemeClr val="tx1"/>
              </a:solidFill>
              <a:effectLst/>
              <a:latin typeface="+mn-lt"/>
              <a:ea typeface="+mn-ea"/>
              <a:cs typeface="+mn-cs"/>
            </a:endParaRPr>
          </a:p>
          <a:p>
            <a:pPr fontAlgn="t"/>
            <a:r>
              <a:rPr lang="de-DE" sz="1200" b="0" i="0" kern="1200" dirty="0" err="1">
                <a:solidFill>
                  <a:schemeClr val="tx1"/>
                </a:solidFill>
                <a:effectLst/>
                <a:latin typeface="+mn-lt"/>
                <a:ea typeface="+mn-ea"/>
                <a:cs typeface="+mn-cs"/>
              </a:rPr>
              <a:t>StreamPipes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enables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domain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experts</a:t>
            </a:r>
            <a:endParaRPr lang="de-DE" sz="1200" b="0" i="0" kern="1200" dirty="0">
              <a:solidFill>
                <a:schemeClr val="tx1"/>
              </a:solidFill>
              <a:effectLst/>
              <a:latin typeface="+mn-lt"/>
              <a:ea typeface="+mn-ea"/>
              <a:cs typeface="+mn-cs"/>
            </a:endParaRPr>
          </a:p>
          <a:p>
            <a:pPr fontAlgn="t"/>
            <a:r>
              <a:rPr lang="de-DE" sz="1200" b="0" i="0" kern="1200" dirty="0">
                <a:solidFill>
                  <a:schemeClr val="tx1"/>
                </a:solidFill>
                <a:effectLst/>
                <a:latin typeface="+mn-lt"/>
                <a:ea typeface="+mn-ea"/>
                <a:cs typeface="+mn-cs"/>
              </a:rPr>
              <a:t>Apache </a:t>
            </a:r>
            <a:r>
              <a:rPr lang="de-DE" sz="1200" b="0" i="0" kern="1200" dirty="0" err="1">
                <a:solidFill>
                  <a:schemeClr val="tx1"/>
                </a:solidFill>
                <a:effectLst/>
                <a:latin typeface="+mn-lt"/>
                <a:ea typeface="+mn-ea"/>
                <a:cs typeface="+mn-cs"/>
              </a:rPr>
              <a:t>ecosystem</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reduces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vendor</a:t>
            </a:r>
            <a:r>
              <a:rPr lang="de-DE" sz="1200" b="0" i="0" kern="1200" dirty="0">
                <a:solidFill>
                  <a:schemeClr val="tx1"/>
                </a:solidFill>
                <a:effectLst/>
                <a:latin typeface="+mn-lt"/>
                <a:ea typeface="+mn-ea"/>
                <a:cs typeface="+mn-cs"/>
              </a:rPr>
              <a:t> lock‑in and </a:t>
            </a:r>
            <a:r>
              <a:rPr lang="de-DE" sz="1200" b="0" i="0" kern="1200" dirty="0" err="1">
                <a:solidFill>
                  <a:schemeClr val="tx1"/>
                </a:solidFill>
                <a:effectLst/>
                <a:latin typeface="+mn-lt"/>
                <a:ea typeface="+mn-ea"/>
                <a:cs typeface="+mn-cs"/>
              </a:rPr>
              <a:t>cost</a:t>
            </a:r>
            <a:endParaRPr lang="de-DE" sz="1200" b="0" i="0" kern="1200" dirty="0">
              <a:solidFill>
                <a:schemeClr val="tx1"/>
              </a:solidFill>
              <a:effectLst/>
              <a:latin typeface="+mn-lt"/>
              <a:ea typeface="+mn-ea"/>
              <a:cs typeface="+mn-cs"/>
            </a:endParaRPr>
          </a:p>
          <a:p>
            <a:pPr fontAlgn="t"/>
            <a:r>
              <a:rPr lang="de-DE" sz="1200" b="1" i="0" kern="1200" dirty="0">
                <a:solidFill>
                  <a:schemeClr val="tx1"/>
                </a:solidFill>
                <a:effectLst/>
                <a:latin typeface="+mn-lt"/>
                <a:ea typeface="+mn-ea"/>
                <a:cs typeface="+mn-cs"/>
              </a:rPr>
              <a:t>Speaker Notes</a:t>
            </a:r>
          </a:p>
          <a:p>
            <a:pPr fontAlgn="t"/>
            <a:r>
              <a:rPr lang="de-DE" sz="1200" b="0" i="0" kern="1200" dirty="0" err="1">
                <a:solidFill>
                  <a:schemeClr val="tx1"/>
                </a:solidFill>
                <a:effectLst/>
                <a:latin typeface="+mn-lt"/>
                <a:ea typeface="+mn-ea"/>
                <a:cs typeface="+mn-cs"/>
              </a:rPr>
              <a:t>Reinforce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message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that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ecosystem</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modular, </a:t>
            </a:r>
            <a:r>
              <a:rPr lang="de-DE" sz="1200" b="0" i="0" kern="1200" dirty="0" err="1">
                <a:solidFill>
                  <a:schemeClr val="tx1"/>
                </a:solidFill>
                <a:effectLst/>
                <a:latin typeface="+mn-lt"/>
                <a:ea typeface="+mn-ea"/>
                <a:cs typeface="+mn-cs"/>
              </a:rPr>
              <a:t>scalable</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validation-friendly</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Encourage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adopting</a:t>
            </a:r>
            <a:r>
              <a:rPr lang="de-DE" sz="1200" b="0" i="0" kern="1200" dirty="0">
                <a:solidFill>
                  <a:schemeClr val="tx1"/>
                </a:solidFill>
                <a:effectLst/>
                <a:latin typeface="+mn-lt"/>
                <a:ea typeface="+mn-ea"/>
                <a:cs typeface="+mn-cs"/>
              </a:rPr>
              <a:t> open </a:t>
            </a:r>
            <a:r>
              <a:rPr lang="de-DE" sz="1200" b="0" i="0" kern="1200" dirty="0" err="1">
                <a:solidFill>
                  <a:schemeClr val="tx1"/>
                </a:solidFill>
                <a:effectLst/>
                <a:latin typeface="+mn-lt"/>
                <a:ea typeface="+mn-ea"/>
                <a:cs typeface="+mn-cs"/>
              </a:rPr>
              <a:t>standards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avoid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dependency</a:t>
            </a:r>
            <a:r>
              <a:rPr lang="de-DE" sz="1200" b="0" i="0" kern="1200" dirty="0">
                <a:solidFill>
                  <a:schemeClr val="tx1"/>
                </a:solidFill>
                <a:effectLst/>
                <a:latin typeface="+mn-lt"/>
                <a:ea typeface="+mn-ea"/>
                <a:cs typeface="+mn-cs"/>
              </a:rPr>
              <a:t> on </a:t>
            </a:r>
            <a:r>
              <a:rPr lang="de-DE" sz="1200" b="0" i="0" kern="1200" dirty="0" err="1">
                <a:solidFill>
                  <a:schemeClr val="tx1"/>
                </a:solidFill>
                <a:effectLst/>
                <a:latin typeface="+mn-lt"/>
                <a:ea typeface="+mn-ea"/>
                <a:cs typeface="+mn-cs"/>
              </a:rPr>
              <a:t>proprietary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historians</a:t>
            </a:r>
            <a:r>
              <a:rPr lang="de-DE" sz="1200" b="0" i="0" kern="1200" dirty="0">
                <a:solidFill>
                  <a:schemeClr val="tx1"/>
                </a:solidFill>
                <a:effectLst/>
                <a:latin typeface="+mn-lt"/>
                <a:ea typeface="+mn-ea"/>
                <a:cs typeface="+mn-cs"/>
              </a:rPr>
              <a:t>.</a:t>
            </a:r>
          </a:p>
          <a:p>
            <a:endParaRPr lang="en-DE" dirty="0"/>
          </a:p>
        </p:txBody>
      </p:sp>
      <p:sp>
        <p:nvSpPr>
          <p:cNvPr id="4" name="Slide Number Placeholder 3"/>
          <p:cNvSpPr>
            <a:spLocks noGrp="1"/>
          </p:cNvSpPr>
          <p:nvPr>
            <p:ph type="sldNum" sz="quarter" idx="5"/>
          </p:nvPr>
        </p:nvSpPr>
        <p:spPr/>
        <p:txBody>
          <a:bodyPr/>
          <a:lstStyle/>
          <a:p>
            <a:fld id="{2776CBFF-2B9B-4E81-B44E-FEC33C1B4ABD}" type="slidenum">
              <a:rPr lang="en-DE" smtClean="0"/>
              <a:t>28</a:t>
            </a:fld>
            <a:endParaRPr lang="en-DE"/>
          </a:p>
        </p:txBody>
      </p:sp>
    </p:spTree>
    <p:extLst>
      <p:ext uri="{BB962C8B-B14F-4D97-AF65-F5344CB8AC3E}">
        <p14:creationId xmlns:p14="http://schemas.microsoft.com/office/powerpoint/2010/main" val="711510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Invite questions about practical implementation, validation, and integration into existing MES/SCADA systems.</a:t>
            </a:r>
          </a:p>
          <a:p>
            <a:r>
              <a:rPr lang="de-DE" dirty="0"/>
              <a:t>-&gt; e.g. </a:t>
            </a:r>
            <a:r>
              <a:rPr lang="de-DE" dirty="0" err="1"/>
              <a:t>Criticial</a:t>
            </a:r>
            <a:r>
              <a:rPr lang="de-DE" dirty="0"/>
              <a:t> Manufacturing </a:t>
            </a:r>
            <a:r>
              <a:rPr lang="de-DE" dirty="0" err="1"/>
              <a:t>is</a:t>
            </a:r>
            <a:r>
              <a:rPr lang="de-DE" dirty="0"/>
              <a:t> </a:t>
            </a:r>
            <a:r>
              <a:rPr lang="de-DE" dirty="0" err="1"/>
              <a:t>built</a:t>
            </a:r>
            <a:r>
              <a:rPr lang="de-DE" dirty="0"/>
              <a:t> on top </a:t>
            </a:r>
            <a:r>
              <a:rPr lang="de-DE" dirty="0" err="1"/>
              <a:t>of</a:t>
            </a:r>
            <a:r>
              <a:rPr lang="de-DE"/>
              <a:t> Apache Kafka.</a:t>
            </a:r>
            <a:endParaRPr lang="en-DE"/>
          </a:p>
        </p:txBody>
      </p:sp>
      <p:sp>
        <p:nvSpPr>
          <p:cNvPr id="4" name="Slide Number Placeholder 3"/>
          <p:cNvSpPr>
            <a:spLocks noGrp="1"/>
          </p:cNvSpPr>
          <p:nvPr>
            <p:ph type="sldNum" sz="quarter" idx="5"/>
          </p:nvPr>
        </p:nvSpPr>
        <p:spPr/>
        <p:txBody>
          <a:bodyPr/>
          <a:lstStyle/>
          <a:p>
            <a:fld id="{2776CBFF-2B9B-4E81-B44E-FEC33C1B4ABD}" type="slidenum">
              <a:rPr lang="en-DE" smtClean="0"/>
              <a:t>29</a:t>
            </a:fld>
            <a:endParaRPr lang="en-DE"/>
          </a:p>
        </p:txBody>
      </p:sp>
    </p:spTree>
    <p:extLst>
      <p:ext uri="{BB962C8B-B14F-4D97-AF65-F5344CB8AC3E}">
        <p14:creationId xmlns:p14="http://schemas.microsoft.com/office/powerpoint/2010/main" val="16528737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Lst>
          </p:cNvPr>
          <p:cNvSpPr/>
          <p:nvPr/>
        </p:nvSpPr>
        <p:spPr>
          <a:xfrm>
            <a:off x="5067300" y="-429"/>
            <a:ext cx="7142987" cy="6857571"/>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Lst>
          </p:cNvPr>
          <p:cNvSpPr/>
          <p:nvPr/>
        </p:nvSpPr>
        <p:spPr>
          <a:xfrm rot="10800000">
            <a:off x="5067300" y="4571999"/>
            <a:ext cx="7158340"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bg1"/>
                </a:solidFill>
              </a:defRPr>
            </a:lvl1pPr>
          </a:lstStyle>
          <a:p>
            <a:fld id="{22927AFB-A171-440E-85AE-8173A49EBA6A}" type="datetime2">
              <a:rPr lang="en-US" smtClean="0"/>
              <a:t>Friday, June 19,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78862554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274BCA4-07E8-484C-A268-7A7F4DBB4C79}" type="datetime2">
              <a:rPr lang="en-US" smtClean="0"/>
              <a:t>Friday, June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59700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bg1"/>
                </a:solidFill>
                <a:latin typeface="+mj-lt"/>
              </a:defRPr>
            </a:lvl1pPr>
          </a:lstStyle>
          <a:p>
            <a:pPr lvl="0"/>
            <a:r>
              <a:rPr lang="en-US" dirty="0"/>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dirty="0"/>
              <a:t>.</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bg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bg1"/>
                </a:solidFill>
              </a:defRPr>
            </a:lvl1pPr>
          </a:lstStyle>
          <a:p>
            <a:fld id="{8EC5E238-6443-4E66-ABD7-AFE41A3FA712}" type="datetime2">
              <a:rPr lang="en-US" smtClean="0"/>
              <a:t>Friday, June 19, 2026</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9568290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bg1"/>
                </a:solidFill>
              </a:defRPr>
            </a:lvl1pPr>
          </a:lstStyle>
          <a:p>
            <a:fld id="{F2D689D1-54B3-41D9-B112-32329B9B3CC6}" type="datetime2">
              <a:rPr lang="en-US" smtClean="0"/>
              <a:t>Friday, June 19,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195777850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bg1"/>
                </a:solidFill>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bg1"/>
                </a:solidFill>
              </a:defRPr>
            </a:lvl1pPr>
          </a:lstStyle>
          <a:p>
            <a:fld id="{E144AFCF-5D00-4E8A-BE78-0A3382672AA6}" type="datetime2">
              <a:rPr lang="en-US" smtClean="0"/>
              <a:t>Friday, June 19, 2026</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19898134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bg1"/>
                </a:solidFill>
                <a:latin typeface="+mj-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F3DE8AB4-3D9C-4366-A8D9-9A4F01D11121}" type="datetime2">
              <a:rPr lang="en-US" smtClean="0"/>
              <a:t>Friday, June 19,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6323979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344B8E2B-A9B5-DCE0-5C06-E99F762397CB}"/>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C38FEA-146D-53B3-36B0-5CBD8040636E}"/>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dirty="0"/>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5259F214-985C-4E7A-8724-986944FA2171}" type="datetime2">
              <a:rPr lang="en-US" smtClean="0"/>
              <a:t>Friday, June 19, 2026</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28130889"/>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7F7CFA0-C3A1-5564-DD4B-90674874B08D}"/>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4E2F783-0ED7-1F0B-219A-198549E350DD}"/>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258C9C02-FCB9-44E9-9951-263455134367}" type="datetime2">
              <a:rPr lang="en-US" smtClean="0"/>
              <a:t>Friday, June 19, 2026</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2580069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657600" y="2807208"/>
            <a:ext cx="7644384" cy="3346704"/>
          </a:xfrm>
        </p:spPr>
        <p:txBody>
          <a:bodyPr anchor="t">
            <a:normAutofit/>
          </a:bodyPr>
          <a:lstStyle>
            <a:lvl1pPr>
              <a:lnSpc>
                <a:spcPct val="110000"/>
              </a:lnSpc>
              <a:defRPr sz="54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18A3F06B-6751-4328-A64C-7E682DA41140}" type="datetime2">
              <a:rPr lang="en-US" smtClean="0"/>
              <a:t>Friday, June 19,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384278205"/>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CF9D34E2-F5B0-4166-BCAC-F99A4EBB0C26}" type="datetime2">
              <a:rPr lang="en-US" smtClean="0"/>
              <a:t>Friday, June 19,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15687395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B5C5E01-6047-09D9-CA8C-ACF771ED4F5F}"/>
              </a:ext>
            </a:extLst>
          </p:cNvPr>
          <p:cNvSpPr/>
          <p:nvPr/>
        </p:nvSpPr>
        <p:spPr>
          <a:xfrm>
            <a:off x="-2" y="0"/>
            <a:ext cx="1219200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735CD2-2790-A02E-C1A3-EB251A110779}"/>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02FDF1D-424D-4F55-8CAE-9342A40AFD81}" type="datetime2">
              <a:rPr lang="en-US" smtClean="0"/>
              <a:t>Friday, June 19,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6025336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A7019B1F-F9E0-40A8-8123-21681C0812EB}" type="datetime2">
              <a:rPr lang="en-US" smtClean="0"/>
              <a:t>Friday, June 19,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815550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9FF914-ECFF-A4E1-AD86-108676B324D3}"/>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98606AF-234E-F01C-E350-3E326E5ABE30}"/>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326AF6F-B60F-4C18-B9AB-ED82420774C4}" type="datetime2">
              <a:rPr lang="en-US" smtClean="0"/>
              <a:t>Friday, June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99202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CF6005E-1485-423F-B5D4-36E24475CFEE}" type="datetime2">
              <a:rPr lang="en-US" smtClean="0"/>
              <a:t>Friday, June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08956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04E31E-DF49-445C-800F-5FFC1FA8170B}" type="datetime2">
              <a:rPr lang="en-US" smtClean="0"/>
              <a:t>Friday, June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135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3541D06-5B5C-452D-81B5-D55337162AD4}" type="datetime2">
              <a:rPr lang="en-US" smtClean="0"/>
              <a:t>Friday, June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515165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8F4B41-77D5-4516-9B41-E9168C96B23B}" type="datetime2">
              <a:rPr lang="en-US" smtClean="0"/>
              <a:t>Friday, June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733372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anchor="t">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1D37B679-27F6-4DEC-AE7E-AE12D4B5C168}" type="datetime2">
              <a:rPr lang="en-US" smtClean="0"/>
              <a:t>Friday, June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077070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68DFF7-84C4-DA92-2628-88F515669E31}"/>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8358C6A-FFB7-7F91-94AA-423822AA8C38}"/>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A318DFB-5F24-4AAB-A84B-D248D5DAC033}" type="datetime2">
              <a:rPr lang="en-US" smtClean="0"/>
              <a:t>Friday, June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2511334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371C36B-E56C-A499-1D3F-AC8DC09B0AE3}"/>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BC72D07-FB95-F16C-6535-C8AEB3ACAFA0}"/>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71286253-1B6C-4476-BA10-7DFF05BDD8C1}" type="datetime2">
              <a:rPr lang="en-US" smtClean="0"/>
              <a:t>Friday, June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680111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541EC5E-2E3A-29A5-7F01-3D098A93FA76}"/>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CDB1A6A-A82E-C28C-BC71-E59067A1D47F}"/>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26721B-6321-48CC-A06F-4DC67D115E8F}" type="datetime2">
              <a:rPr lang="en-US" smtClean="0"/>
              <a:t>Friday, June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7955433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00FDF4-E04E-45E3-73D7-9BD1BD2BCA87}"/>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9DCA41D-9DCB-DD45-31CF-2ACE1D2C681B}"/>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dirty="0"/>
              <a:t>Click to edit Master title style</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p:txBody>
          <a:bodyPr/>
          <a:lstStyle/>
          <a:p>
            <a:r>
              <a:rPr lang="en-US"/>
              <a:t>Sample Footer Text</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03504" y="603504"/>
            <a:ext cx="4643816"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CD5DF956-88B4-4B11-B70D-3316C48FAF0D}" type="datetime2">
              <a:rPr lang="en-US" smtClean="0"/>
              <a:t>Friday, June 19, 2026</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286249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205052-C3B6-6D2C-A5A8-3EFDF993E71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81E3123-7D9E-2A08-F196-CDF340945D9D}"/>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9AB004D8-8BA8-480E-9129-E735C18CC49D}" type="datetime2">
              <a:rPr lang="en-US" smtClean="0"/>
              <a:t>Friday, June 19,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907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D4A58DCA-69A1-40C7-8F11-9BD47CD4C934}" type="datetime2">
              <a:rPr lang="en-US" smtClean="0"/>
              <a:t>Friday, June 19,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953580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33DFD5A6-3F5B-4C93-83C0-9BE650DA7164}" type="datetime2">
              <a:rPr lang="en-US" smtClean="0"/>
              <a:t>Friday, June 19,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5285493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270C72-937F-4EEB-59FB-6FC29DF4570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DBABC61-0C94-EB2C-729D-13A2A74C04A2}"/>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CDFE0BFE-5A09-4B35-B85E-8253DEA6CAA6}" type="datetime2">
              <a:rPr lang="en-US" smtClean="0"/>
              <a:t>Friday, June 19,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7209723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016717-EA73-3C76-64BF-8AA29BC563AE}"/>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0460BC6-378A-8F4F-1D44-FA6677F92D4E}"/>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E451324D-67C5-4E93-BC3F-7AE321E5F6D8}" type="datetime2">
              <a:rPr lang="en-US" smtClean="0"/>
              <a:t>Friday, June 19,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4191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dirty="0"/>
              <a:t>.</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59639FB1-C416-4550-8B7F-818DCA7584C4}" type="datetime2">
              <a:rPr lang="en-US" smtClean="0"/>
              <a:t>Friday, June 19,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8565704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471F3A-3E6D-0DF1-74AB-CC9D04CFAEE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CBED10C-5619-54D2-5D2D-E5D0A3E26E93}"/>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Lst>
          </p:cNvPr>
          <p:cNvSpPr/>
          <p:nvPr/>
        </p:nvSpPr>
        <p:spPr>
          <a:xfrm flipH="1">
            <a:off x="6158536" y="6400799"/>
            <a:ext cx="6033460"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3DAA390-4D48-496D-9CF9-AA47EC8054B6}" type="datetime2">
              <a:rPr lang="en-US" smtClean="0"/>
              <a:t>Friday, June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894040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E99FD1-4C4F-942E-5C24-C7F30C3E106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2093A5D-CF9E-656F-6E4D-BBE26617BBEC}"/>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63F89BF-AB4A-41EB-BD3C-EE6397432347}" type="datetime2">
              <a:rPr lang="en-US" smtClean="0"/>
              <a:t>Friday, June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121127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75F419-3BE9-4269-E538-DB069E0C329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FEA2F20-DFC9-8EAE-10DC-BC89113C2D4F}"/>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31C1CA1-E6E1-4903-A39F-729F30B73A81}" type="datetime2">
              <a:rPr lang="en-US" smtClean="0"/>
              <a:t>Friday, June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82701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Lst>
          </p:cNvPr>
          <p:cNvSpPr/>
          <p:nvPr/>
        </p:nvSpPr>
        <p:spPr>
          <a:xfrm>
            <a:off x="-18286" y="4719145"/>
            <a:ext cx="12221346" cy="21489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09D80555-5AA0-4039-B1D1-43225C709886}" type="datetime2">
              <a:rPr lang="en-US" smtClean="0"/>
              <a:t>Friday, June 19,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0010579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bg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A3282FB1-48E5-4F0A-9E9C-35DF3C629227}" type="datetime2">
              <a:rPr lang="en-US" smtClean="0"/>
              <a:t>Friday, June 19,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696131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E0149A69-19C1-4748-AF82-9FE4A85BF936}" type="datetime2">
              <a:rPr lang="en-US" smtClean="0"/>
              <a:t>Friday, June 19,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0686342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AFD00E-68E4-2C52-ADE7-B3CCEEF5D30D}"/>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FA70C64-A82F-539E-FA22-E9EDFA88F0CB}"/>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775528E2-81C6-40A8-BAF0-0F7E271EAAEB}" type="datetime2">
              <a:rPr lang="en-US" smtClean="0"/>
              <a:t>Friday, June 19,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483592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EFC605F-F3B5-44D1-B7F6-31C6B11C8978}" type="datetime2">
              <a:rPr lang="en-US" smtClean="0"/>
              <a:t>Friday, June 19,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2503130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154D5DB-B0AB-4B30-B4E2-CD0D5A147634}" type="datetime2">
              <a:rPr lang="en-US" smtClean="0"/>
              <a:t>Friday, June 19,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42994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Lst>
          </p:cNvPr>
          <p:cNvSpPr/>
          <p:nvPr/>
        </p:nvSpPr>
        <p:spPr>
          <a:xfrm>
            <a:off x="1009651" y="1028701"/>
            <a:ext cx="10172700" cy="48005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D579EA1B-07C3-4F43-B7BA-72BA44EE9757}" type="datetime2">
              <a:rPr lang="en-US" smtClean="0"/>
              <a:t>Friday, June 19,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360748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bg1"/>
                </a:solidFill>
              </a:defRPr>
            </a:lvl1pPr>
          </a:lstStyle>
          <a:p>
            <a:pPr lvl="0"/>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bg1"/>
                </a:solidFill>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B7C3807E-EE2A-4FC6-9EE1-019AAE762D48}" type="datetime2">
              <a:rPr lang="en-US" smtClean="0"/>
              <a:t>Friday, June 19,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635984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Lst>
          </p:cNvPr>
          <p:cNvSpPr/>
          <p:nvPr/>
        </p:nvSpPr>
        <p:spPr>
          <a:xfrm>
            <a:off x="1009651" y="1028701"/>
            <a:ext cx="10172700" cy="4800598"/>
          </a:xfrm>
          <a:prstGeom prst="rect">
            <a:avLst/>
          </a:prstGeom>
          <a:solidFill>
            <a:srgbClr val="FFFFFF"/>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993F7370-1EC1-45B2-A4ED-6E75D0D33CB2}" type="datetime2">
              <a:rPr lang="en-US" smtClean="0"/>
              <a:t>Friday, June 19,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002178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731521" y="1563624"/>
            <a:ext cx="507492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501384" y="1563624"/>
            <a:ext cx="507492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4DB88F3-C7E5-4A3A-8622-BE18DF2C9CD0}" type="datetime2">
              <a:rPr lang="en-US" smtClean="0"/>
              <a:t>Friday, June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1827734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731520" y="2020888"/>
            <a:ext cx="5074920"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500622" y="2020888"/>
            <a:ext cx="5074920"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8B58457-C0B1-48D7-AA49-8444851E001C}" type="datetime2">
              <a:rPr lang="en-US" smtClean="0"/>
              <a:t>Friday, June 19,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963661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E425F8A-070F-4C2E-8BEF-7769438DDE34}" type="datetime2">
              <a:rPr lang="en-US" smtClean="0"/>
              <a:t>Friday, June 19,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543733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82FA0DE-C1EF-4C95-BCFB-EDA7D552732F}" type="datetime2">
              <a:rPr lang="en-US" smtClean="0"/>
              <a:t>Friday, June 19,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071285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2CA9131-97A4-4253-BF80-685917177C53}" type="datetime2">
              <a:rPr lang="en-US" smtClean="0"/>
              <a:t>Friday, June 19,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2465537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A2EAB38C-EAAD-4752-A6B6-9F33A31C7FA1}" type="datetime2">
              <a:rPr lang="en-US" smtClean="0"/>
              <a:t>Friday, June 19,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133493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0E46A2F-19F0-DFCD-9CE3-04C79F793D8F}"/>
              </a:ext>
            </a:extLst>
          </p:cNvPr>
          <p:cNvSpPr/>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Rectangle 6">
            <a:extLst>
              <a:ext uri="{FF2B5EF4-FFF2-40B4-BE49-F238E27FC236}">
                <a16:creationId xmlns:a16="http://schemas.microsoft.com/office/drawing/2014/main" id="{C51DC8D0-ECB3-9C81-4ADA-D2C30B00B146}"/>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70D6DD4-D4A4-4FD2-90EE-29743B49734D}" type="datetime2">
              <a:rPr lang="en-US" smtClean="0"/>
              <a:t>Friday, June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731256578"/>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875154-47EA-9315-F160-02DA5541D65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8" name="Rectangle 7">
            <a:extLst>
              <a:ext uri="{FF2B5EF4-FFF2-40B4-BE49-F238E27FC236}">
                <a16:creationId xmlns:a16="http://schemas.microsoft.com/office/drawing/2014/main" id="{9617130E-6216-789E-BE08-6D1E3E75622B}"/>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7812B7D-2375-41E3-8CF6-637C0157FD6F}" type="datetime2">
              <a:rPr lang="en-US" smtClean="0"/>
              <a:t>Friday, June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1338506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7FA31CB7-48AA-4691-B614-160E906C518A}" type="datetime2">
              <a:rPr lang="en-US" smtClean="0"/>
              <a:t>Friday, June 19, 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17764837"/>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 id="2147483879" r:id="rId18"/>
    <p:sldLayoutId id="2147483880" r:id="rId19"/>
    <p:sldLayoutId id="2147483881" r:id="rId20"/>
    <p:sldLayoutId id="2147483882" r:id="rId21"/>
    <p:sldLayoutId id="2147483883" r:id="rId22"/>
    <p:sldLayoutId id="2147483884" r:id="rId23"/>
    <p:sldLayoutId id="2147483885" r:id="rId24"/>
    <p:sldLayoutId id="2147483886" r:id="rId25"/>
    <p:sldLayoutId id="2147483887" r:id="rId26"/>
    <p:sldLayoutId id="2147483888" r:id="rId27"/>
    <p:sldLayoutId id="2147483889" r:id="rId28"/>
    <p:sldLayoutId id="2147483890" r:id="rId29"/>
    <p:sldLayoutId id="2147483891" r:id="rId30"/>
    <p:sldLayoutId id="2147483892" r:id="rId31"/>
    <p:sldLayoutId id="2147483861" r:id="rId32"/>
    <p:sldLayoutId id="2147483893" r:id="rId33"/>
    <p:sldLayoutId id="2147483894" r:id="rId34"/>
    <p:sldLayoutId id="2147483895" r:id="rId35"/>
    <p:sldLayoutId id="2147483896" r:id="rId36"/>
    <p:sldLayoutId id="2147483897" r:id="rId37"/>
    <p:sldLayoutId id="2147483898" r:id="rId38"/>
    <p:sldLayoutId id="2147483899" r:id="rId39"/>
    <p:sldLayoutId id="2147483907" r:id="rId40"/>
    <p:sldLayoutId id="2147483900" r:id="rId41"/>
    <p:sldLayoutId id="2147483901" r:id="rId42"/>
    <p:sldLayoutId id="2147483902" r:id="rId43"/>
    <p:sldLayoutId id="2147483903" r:id="rId44"/>
    <p:sldLayoutId id="2147483904" r:id="rId45"/>
    <p:sldLayoutId id="2147483905" r:id="rId46"/>
    <p:sldLayoutId id="2147483906" r:id="rId47"/>
    <p:sldLayoutId id="2147483860" r:id="rId48"/>
  </p:sldLayoutIdLst>
  <p:hf sldNum="0"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video" Target="https://www.youtube.com/embed/AkMzIoZEP6g?feature=oembe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implerqms.com/21-cfr-part-11-vs-eu-annex-11/" TargetMode="External"/><Relationship Id="rId2" Type="http://schemas.openxmlformats.org/officeDocument/2006/relationships/hyperlink" Target="https://www.certivo.io/blog/what-is-fda-21-cfr-part-11" TargetMode="External"/><Relationship Id="rId1" Type="http://schemas.openxmlformats.org/officeDocument/2006/relationships/slideLayout" Target="../slideLayouts/slideLayout2.xml"/><Relationship Id="rId4" Type="http://schemas.openxmlformats.org/officeDocument/2006/relationships/hyperlink" Target="https://gmpinsiders.com/annex-11-vs-21-cfr-part-11/"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pharmaguideline.com/2018/12/alcoa-to-alcoa-plus-for-data-integrity.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pharmaguideline.com/2025/11/21-cfr-part-11-requirements-for-laboratories.html#gsc.tab=0"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sdgs.un.org/sites/default/files/2026-05/2026%20STI%20Solutions%20Book%20%285%29-compressed.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sdgs.un.org/tfm/STIForum2026/Solutionsbook" TargetMode="External"/><Relationship Id="rId2" Type="http://schemas.openxmlformats.org/officeDocument/2006/relationships/hyperlink" Target="https://www.linkedin.com/pulse/apache-iotdb-selected-one-top-60-global-innovation-cases-o3cdc/?trackingId=FyCa%2FjGICjK2eKBbL7ZHgQ%3D%3D"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DCD33-0875-3BDC-8690-54E2B3C02B39}"/>
              </a:ext>
            </a:extLst>
          </p:cNvPr>
          <p:cNvSpPr>
            <a:spLocks noGrp="1"/>
          </p:cNvSpPr>
          <p:nvPr>
            <p:ph type="ctrTitle"/>
          </p:nvPr>
        </p:nvSpPr>
        <p:spPr>
          <a:xfrm>
            <a:off x="731520" y="585216"/>
            <a:ext cx="6858000" cy="3200400"/>
          </a:xfrm>
        </p:spPr>
        <p:txBody>
          <a:bodyPr anchor="b">
            <a:normAutofit fontScale="90000"/>
          </a:bodyPr>
          <a:lstStyle/>
          <a:p>
            <a:r>
              <a:rPr lang="en-US" dirty="0"/>
              <a:t>Open Source for Regulated Manufacturing: GMP‑Compliant </a:t>
            </a:r>
            <a:r>
              <a:rPr lang="en-US" dirty="0" err="1"/>
              <a:t>IIoT</a:t>
            </a:r>
            <a:r>
              <a:rPr lang="en-US" dirty="0"/>
              <a:t> Data Logging</a:t>
            </a:r>
            <a:endParaRPr lang="en-DE" dirty="0"/>
          </a:p>
        </p:txBody>
      </p:sp>
      <p:sp>
        <p:nvSpPr>
          <p:cNvPr id="3" name="Subtitle 2">
            <a:extLst>
              <a:ext uri="{FF2B5EF4-FFF2-40B4-BE49-F238E27FC236}">
                <a16:creationId xmlns:a16="http://schemas.microsoft.com/office/drawing/2014/main" id="{09D8D554-E820-D9AF-56FC-BC7CE485040A}"/>
              </a:ext>
            </a:extLst>
          </p:cNvPr>
          <p:cNvSpPr>
            <a:spLocks noGrp="1"/>
          </p:cNvSpPr>
          <p:nvPr>
            <p:ph type="subTitle" idx="1"/>
          </p:nvPr>
        </p:nvSpPr>
        <p:spPr>
          <a:xfrm>
            <a:off x="731520" y="4965192"/>
            <a:ext cx="7401528" cy="1490472"/>
          </a:xfrm>
        </p:spPr>
        <p:txBody>
          <a:bodyPr anchor="ctr">
            <a:normAutofit/>
          </a:bodyPr>
          <a:lstStyle/>
          <a:p>
            <a:r>
              <a:rPr lang="en-US" dirty="0"/>
              <a:t>Building scalable, auditable, </a:t>
            </a:r>
            <a:br>
              <a:rPr lang="en-US" dirty="0"/>
            </a:br>
            <a:r>
              <a:rPr lang="en-US" dirty="0"/>
              <a:t>and compliant </a:t>
            </a:r>
            <a:r>
              <a:rPr lang="en-US" dirty="0" err="1"/>
              <a:t>IIoT</a:t>
            </a:r>
            <a:r>
              <a:rPr lang="en-US" dirty="0"/>
              <a:t> data platforms with ASF technologies</a:t>
            </a:r>
            <a:endParaRPr lang="en-DE" dirty="0"/>
          </a:p>
        </p:txBody>
      </p:sp>
    </p:spTree>
    <p:extLst>
      <p:ext uri="{BB962C8B-B14F-4D97-AF65-F5344CB8AC3E}">
        <p14:creationId xmlns:p14="http://schemas.microsoft.com/office/powerpoint/2010/main" val="610228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42924-D158-252C-8B70-35D3FD53D628}"/>
              </a:ext>
            </a:extLst>
          </p:cNvPr>
          <p:cNvSpPr>
            <a:spLocks noGrp="1"/>
          </p:cNvSpPr>
          <p:nvPr>
            <p:ph type="title"/>
          </p:nvPr>
        </p:nvSpPr>
        <p:spPr/>
        <p:txBody>
          <a:bodyPr/>
          <a:lstStyle/>
          <a:p>
            <a:r>
              <a:rPr lang="de-DE" dirty="0"/>
              <a:t>Abstract</a:t>
            </a:r>
            <a:endParaRPr lang="en-DE" dirty="0"/>
          </a:p>
        </p:txBody>
      </p:sp>
      <p:sp>
        <p:nvSpPr>
          <p:cNvPr id="3" name="Content Placeholder 2">
            <a:extLst>
              <a:ext uri="{FF2B5EF4-FFF2-40B4-BE49-F238E27FC236}">
                <a16:creationId xmlns:a16="http://schemas.microsoft.com/office/drawing/2014/main" id="{636B1650-482D-183B-87C5-C2008DD8B13F}"/>
              </a:ext>
            </a:extLst>
          </p:cNvPr>
          <p:cNvSpPr>
            <a:spLocks noGrp="1"/>
          </p:cNvSpPr>
          <p:nvPr>
            <p:ph idx="1"/>
          </p:nvPr>
        </p:nvSpPr>
        <p:spPr/>
        <p:txBody>
          <a:bodyPr/>
          <a:lstStyle/>
          <a:p>
            <a:pPr marL="0" indent="0">
              <a:buNone/>
            </a:pPr>
            <a:r>
              <a:rPr lang="en-US" dirty="0"/>
              <a:t>Pharma and MedTech production require trustworthy industrial data to meet EU Annex 11 and FDA 21 CFR Part 11 compliance. This talk shows how Apache </a:t>
            </a:r>
            <a:r>
              <a:rPr lang="en-US" dirty="0" err="1"/>
              <a:t>IoTDB</a:t>
            </a:r>
            <a:r>
              <a:rPr lang="en-US" dirty="0"/>
              <a:t> and </a:t>
            </a:r>
            <a:r>
              <a:rPr lang="en-US" dirty="0" err="1"/>
              <a:t>IIoT</a:t>
            </a:r>
            <a:r>
              <a:rPr lang="en-US" dirty="0"/>
              <a:t> architectures can serve as modern historians enabling audit trails, ALCOA+ data integrity, electronic records, and secure time‑series storage. We present a practical blueprint integrating shop‑floor devices with Apache technologies to build scalable, cost‑effective, and compliant data infrastructures. Attendees learn how open source empowers regulated manufacturing to modernize operations, unlock insights, and maintain GMP readiness.</a:t>
            </a:r>
            <a:endParaRPr lang="en-DE" dirty="0"/>
          </a:p>
        </p:txBody>
      </p:sp>
    </p:spTree>
    <p:extLst>
      <p:ext uri="{BB962C8B-B14F-4D97-AF65-F5344CB8AC3E}">
        <p14:creationId xmlns:p14="http://schemas.microsoft.com/office/powerpoint/2010/main" val="1308788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D0D3-1C42-6246-0382-09F9FCAE36F9}"/>
              </a:ext>
            </a:extLst>
          </p:cNvPr>
          <p:cNvSpPr>
            <a:spLocks noGrp="1"/>
          </p:cNvSpPr>
          <p:nvPr>
            <p:ph type="title"/>
          </p:nvPr>
        </p:nvSpPr>
        <p:spPr/>
        <p:txBody>
          <a:bodyPr>
            <a:normAutofit fontScale="90000"/>
          </a:bodyPr>
          <a:lstStyle/>
          <a:p>
            <a:r>
              <a:rPr lang="en-DE" dirty="0"/>
              <a:t>Act 1: </a:t>
            </a:r>
            <a:br>
              <a:rPr lang="de-DE" dirty="0"/>
            </a:br>
            <a:r>
              <a:rPr lang="en-DE" dirty="0"/>
              <a:t>The Inciting Incident – The Regulatory Storm of 2026</a:t>
            </a:r>
          </a:p>
        </p:txBody>
      </p:sp>
      <p:sp>
        <p:nvSpPr>
          <p:cNvPr id="3" name="Content Placeholder 2">
            <a:extLst>
              <a:ext uri="{FF2B5EF4-FFF2-40B4-BE49-F238E27FC236}">
                <a16:creationId xmlns:a16="http://schemas.microsoft.com/office/drawing/2014/main" id="{7D6E9360-C4E1-C096-467B-84E4C0C68C7C}"/>
              </a:ext>
            </a:extLst>
          </p:cNvPr>
          <p:cNvSpPr>
            <a:spLocks noGrp="1"/>
          </p:cNvSpPr>
          <p:nvPr>
            <p:ph idx="1"/>
          </p:nvPr>
        </p:nvSpPr>
        <p:spPr/>
        <p:txBody>
          <a:bodyPr/>
          <a:lstStyle/>
          <a:p>
            <a:r>
              <a:rPr lang="en-US" b="1" dirty="0"/>
              <a:t>The Hook</a:t>
            </a:r>
            <a:r>
              <a:rPr lang="en-US" dirty="0"/>
              <a:t>: Big Pharma is facing a massive regulatory shift. Annex 11 is ballooning from 1,500 to 10,000 words. Annex 22 is dropping to regulate AI in GMP. Meanwhile, </a:t>
            </a:r>
            <a:r>
              <a:rPr lang="en-US" dirty="0" err="1"/>
              <a:t>IIoT</a:t>
            </a:r>
            <a:r>
              <a:rPr lang="en-US" dirty="0"/>
              <a:t> devices are generating petabytes of high-frequency data.</a:t>
            </a:r>
          </a:p>
          <a:p>
            <a:r>
              <a:rPr lang="en-US" b="1" dirty="0"/>
              <a:t>The Villain</a:t>
            </a:r>
            <a:r>
              <a:rPr lang="en-US" dirty="0"/>
              <a:t>: Traditional Historians. They are too expensive to scale, lock you into proprietary vendor ecosystems, and charge extortionate fees per data tag. When you try to scale them to handle </a:t>
            </a:r>
            <a:r>
              <a:rPr lang="en-US" dirty="0" err="1"/>
              <a:t>IIoT</a:t>
            </a:r>
            <a:r>
              <a:rPr lang="en-US" dirty="0"/>
              <a:t> data velocity, they break or bankrupt you.</a:t>
            </a:r>
          </a:p>
          <a:p>
            <a:r>
              <a:rPr lang="en-US" b="1" dirty="0"/>
              <a:t>The Burning Question</a:t>
            </a:r>
            <a:r>
              <a:rPr lang="en-US" dirty="0"/>
              <a:t>: Can open-source software actually pass a rigorous FDA/EU GMP inspection? (Spoiler: Yes, and better than proprietary software).</a:t>
            </a:r>
            <a:endParaRPr lang="en-DE" dirty="0"/>
          </a:p>
        </p:txBody>
      </p:sp>
      <p:sp>
        <p:nvSpPr>
          <p:cNvPr id="4" name="Rectangle 3">
            <a:extLst>
              <a:ext uri="{FF2B5EF4-FFF2-40B4-BE49-F238E27FC236}">
                <a16:creationId xmlns:a16="http://schemas.microsoft.com/office/drawing/2014/main" id="{4C23C073-9AE8-A62B-A1FE-BB6B5E06CBE1}"/>
              </a:ext>
            </a:extLst>
          </p:cNvPr>
          <p:cNvSpPr/>
          <p:nvPr/>
        </p:nvSpPr>
        <p:spPr>
          <a:xfrm rot="2028264">
            <a:off x="10010842" y="361359"/>
            <a:ext cx="2295771" cy="8075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Storyline </a:t>
            </a:r>
            <a:r>
              <a:rPr lang="de-DE" dirty="0" err="1"/>
              <a:t>of</a:t>
            </a:r>
            <a:r>
              <a:rPr lang="de-DE" dirty="0"/>
              <a:t> </a:t>
            </a:r>
            <a:r>
              <a:rPr lang="de-DE" dirty="0" err="1"/>
              <a:t>the</a:t>
            </a:r>
            <a:r>
              <a:rPr lang="de-DE" dirty="0"/>
              <a:t> </a:t>
            </a:r>
            <a:r>
              <a:rPr lang="de-DE" dirty="0" err="1"/>
              <a:t>talk</a:t>
            </a:r>
            <a:endParaRPr lang="en-DE" dirty="0"/>
          </a:p>
        </p:txBody>
      </p:sp>
    </p:spTree>
    <p:extLst>
      <p:ext uri="{BB962C8B-B14F-4D97-AF65-F5344CB8AC3E}">
        <p14:creationId xmlns:p14="http://schemas.microsoft.com/office/powerpoint/2010/main" val="592151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2A580-35E2-0386-076C-6976B7A5BD99}"/>
              </a:ext>
            </a:extLst>
          </p:cNvPr>
          <p:cNvSpPr>
            <a:spLocks noGrp="1"/>
          </p:cNvSpPr>
          <p:nvPr>
            <p:ph type="title"/>
          </p:nvPr>
        </p:nvSpPr>
        <p:spPr/>
        <p:txBody>
          <a:bodyPr>
            <a:normAutofit fontScale="90000"/>
          </a:bodyPr>
          <a:lstStyle/>
          <a:p>
            <a:r>
              <a:rPr lang="en-US" dirty="0"/>
              <a:t>Act 2: The Core Conflict – Mapping ALCOA++ to Data Architecture</a:t>
            </a:r>
            <a:endParaRPr lang="en-DE" dirty="0"/>
          </a:p>
        </p:txBody>
      </p:sp>
      <p:sp>
        <p:nvSpPr>
          <p:cNvPr id="3" name="Content Placeholder 2">
            <a:extLst>
              <a:ext uri="{FF2B5EF4-FFF2-40B4-BE49-F238E27FC236}">
                <a16:creationId xmlns:a16="http://schemas.microsoft.com/office/drawing/2014/main" id="{B1CEC972-5689-A28E-7979-63D01B6AF0D7}"/>
              </a:ext>
            </a:extLst>
          </p:cNvPr>
          <p:cNvSpPr>
            <a:spLocks noGrp="1"/>
          </p:cNvSpPr>
          <p:nvPr>
            <p:ph idx="1"/>
          </p:nvPr>
        </p:nvSpPr>
        <p:spPr/>
        <p:txBody>
          <a:bodyPr/>
          <a:lstStyle/>
          <a:p>
            <a:r>
              <a:rPr lang="en-US" b="1" dirty="0"/>
              <a:t>The Rules of the Game</a:t>
            </a:r>
            <a:r>
              <a:rPr lang="en-US" dirty="0"/>
              <a:t>: Demystify FDA 21 CFR Part 11 and EU Annex 11 in 60 seconds (Record integrity vs. System validation).</a:t>
            </a:r>
          </a:p>
          <a:p>
            <a:r>
              <a:rPr lang="en-US" b="1" dirty="0"/>
              <a:t>The Gold Standard</a:t>
            </a:r>
            <a:r>
              <a:rPr lang="en-US" dirty="0"/>
              <a:t>: Introduce ALCOA++ (adding Integrity, Robustness, Transparency, Accountability, and Reliability).</a:t>
            </a:r>
          </a:p>
          <a:p>
            <a:r>
              <a:rPr lang="en-US" b="1" dirty="0"/>
              <a:t>The Gap</a:t>
            </a:r>
            <a:r>
              <a:rPr lang="en-US" dirty="0"/>
              <a:t>: Show why standard IT open-source tools fail ALCOA++ out of the box (e.g., mutable databases where logs can be altered or deleted without an audit trail).</a:t>
            </a:r>
            <a:endParaRPr lang="en-DE" dirty="0"/>
          </a:p>
        </p:txBody>
      </p:sp>
      <p:sp>
        <p:nvSpPr>
          <p:cNvPr id="4" name="Rectangle 3">
            <a:extLst>
              <a:ext uri="{FF2B5EF4-FFF2-40B4-BE49-F238E27FC236}">
                <a16:creationId xmlns:a16="http://schemas.microsoft.com/office/drawing/2014/main" id="{7F48D1D2-78E7-092B-753E-0E00C976FB9B}"/>
              </a:ext>
            </a:extLst>
          </p:cNvPr>
          <p:cNvSpPr/>
          <p:nvPr/>
        </p:nvSpPr>
        <p:spPr>
          <a:xfrm rot="2028264">
            <a:off x="10010842" y="361359"/>
            <a:ext cx="2295771" cy="8075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Storyline </a:t>
            </a:r>
            <a:r>
              <a:rPr lang="de-DE" dirty="0" err="1"/>
              <a:t>of</a:t>
            </a:r>
            <a:r>
              <a:rPr lang="de-DE" dirty="0"/>
              <a:t> </a:t>
            </a:r>
            <a:r>
              <a:rPr lang="de-DE" dirty="0" err="1"/>
              <a:t>the</a:t>
            </a:r>
            <a:r>
              <a:rPr lang="de-DE" dirty="0"/>
              <a:t> </a:t>
            </a:r>
            <a:r>
              <a:rPr lang="de-DE" dirty="0" err="1"/>
              <a:t>talk</a:t>
            </a:r>
            <a:endParaRPr lang="en-DE" dirty="0"/>
          </a:p>
        </p:txBody>
      </p:sp>
    </p:spTree>
    <p:extLst>
      <p:ext uri="{BB962C8B-B14F-4D97-AF65-F5344CB8AC3E}">
        <p14:creationId xmlns:p14="http://schemas.microsoft.com/office/powerpoint/2010/main" val="730485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85AC0-E36B-26FB-1B27-80A3B4A12827}"/>
              </a:ext>
            </a:extLst>
          </p:cNvPr>
          <p:cNvSpPr>
            <a:spLocks noGrp="1"/>
          </p:cNvSpPr>
          <p:nvPr>
            <p:ph type="title"/>
          </p:nvPr>
        </p:nvSpPr>
        <p:spPr/>
        <p:txBody>
          <a:bodyPr>
            <a:normAutofit fontScale="90000"/>
          </a:bodyPr>
          <a:lstStyle/>
          <a:p>
            <a:r>
              <a:rPr lang="en-US" dirty="0"/>
              <a:t>Act 3: The Hero Appears – Apache </a:t>
            </a:r>
            <a:r>
              <a:rPr lang="en-US" dirty="0" err="1"/>
              <a:t>IoTDB</a:t>
            </a:r>
            <a:r>
              <a:rPr lang="en-US" dirty="0"/>
              <a:t> &amp; The Compliant Architecture</a:t>
            </a:r>
            <a:endParaRPr lang="en-DE" dirty="0"/>
          </a:p>
        </p:txBody>
      </p:sp>
      <p:sp>
        <p:nvSpPr>
          <p:cNvPr id="3" name="Content Placeholder 2">
            <a:extLst>
              <a:ext uri="{FF2B5EF4-FFF2-40B4-BE49-F238E27FC236}">
                <a16:creationId xmlns:a16="http://schemas.microsoft.com/office/drawing/2014/main" id="{E619F924-FEE4-3457-EA0B-4F7B9872B036}"/>
              </a:ext>
            </a:extLst>
          </p:cNvPr>
          <p:cNvSpPr>
            <a:spLocks noGrp="1"/>
          </p:cNvSpPr>
          <p:nvPr>
            <p:ph idx="1"/>
          </p:nvPr>
        </p:nvSpPr>
        <p:spPr/>
        <p:txBody>
          <a:bodyPr/>
          <a:lstStyle/>
          <a:p>
            <a:r>
              <a:rPr lang="en-US" b="1" dirty="0"/>
              <a:t>The Secret Weapon</a:t>
            </a:r>
            <a:r>
              <a:rPr lang="en-US" dirty="0"/>
              <a:t>: Introduce Apache </a:t>
            </a:r>
            <a:r>
              <a:rPr lang="en-US" dirty="0" err="1"/>
              <a:t>IoTDB</a:t>
            </a:r>
            <a:r>
              <a:rPr lang="en-US" dirty="0"/>
              <a:t> and the </a:t>
            </a:r>
            <a:r>
              <a:rPr lang="en-US" dirty="0" err="1"/>
              <a:t>TSFile</a:t>
            </a:r>
            <a:r>
              <a:rPr lang="en-US" dirty="0"/>
              <a:t>. Explain why </a:t>
            </a:r>
            <a:r>
              <a:rPr lang="en-US" dirty="0" err="1"/>
              <a:t>TSFile's</a:t>
            </a:r>
            <a:r>
              <a:rPr lang="en-US" dirty="0"/>
              <a:t> immutable design pattern is a regulatory dream (tamper-evident, zero data loss, high compression).</a:t>
            </a:r>
          </a:p>
          <a:p>
            <a:r>
              <a:rPr lang="en-US" b="1" dirty="0"/>
              <a:t>The Global Validation</a:t>
            </a:r>
            <a:r>
              <a:rPr lang="en-US" dirty="0"/>
              <a:t>: Mention its UN recognition (Top 60 Global Innovation Case) to build immediate trust and credibility with the enterprise audience.</a:t>
            </a:r>
          </a:p>
          <a:p>
            <a:r>
              <a:rPr lang="en-US" b="1" dirty="0"/>
              <a:t>The Grand Blueprint</a:t>
            </a:r>
            <a:r>
              <a:rPr lang="en-US" dirty="0"/>
              <a:t>: Present the end-to-end Apache ecosystem architecture (PLC4X ➔ </a:t>
            </a:r>
            <a:r>
              <a:rPr lang="en-US" dirty="0" err="1"/>
              <a:t>BifroMQ</a:t>
            </a:r>
            <a:r>
              <a:rPr lang="en-US" dirty="0"/>
              <a:t>/Kafka ➔ </a:t>
            </a:r>
            <a:r>
              <a:rPr lang="en-US" dirty="0" err="1"/>
              <a:t>IoTDB</a:t>
            </a:r>
            <a:r>
              <a:rPr lang="en-US" dirty="0"/>
              <a:t> ➔ Iceberg) and show exactly how it creates an unbending chain of custody for data.</a:t>
            </a:r>
            <a:endParaRPr lang="en-DE" dirty="0"/>
          </a:p>
        </p:txBody>
      </p:sp>
      <p:sp>
        <p:nvSpPr>
          <p:cNvPr id="4" name="Rectangle 3">
            <a:extLst>
              <a:ext uri="{FF2B5EF4-FFF2-40B4-BE49-F238E27FC236}">
                <a16:creationId xmlns:a16="http://schemas.microsoft.com/office/drawing/2014/main" id="{DF8D041E-5570-5B8D-7F42-3C72640CBFA5}"/>
              </a:ext>
            </a:extLst>
          </p:cNvPr>
          <p:cNvSpPr/>
          <p:nvPr/>
        </p:nvSpPr>
        <p:spPr>
          <a:xfrm rot="2028264">
            <a:off x="10010842" y="361359"/>
            <a:ext cx="2295771" cy="8075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Storyline </a:t>
            </a:r>
            <a:r>
              <a:rPr lang="de-DE" dirty="0" err="1"/>
              <a:t>of</a:t>
            </a:r>
            <a:r>
              <a:rPr lang="de-DE" dirty="0"/>
              <a:t> </a:t>
            </a:r>
            <a:r>
              <a:rPr lang="de-DE" dirty="0" err="1"/>
              <a:t>the</a:t>
            </a:r>
            <a:r>
              <a:rPr lang="de-DE" dirty="0"/>
              <a:t> </a:t>
            </a:r>
            <a:r>
              <a:rPr lang="de-DE" dirty="0" err="1"/>
              <a:t>talk</a:t>
            </a:r>
            <a:endParaRPr lang="en-DE" dirty="0"/>
          </a:p>
        </p:txBody>
      </p:sp>
    </p:spTree>
    <p:extLst>
      <p:ext uri="{BB962C8B-B14F-4D97-AF65-F5344CB8AC3E}">
        <p14:creationId xmlns:p14="http://schemas.microsoft.com/office/powerpoint/2010/main" val="649813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830D2-937A-F630-5C89-D4473C090698}"/>
              </a:ext>
            </a:extLst>
          </p:cNvPr>
          <p:cNvSpPr>
            <a:spLocks noGrp="1"/>
          </p:cNvSpPr>
          <p:nvPr>
            <p:ph type="title"/>
          </p:nvPr>
        </p:nvSpPr>
        <p:spPr/>
        <p:txBody>
          <a:bodyPr>
            <a:normAutofit fontScale="90000"/>
          </a:bodyPr>
          <a:lstStyle/>
          <a:p>
            <a:r>
              <a:rPr lang="en-US" dirty="0"/>
              <a:t>Act 4: The Proof – The GAMP 5 Validation Strategy &amp; Takeaways</a:t>
            </a:r>
            <a:endParaRPr lang="en-DE" dirty="0"/>
          </a:p>
        </p:txBody>
      </p:sp>
      <p:sp>
        <p:nvSpPr>
          <p:cNvPr id="3" name="Content Placeholder 2">
            <a:extLst>
              <a:ext uri="{FF2B5EF4-FFF2-40B4-BE49-F238E27FC236}">
                <a16:creationId xmlns:a16="http://schemas.microsoft.com/office/drawing/2014/main" id="{757C265A-7F4F-5155-8539-2D30FA081BA1}"/>
              </a:ext>
            </a:extLst>
          </p:cNvPr>
          <p:cNvSpPr>
            <a:spLocks noGrp="1"/>
          </p:cNvSpPr>
          <p:nvPr>
            <p:ph idx="1"/>
          </p:nvPr>
        </p:nvSpPr>
        <p:spPr/>
        <p:txBody>
          <a:bodyPr/>
          <a:lstStyle/>
          <a:p>
            <a:r>
              <a:rPr lang="en-US" b="1" dirty="0"/>
              <a:t>The Execution</a:t>
            </a:r>
            <a:r>
              <a:rPr lang="en-US" dirty="0"/>
              <a:t>: How do you actually validate this open-source stack? Briefly map it to GAMP 5 software categories and IQ/OQ/PQ testing.</a:t>
            </a:r>
          </a:p>
          <a:p>
            <a:r>
              <a:rPr lang="en-US" b="1" dirty="0"/>
              <a:t>The Climax</a:t>
            </a:r>
            <a:r>
              <a:rPr lang="en-US" dirty="0"/>
              <a:t>: A quick case example showing the cost and performance comparison between a legacy historian and the Apache stack.</a:t>
            </a:r>
            <a:endParaRPr lang="en-DE" dirty="0"/>
          </a:p>
        </p:txBody>
      </p:sp>
      <p:sp>
        <p:nvSpPr>
          <p:cNvPr id="4" name="Rectangle 3">
            <a:extLst>
              <a:ext uri="{FF2B5EF4-FFF2-40B4-BE49-F238E27FC236}">
                <a16:creationId xmlns:a16="http://schemas.microsoft.com/office/drawing/2014/main" id="{63617957-0BF7-468C-6981-A9CF159D4F1F}"/>
              </a:ext>
            </a:extLst>
          </p:cNvPr>
          <p:cNvSpPr/>
          <p:nvPr/>
        </p:nvSpPr>
        <p:spPr>
          <a:xfrm rot="2028264">
            <a:off x="10010842" y="361359"/>
            <a:ext cx="2295771" cy="8075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Storyline </a:t>
            </a:r>
            <a:r>
              <a:rPr lang="de-DE" dirty="0" err="1"/>
              <a:t>of</a:t>
            </a:r>
            <a:r>
              <a:rPr lang="de-DE" dirty="0"/>
              <a:t> </a:t>
            </a:r>
            <a:r>
              <a:rPr lang="de-DE" dirty="0" err="1"/>
              <a:t>the</a:t>
            </a:r>
            <a:r>
              <a:rPr lang="de-DE" dirty="0"/>
              <a:t> </a:t>
            </a:r>
            <a:r>
              <a:rPr lang="de-DE" dirty="0" err="1"/>
              <a:t>talk</a:t>
            </a:r>
            <a:endParaRPr lang="en-DE" dirty="0"/>
          </a:p>
        </p:txBody>
      </p:sp>
    </p:spTree>
    <p:extLst>
      <p:ext uri="{BB962C8B-B14F-4D97-AF65-F5344CB8AC3E}">
        <p14:creationId xmlns:p14="http://schemas.microsoft.com/office/powerpoint/2010/main" val="3796117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09A10-579D-14EB-C5B6-BA73796E2F0D}"/>
              </a:ext>
            </a:extLst>
          </p:cNvPr>
          <p:cNvSpPr>
            <a:spLocks noGrp="1"/>
          </p:cNvSpPr>
          <p:nvPr>
            <p:ph type="title"/>
          </p:nvPr>
        </p:nvSpPr>
        <p:spPr/>
        <p:txBody>
          <a:bodyPr/>
          <a:lstStyle/>
          <a:p>
            <a:endParaRPr lang="en-DE"/>
          </a:p>
        </p:txBody>
      </p:sp>
      <p:pic>
        <p:nvPicPr>
          <p:cNvPr id="4" name="Online Media 3" title="Annex 11 und Annex 22 sind da – aber was verändern sie bei Pharma? | Mit Arno Terhechte">
            <a:hlinkClick r:id="" action="ppaction://media"/>
            <a:extLst>
              <a:ext uri="{FF2B5EF4-FFF2-40B4-BE49-F238E27FC236}">
                <a16:creationId xmlns:a16="http://schemas.microsoft.com/office/drawing/2014/main" id="{7003A81F-0B72-6516-2891-485F213D4A12}"/>
              </a:ext>
            </a:extLst>
          </p:cNvPr>
          <p:cNvPicPr>
            <a:picLocks noRot="1" noChangeAspect="1"/>
          </p:cNvPicPr>
          <p:nvPr>
            <a:videoFile r:link="rId1"/>
          </p:nvPr>
        </p:nvPicPr>
        <p:blipFill>
          <a:blip r:embed="rId3"/>
          <a:stretch>
            <a:fillRect/>
          </a:stretch>
        </p:blipFill>
        <p:spPr>
          <a:xfrm>
            <a:off x="1016000" y="558800"/>
            <a:ext cx="10160000" cy="5740400"/>
          </a:xfrm>
          <a:prstGeom prst="rect">
            <a:avLst/>
          </a:prstGeom>
        </p:spPr>
      </p:pic>
    </p:spTree>
    <p:extLst>
      <p:ext uri="{BB962C8B-B14F-4D97-AF65-F5344CB8AC3E}">
        <p14:creationId xmlns:p14="http://schemas.microsoft.com/office/powerpoint/2010/main" val="134988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38DE7-DCDB-64BD-7C9A-9033A13CC111}"/>
              </a:ext>
            </a:extLst>
          </p:cNvPr>
          <p:cNvSpPr>
            <a:spLocks noGrp="1"/>
          </p:cNvSpPr>
          <p:nvPr>
            <p:ph type="title"/>
          </p:nvPr>
        </p:nvSpPr>
        <p:spPr/>
        <p:txBody>
          <a:bodyPr/>
          <a:lstStyle/>
          <a:p>
            <a:r>
              <a:rPr lang="en-DE" dirty="0"/>
              <a:t>Big Pharma Update: Annex 11 &amp; 22 are Here!</a:t>
            </a:r>
          </a:p>
        </p:txBody>
      </p:sp>
      <p:sp>
        <p:nvSpPr>
          <p:cNvPr id="3" name="Content Placeholder 2">
            <a:extLst>
              <a:ext uri="{FF2B5EF4-FFF2-40B4-BE49-F238E27FC236}">
                <a16:creationId xmlns:a16="http://schemas.microsoft.com/office/drawing/2014/main" id="{AC54EE73-EE23-B128-7ECA-E54301239342}"/>
              </a:ext>
            </a:extLst>
          </p:cNvPr>
          <p:cNvSpPr>
            <a:spLocks noGrp="1"/>
          </p:cNvSpPr>
          <p:nvPr>
            <p:ph idx="1"/>
          </p:nvPr>
        </p:nvSpPr>
        <p:spPr/>
        <p:txBody>
          <a:bodyPr/>
          <a:lstStyle/>
          <a:p>
            <a:r>
              <a:rPr lang="en-US" dirty="0"/>
              <a:t>Annex 11 Overhaul: Expanding from 1,500 to 10,000 words, it brings highly detailed requirements for data integrity, cloud computing, and IT security.</a:t>
            </a:r>
          </a:p>
          <a:p>
            <a:r>
              <a:rPr lang="en-US" dirty="0"/>
              <a:t>The New Annex 22: Created specifically to regulate AI-supported systems within GMP environments.</a:t>
            </a:r>
            <a:endParaRPr lang="en-DE" dirty="0"/>
          </a:p>
        </p:txBody>
      </p:sp>
    </p:spTree>
    <p:extLst>
      <p:ext uri="{BB962C8B-B14F-4D97-AF65-F5344CB8AC3E}">
        <p14:creationId xmlns:p14="http://schemas.microsoft.com/office/powerpoint/2010/main" val="1118671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178C8-7B2C-9077-9E0D-8C0298E596B2}"/>
              </a:ext>
            </a:extLst>
          </p:cNvPr>
          <p:cNvSpPr>
            <a:spLocks noGrp="1"/>
          </p:cNvSpPr>
          <p:nvPr>
            <p:ph type="title"/>
          </p:nvPr>
        </p:nvSpPr>
        <p:spPr/>
        <p:txBody>
          <a:bodyPr/>
          <a:lstStyle/>
          <a:p>
            <a:r>
              <a:rPr lang="de-DE" dirty="0" err="1"/>
              <a:t>Introduction</a:t>
            </a:r>
            <a:r>
              <a:rPr lang="de-DE" dirty="0"/>
              <a:t> </a:t>
            </a:r>
            <a:endParaRPr lang="en-DE" dirty="0"/>
          </a:p>
        </p:txBody>
      </p:sp>
      <p:sp>
        <p:nvSpPr>
          <p:cNvPr id="3" name="Content Placeholder 2">
            <a:extLst>
              <a:ext uri="{FF2B5EF4-FFF2-40B4-BE49-F238E27FC236}">
                <a16:creationId xmlns:a16="http://schemas.microsoft.com/office/drawing/2014/main" id="{330E0A03-37A3-E9B0-5D91-E4FB74C430CF}"/>
              </a:ext>
            </a:extLst>
          </p:cNvPr>
          <p:cNvSpPr>
            <a:spLocks noGrp="1"/>
          </p:cNvSpPr>
          <p:nvPr>
            <p:ph idx="1"/>
          </p:nvPr>
        </p:nvSpPr>
        <p:spPr/>
        <p:txBody>
          <a:bodyPr/>
          <a:lstStyle/>
          <a:p>
            <a:r>
              <a:rPr lang="de-DE" dirty="0" err="1"/>
              <a:t>Why</a:t>
            </a:r>
            <a:r>
              <a:rPr lang="de-DE" dirty="0"/>
              <a:t> </a:t>
            </a:r>
            <a:r>
              <a:rPr lang="de-DE" dirty="0" err="1"/>
              <a:t>data</a:t>
            </a:r>
            <a:r>
              <a:rPr lang="de-DE" dirty="0"/>
              <a:t> </a:t>
            </a:r>
            <a:r>
              <a:rPr lang="de-DE" dirty="0" err="1"/>
              <a:t>integrity</a:t>
            </a:r>
            <a:r>
              <a:rPr lang="de-DE" dirty="0"/>
              <a:t> </a:t>
            </a:r>
            <a:r>
              <a:rPr lang="de-DE" dirty="0" err="1"/>
              <a:t>matters</a:t>
            </a:r>
            <a:r>
              <a:rPr lang="de-DE" dirty="0"/>
              <a:t> in </a:t>
            </a:r>
            <a:r>
              <a:rPr lang="de-DE" dirty="0" err="1"/>
              <a:t>regulated</a:t>
            </a:r>
            <a:r>
              <a:rPr lang="de-DE" dirty="0"/>
              <a:t> </a:t>
            </a:r>
            <a:r>
              <a:rPr lang="de-DE" dirty="0" err="1"/>
              <a:t>manufacturing</a:t>
            </a:r>
            <a:r>
              <a:rPr lang="de-DE" dirty="0"/>
              <a:t> (</a:t>
            </a:r>
            <a:r>
              <a:rPr lang="de-DE" dirty="0" err="1"/>
              <a:t>Pharma</a:t>
            </a:r>
            <a:r>
              <a:rPr lang="de-DE" dirty="0"/>
              <a:t>, MedTech, Food)</a:t>
            </a:r>
          </a:p>
          <a:p>
            <a:r>
              <a:rPr lang="de-DE" dirty="0"/>
              <a:t>Annex 11 &amp; FDA 21 CFR Part 11 in 60 </a:t>
            </a:r>
            <a:r>
              <a:rPr lang="de-DE" dirty="0" err="1"/>
              <a:t>seconds</a:t>
            </a:r>
            <a:endParaRPr lang="de-DE" dirty="0"/>
          </a:p>
          <a:p>
            <a:r>
              <a:rPr lang="de-DE" dirty="0"/>
              <a:t>The </a:t>
            </a:r>
            <a:r>
              <a:rPr lang="de-DE" dirty="0" err="1"/>
              <a:t>challenge</a:t>
            </a:r>
            <a:r>
              <a:rPr lang="de-DE" dirty="0"/>
              <a:t>: IIoT </a:t>
            </a:r>
            <a:r>
              <a:rPr lang="de-DE" dirty="0" err="1"/>
              <a:t>data</a:t>
            </a:r>
            <a:r>
              <a:rPr lang="de-DE" dirty="0"/>
              <a:t> </a:t>
            </a:r>
            <a:r>
              <a:rPr lang="de-DE" dirty="0" err="1"/>
              <a:t>volume</a:t>
            </a:r>
            <a:r>
              <a:rPr lang="de-DE" dirty="0"/>
              <a:t> vs. </a:t>
            </a:r>
            <a:r>
              <a:rPr lang="de-DE" dirty="0" err="1"/>
              <a:t>compliance</a:t>
            </a:r>
            <a:r>
              <a:rPr lang="de-DE" dirty="0"/>
              <a:t> </a:t>
            </a:r>
            <a:r>
              <a:rPr lang="de-DE" dirty="0" err="1"/>
              <a:t>demands</a:t>
            </a:r>
            <a:endParaRPr lang="de-DE" dirty="0"/>
          </a:p>
          <a:p>
            <a:r>
              <a:rPr lang="de-DE" dirty="0"/>
              <a:t>Motivation: Can open source </a:t>
            </a:r>
            <a:r>
              <a:rPr lang="de-DE" dirty="0" err="1"/>
              <a:t>serve</a:t>
            </a:r>
            <a:r>
              <a:rPr lang="de-DE" dirty="0"/>
              <a:t> </a:t>
            </a:r>
            <a:r>
              <a:rPr lang="de-DE" dirty="0" err="1"/>
              <a:t>as</a:t>
            </a:r>
            <a:r>
              <a:rPr lang="de-DE" dirty="0"/>
              <a:t> a </a:t>
            </a:r>
            <a:r>
              <a:rPr lang="de-DE" dirty="0" err="1"/>
              <a:t>compliant</a:t>
            </a:r>
            <a:r>
              <a:rPr lang="de-DE" dirty="0"/>
              <a:t> </a:t>
            </a:r>
            <a:r>
              <a:rPr lang="de-DE" dirty="0" err="1"/>
              <a:t>historian</a:t>
            </a:r>
            <a:r>
              <a:rPr lang="de-DE" dirty="0"/>
              <a:t> </a:t>
            </a:r>
            <a:r>
              <a:rPr lang="de-DE" dirty="0" err="1"/>
              <a:t>backbone</a:t>
            </a:r>
            <a:r>
              <a:rPr lang="de-DE" dirty="0"/>
              <a:t>?</a:t>
            </a:r>
            <a:endParaRPr lang="en-DE" dirty="0"/>
          </a:p>
        </p:txBody>
      </p:sp>
    </p:spTree>
    <p:extLst>
      <p:ext uri="{BB962C8B-B14F-4D97-AF65-F5344CB8AC3E}">
        <p14:creationId xmlns:p14="http://schemas.microsoft.com/office/powerpoint/2010/main" val="1862218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EBFAD-48B7-671D-06DA-35DD163E8CF5}"/>
              </a:ext>
            </a:extLst>
          </p:cNvPr>
          <p:cNvSpPr>
            <a:spLocks noGrp="1"/>
          </p:cNvSpPr>
          <p:nvPr>
            <p:ph type="title"/>
          </p:nvPr>
        </p:nvSpPr>
        <p:spPr/>
        <p:txBody>
          <a:bodyPr/>
          <a:lstStyle/>
          <a:p>
            <a:r>
              <a:rPr lang="de-DE" dirty="0"/>
              <a:t>Annex 11 &amp; FDA 21 CFR Part 11 in 60 </a:t>
            </a:r>
            <a:r>
              <a:rPr lang="de-DE" dirty="0" err="1"/>
              <a:t>Seconds</a:t>
            </a:r>
            <a:endParaRPr lang="en-DE" dirty="0"/>
          </a:p>
        </p:txBody>
      </p:sp>
      <p:sp>
        <p:nvSpPr>
          <p:cNvPr id="3" name="Content Placeholder 2">
            <a:extLst>
              <a:ext uri="{FF2B5EF4-FFF2-40B4-BE49-F238E27FC236}">
                <a16:creationId xmlns:a16="http://schemas.microsoft.com/office/drawing/2014/main" id="{FA31DB6A-B228-E24E-D3EE-EFC78740760A}"/>
              </a:ext>
            </a:extLst>
          </p:cNvPr>
          <p:cNvSpPr>
            <a:spLocks noGrp="1"/>
          </p:cNvSpPr>
          <p:nvPr>
            <p:ph idx="1"/>
          </p:nvPr>
        </p:nvSpPr>
        <p:spPr>
          <a:xfrm>
            <a:off x="1033272" y="1563624"/>
            <a:ext cx="2811364" cy="4572000"/>
          </a:xfrm>
        </p:spPr>
        <p:txBody>
          <a:bodyPr/>
          <a:lstStyle/>
          <a:p>
            <a:pPr marL="0" indent="0">
              <a:buNone/>
            </a:pPr>
            <a:r>
              <a:rPr lang="en-US" dirty="0"/>
              <a:t>🇺🇸 FDA 21 CFR Part 11 (US Regulation)</a:t>
            </a:r>
          </a:p>
          <a:p>
            <a:r>
              <a:rPr lang="en-US" dirty="0"/>
              <a:t>Defines rules for electronic records &amp; electronic signatures</a:t>
            </a:r>
          </a:p>
          <a:p>
            <a:r>
              <a:rPr lang="en-US" dirty="0"/>
              <a:t>Ensures they are trustworthy, secure, and legally equivalent to paper</a:t>
            </a:r>
            <a:endParaRPr lang="en-DE" dirty="0"/>
          </a:p>
        </p:txBody>
      </p:sp>
      <p:graphicFrame>
        <p:nvGraphicFramePr>
          <p:cNvPr id="5" name="Table 4">
            <a:extLst>
              <a:ext uri="{FF2B5EF4-FFF2-40B4-BE49-F238E27FC236}">
                <a16:creationId xmlns:a16="http://schemas.microsoft.com/office/drawing/2014/main" id="{1F153993-FDFC-49B5-A1E2-E71759E842A2}"/>
              </a:ext>
            </a:extLst>
          </p:cNvPr>
          <p:cNvGraphicFramePr>
            <a:graphicFrameLocks noGrp="1"/>
          </p:cNvGraphicFramePr>
          <p:nvPr>
            <p:extLst>
              <p:ext uri="{D42A27DB-BD31-4B8C-83A1-F6EECF244321}">
                <p14:modId xmlns:p14="http://schemas.microsoft.com/office/powerpoint/2010/main" val="3550584076"/>
              </p:ext>
            </p:extLst>
          </p:nvPr>
        </p:nvGraphicFramePr>
        <p:xfrm>
          <a:off x="7751212" y="214181"/>
          <a:ext cx="6425396" cy="6587060"/>
        </p:xfrm>
        <a:graphic>
          <a:graphicData uri="http://schemas.openxmlformats.org/drawingml/2006/table">
            <a:tbl>
              <a:tblPr/>
              <a:tblGrid>
                <a:gridCol w="6425396">
                  <a:extLst>
                    <a:ext uri="{9D8B030D-6E8A-4147-A177-3AD203B41FA5}">
                      <a16:colId xmlns:a16="http://schemas.microsoft.com/office/drawing/2014/main" val="4104207871"/>
                    </a:ext>
                  </a:extLst>
                </a:gridCol>
              </a:tblGrid>
              <a:tr h="4117565">
                <a:tc>
                  <a:txBody>
                    <a:bodyPr/>
                    <a:lstStyle/>
                    <a:p>
                      <a:pPr fontAlgn="t">
                        <a:lnSpc>
                          <a:spcPts val="1500"/>
                        </a:lnSpc>
                        <a:buNone/>
                      </a:pPr>
                      <a:r>
                        <a:rPr lang="de-DE" sz="1200" b="1" i="0" dirty="0">
                          <a:effectLst/>
                          <a:latin typeface="Segoe UI" panose="020B0502040204020203" pitchFamily="34" charset="0"/>
                        </a:rPr>
                        <a:t>Annex 11 &amp; FDA 21 CFR Part 11 in 60 </a:t>
                      </a:r>
                      <a:r>
                        <a:rPr lang="de-DE" sz="1200" b="1" i="0" dirty="0" err="1">
                          <a:effectLst/>
                          <a:latin typeface="Segoe UI" panose="020B0502040204020203" pitchFamily="34" charset="0"/>
                        </a:rPr>
                        <a:t>Seconds</a:t>
                      </a:r>
                      <a:endParaRPr lang="de-DE" sz="1200" b="1" i="0" dirty="0">
                        <a:effectLst/>
                        <a:latin typeface="Segoe UI" panose="020B0502040204020203" pitchFamily="34" charset="0"/>
                      </a:endParaRPr>
                    </a:p>
                    <a:p>
                      <a:pPr fontAlgn="t">
                        <a:lnSpc>
                          <a:spcPts val="1500"/>
                        </a:lnSpc>
                        <a:buNone/>
                      </a:pPr>
                      <a:r>
                        <a:rPr lang="en-DE" sz="1200" b="1" i="0" dirty="0">
                          <a:effectLst/>
                          <a:latin typeface="Segoe UI" panose="020B0502040204020203" pitchFamily="34" charset="0"/>
                        </a:rPr>
                        <a:t>🇺🇸 </a:t>
                      </a:r>
                      <a:r>
                        <a:rPr lang="de-DE" sz="1200" b="1" i="0" dirty="0">
                          <a:effectLst/>
                          <a:latin typeface="Segoe UI" panose="020B0502040204020203" pitchFamily="34" charset="0"/>
                        </a:rPr>
                        <a:t>FDA 21 CFR Part 11 (US Regulation)</a:t>
                      </a:r>
                    </a:p>
                    <a:p>
                      <a:pPr fontAlgn="t">
                        <a:lnSpc>
                          <a:spcPts val="1500"/>
                        </a:lnSpc>
                        <a:buFont typeface="Arial" panose="020B0604020202020204" pitchFamily="34" charset="0"/>
                        <a:buChar char="•"/>
                      </a:pPr>
                      <a:r>
                        <a:rPr lang="de-DE" sz="1200" b="0" i="0" dirty="0" err="1">
                          <a:effectLst/>
                          <a:latin typeface="Segoe UI" panose="020B0502040204020203" pitchFamily="34" charset="0"/>
                        </a:rPr>
                        <a:t>Defines</a:t>
                      </a:r>
                      <a:r>
                        <a:rPr lang="de-DE" sz="1200" b="0" i="0" dirty="0">
                          <a:effectLst/>
                          <a:latin typeface="Segoe UI" panose="020B0502040204020203" pitchFamily="34" charset="0"/>
                        </a:rPr>
                        <a:t> </a:t>
                      </a:r>
                      <a:r>
                        <a:rPr lang="de-DE" sz="1200" b="0" i="0" dirty="0" err="1">
                          <a:effectLst/>
                          <a:latin typeface="Segoe UI" panose="020B0502040204020203" pitchFamily="34" charset="0"/>
                        </a:rPr>
                        <a:t>rules</a:t>
                      </a:r>
                      <a:r>
                        <a:rPr lang="de-DE" sz="1200" b="0" i="0" dirty="0">
                          <a:effectLst/>
                          <a:latin typeface="Segoe UI" panose="020B0502040204020203" pitchFamily="34" charset="0"/>
                        </a:rPr>
                        <a:t> </a:t>
                      </a:r>
                      <a:r>
                        <a:rPr lang="de-DE" sz="1200" b="0" i="0" dirty="0" err="1">
                          <a:effectLst/>
                          <a:latin typeface="Segoe UI" panose="020B0502040204020203" pitchFamily="34" charset="0"/>
                        </a:rPr>
                        <a:t>for</a:t>
                      </a:r>
                      <a:r>
                        <a:rPr lang="de-DE" sz="1200" b="0" i="0" dirty="0">
                          <a:effectLst/>
                          <a:latin typeface="Segoe UI" panose="020B0502040204020203" pitchFamily="34" charset="0"/>
                        </a:rPr>
                        <a:t> </a:t>
                      </a:r>
                      <a:r>
                        <a:rPr lang="de-DE" sz="1200" b="1" i="0" dirty="0">
                          <a:effectLst/>
                          <a:latin typeface="Segoe UI" panose="020B0502040204020203" pitchFamily="34" charset="0"/>
                        </a:rPr>
                        <a:t>electronic </a:t>
                      </a:r>
                      <a:r>
                        <a:rPr lang="de-DE" sz="1200" b="1" i="0" dirty="0" err="1">
                          <a:effectLst/>
                          <a:latin typeface="Segoe UI" panose="020B0502040204020203" pitchFamily="34" charset="0"/>
                        </a:rPr>
                        <a:t>records</a:t>
                      </a:r>
                      <a:r>
                        <a:rPr lang="de-DE" sz="1200" b="1" i="0" dirty="0">
                          <a:effectLst/>
                          <a:latin typeface="Segoe UI" panose="020B0502040204020203" pitchFamily="34" charset="0"/>
                        </a:rPr>
                        <a:t> &amp; electronic </a:t>
                      </a:r>
                      <a:r>
                        <a:rPr lang="de-DE" sz="1200" b="1" i="0" dirty="0" err="1">
                          <a:effectLst/>
                          <a:latin typeface="Segoe UI" panose="020B0502040204020203" pitchFamily="34" charset="0"/>
                        </a:rPr>
                        <a:t>signatures</a:t>
                      </a:r>
                      <a:endParaRPr lang="de-DE" sz="1200" b="0" i="0" dirty="0">
                        <a:effectLst/>
                        <a:latin typeface="Segoe UI" panose="020B0502040204020203" pitchFamily="34" charset="0"/>
                      </a:endParaRPr>
                    </a:p>
                    <a:p>
                      <a:pPr fontAlgn="t">
                        <a:lnSpc>
                          <a:spcPts val="1500"/>
                        </a:lnSpc>
                        <a:buFont typeface="Arial" panose="020B0604020202020204" pitchFamily="34" charset="0"/>
                        <a:buChar char="•"/>
                      </a:pPr>
                      <a:r>
                        <a:rPr lang="de-DE" sz="1200" b="0" i="0" dirty="0" err="1">
                          <a:effectLst/>
                          <a:latin typeface="Segoe UI" panose="020B0502040204020203" pitchFamily="34" charset="0"/>
                        </a:rPr>
                        <a:t>Ensures</a:t>
                      </a:r>
                      <a:r>
                        <a:rPr lang="de-DE" sz="1200" b="0" i="0" dirty="0">
                          <a:effectLst/>
                          <a:latin typeface="Segoe UI" panose="020B0502040204020203" pitchFamily="34" charset="0"/>
                        </a:rPr>
                        <a:t> </a:t>
                      </a:r>
                      <a:r>
                        <a:rPr lang="de-DE" sz="1200" b="0" i="0" dirty="0" err="1">
                          <a:effectLst/>
                          <a:latin typeface="Segoe UI" panose="020B0502040204020203" pitchFamily="34" charset="0"/>
                        </a:rPr>
                        <a:t>they</a:t>
                      </a:r>
                      <a:r>
                        <a:rPr lang="de-DE" sz="1200" b="0" i="0" dirty="0">
                          <a:effectLst/>
                          <a:latin typeface="Segoe UI" panose="020B0502040204020203" pitchFamily="34" charset="0"/>
                        </a:rPr>
                        <a:t> </a:t>
                      </a:r>
                      <a:r>
                        <a:rPr lang="de-DE" sz="1200" b="0" i="0" dirty="0" err="1">
                          <a:effectLst/>
                          <a:latin typeface="Segoe UI" panose="020B0502040204020203" pitchFamily="34" charset="0"/>
                        </a:rPr>
                        <a:t>are</a:t>
                      </a:r>
                      <a:r>
                        <a:rPr lang="de-DE" sz="1200" b="0" i="0" dirty="0">
                          <a:effectLst/>
                          <a:latin typeface="Segoe UI" panose="020B0502040204020203" pitchFamily="34" charset="0"/>
                        </a:rPr>
                        <a:t> </a:t>
                      </a:r>
                      <a:r>
                        <a:rPr lang="de-DE" sz="1200" b="1" i="0" dirty="0" err="1">
                          <a:effectLst/>
                          <a:latin typeface="Segoe UI" panose="020B0502040204020203" pitchFamily="34" charset="0"/>
                        </a:rPr>
                        <a:t>trustworthy</a:t>
                      </a:r>
                      <a:r>
                        <a:rPr lang="de-DE" sz="1200" b="1" i="0" dirty="0">
                          <a:effectLst/>
                          <a:latin typeface="Segoe UI" panose="020B0502040204020203" pitchFamily="34" charset="0"/>
                        </a:rPr>
                        <a:t>, </a:t>
                      </a:r>
                      <a:r>
                        <a:rPr lang="de-DE" sz="1200" b="1" i="0" dirty="0" err="1">
                          <a:effectLst/>
                          <a:latin typeface="Segoe UI" panose="020B0502040204020203" pitchFamily="34" charset="0"/>
                        </a:rPr>
                        <a:t>secure</a:t>
                      </a:r>
                      <a:r>
                        <a:rPr lang="de-DE" sz="1200" b="1" i="0" dirty="0">
                          <a:effectLst/>
                          <a:latin typeface="Segoe UI" panose="020B0502040204020203" pitchFamily="34" charset="0"/>
                        </a:rPr>
                        <a:t>, and </a:t>
                      </a:r>
                      <a:r>
                        <a:rPr lang="de-DE" sz="1200" b="1" i="0" dirty="0" err="1">
                          <a:effectLst/>
                          <a:latin typeface="Segoe UI" panose="020B0502040204020203" pitchFamily="34" charset="0"/>
                        </a:rPr>
                        <a:t>legally</a:t>
                      </a:r>
                      <a:r>
                        <a:rPr lang="de-DE" sz="1200" b="1" i="0" dirty="0">
                          <a:effectLst/>
                          <a:latin typeface="Segoe UI" panose="020B0502040204020203" pitchFamily="34" charset="0"/>
                        </a:rPr>
                        <a:t> </a:t>
                      </a:r>
                      <a:r>
                        <a:rPr lang="de-DE" sz="1200" b="1" i="0" dirty="0" err="1">
                          <a:effectLst/>
                          <a:latin typeface="Segoe UI" panose="020B0502040204020203" pitchFamily="34" charset="0"/>
                        </a:rPr>
                        <a:t>equivalent</a:t>
                      </a:r>
                      <a:r>
                        <a:rPr lang="de-DE" sz="1200" b="1" i="0" dirty="0">
                          <a:effectLst/>
                          <a:latin typeface="Segoe UI" panose="020B0502040204020203" pitchFamily="34" charset="0"/>
                        </a:rPr>
                        <a:t> </a:t>
                      </a:r>
                      <a:r>
                        <a:rPr lang="de-DE" sz="1200" b="1" i="0" dirty="0" err="1">
                          <a:effectLst/>
                          <a:latin typeface="Segoe UI" panose="020B0502040204020203" pitchFamily="34" charset="0"/>
                        </a:rPr>
                        <a:t>to</a:t>
                      </a:r>
                      <a:r>
                        <a:rPr lang="de-DE" sz="1200" b="1" i="0" dirty="0">
                          <a:effectLst/>
                          <a:latin typeface="Segoe UI" panose="020B0502040204020203" pitchFamily="34" charset="0"/>
                        </a:rPr>
                        <a:t> </a:t>
                      </a:r>
                      <a:r>
                        <a:rPr lang="de-DE" sz="1200" b="1" i="0" dirty="0" err="1">
                          <a:effectLst/>
                          <a:latin typeface="Segoe UI" panose="020B0502040204020203" pitchFamily="34" charset="0"/>
                        </a:rPr>
                        <a:t>paper</a:t>
                      </a:r>
                      <a:r>
                        <a:rPr lang="de-DE" sz="1200" b="0" i="0" dirty="0">
                          <a:effectLst/>
                          <a:latin typeface="Segoe UI" panose="020B0502040204020203" pitchFamily="34" charset="0"/>
                        </a:rPr>
                        <a:t> </a:t>
                      </a:r>
                      <a:r>
                        <a:rPr lang="de-DE" sz="1200" b="0" i="0" u="none" strike="noStrike" dirty="0">
                          <a:solidFill>
                            <a:srgbClr val="464FEB"/>
                          </a:solidFill>
                          <a:effectLst/>
                          <a:latin typeface="Segoe UI" panose="020B0502040204020203" pitchFamily="34" charset="0"/>
                          <a:hlinkClick r:id="rId2"/>
                        </a:rPr>
                        <a:t>[certivo.io]</a:t>
                      </a:r>
                      <a:endParaRPr lang="de-DE" sz="1200" b="0" i="0" dirty="0">
                        <a:effectLst/>
                        <a:latin typeface="Segoe UI" panose="020B0502040204020203" pitchFamily="34" charset="0"/>
                      </a:endParaRPr>
                    </a:p>
                    <a:p>
                      <a:pPr fontAlgn="t">
                        <a:lnSpc>
                          <a:spcPts val="1500"/>
                        </a:lnSpc>
                        <a:buFont typeface="Arial" panose="020B0604020202020204" pitchFamily="34" charset="0"/>
                        <a:buChar char="•"/>
                      </a:pPr>
                      <a:r>
                        <a:rPr lang="de-DE" sz="1200" b="0" i="0" dirty="0">
                          <a:effectLst/>
                          <a:latin typeface="Segoe UI" panose="020B0502040204020203" pitchFamily="34" charset="0"/>
                        </a:rPr>
                        <a:t>Core </a:t>
                      </a:r>
                      <a:r>
                        <a:rPr lang="de-DE" sz="1200" b="0" i="0" dirty="0" err="1">
                          <a:effectLst/>
                          <a:latin typeface="Segoe UI" panose="020B0502040204020203" pitchFamily="34" charset="0"/>
                        </a:rPr>
                        <a:t>requirements</a:t>
                      </a:r>
                      <a:r>
                        <a:rPr lang="de-DE" sz="1200" b="0" i="0" dirty="0">
                          <a:effectLst/>
                          <a:latin typeface="Segoe UI" panose="020B0502040204020203" pitchFamily="34" charset="0"/>
                        </a:rPr>
                        <a:t>: </a:t>
                      </a:r>
                    </a:p>
                    <a:p>
                      <a:pPr marL="742950" lvl="1" indent="-285750" fontAlgn="t">
                        <a:lnSpc>
                          <a:spcPts val="1500"/>
                        </a:lnSpc>
                        <a:buFont typeface="Arial" panose="020B0604020202020204" pitchFamily="34" charset="0"/>
                        <a:buChar char="•"/>
                      </a:pPr>
                      <a:r>
                        <a:rPr lang="de-DE" sz="1200" b="0" i="0" dirty="0">
                          <a:effectLst/>
                          <a:latin typeface="Segoe UI" panose="020B0502040204020203" pitchFamily="34" charset="0"/>
                        </a:rPr>
                        <a:t>Audit </a:t>
                      </a:r>
                      <a:r>
                        <a:rPr lang="de-DE" sz="1200" b="0" i="0" dirty="0" err="1">
                          <a:effectLst/>
                          <a:latin typeface="Segoe UI" panose="020B0502040204020203" pitchFamily="34" charset="0"/>
                        </a:rPr>
                        <a:t>trails</a:t>
                      </a:r>
                      <a:r>
                        <a:rPr lang="de-DE" sz="1200" b="0" i="0" dirty="0">
                          <a:effectLst/>
                          <a:latin typeface="Segoe UI" panose="020B0502040204020203" pitchFamily="34" charset="0"/>
                        </a:rPr>
                        <a:t> (time-</a:t>
                      </a:r>
                      <a:r>
                        <a:rPr lang="de-DE" sz="1200" b="0" i="0" dirty="0" err="1">
                          <a:effectLst/>
                          <a:latin typeface="Segoe UI" panose="020B0502040204020203" pitchFamily="34" charset="0"/>
                        </a:rPr>
                        <a:t>stamped</a:t>
                      </a:r>
                      <a:r>
                        <a:rPr lang="de-DE" sz="1200" b="0" i="0" dirty="0">
                          <a:effectLst/>
                          <a:latin typeface="Segoe UI" panose="020B0502040204020203" pitchFamily="34" charset="0"/>
                        </a:rPr>
                        <a:t>)</a:t>
                      </a:r>
                    </a:p>
                    <a:p>
                      <a:pPr marL="742950" lvl="1" indent="-285750" fontAlgn="t">
                        <a:lnSpc>
                          <a:spcPts val="1500"/>
                        </a:lnSpc>
                        <a:buFont typeface="Arial" panose="020B0604020202020204" pitchFamily="34" charset="0"/>
                        <a:buChar char="•"/>
                      </a:pPr>
                      <a:r>
                        <a:rPr lang="de-DE" sz="1200" b="0" i="0" dirty="0">
                          <a:effectLst/>
                          <a:latin typeface="Segoe UI" panose="020B0502040204020203" pitchFamily="34" charset="0"/>
                        </a:rPr>
                        <a:t>User </a:t>
                      </a:r>
                      <a:r>
                        <a:rPr lang="de-DE" sz="1200" b="0" i="0" dirty="0" err="1">
                          <a:effectLst/>
                          <a:latin typeface="Segoe UI" panose="020B0502040204020203" pitchFamily="34" charset="0"/>
                        </a:rPr>
                        <a:t>access</a:t>
                      </a:r>
                      <a:r>
                        <a:rPr lang="de-DE" sz="1200" b="0" i="0" dirty="0">
                          <a:effectLst/>
                          <a:latin typeface="Segoe UI" panose="020B0502040204020203" pitchFamily="34" charset="0"/>
                        </a:rPr>
                        <a:t> </a:t>
                      </a:r>
                      <a:r>
                        <a:rPr lang="de-DE" sz="1200" b="0" i="0" dirty="0" err="1">
                          <a:effectLst/>
                          <a:latin typeface="Segoe UI" panose="020B0502040204020203" pitchFamily="34" charset="0"/>
                        </a:rPr>
                        <a:t>control</a:t>
                      </a:r>
                      <a:endParaRPr lang="de-DE" sz="1200" b="0" i="0" dirty="0">
                        <a:effectLst/>
                        <a:latin typeface="Segoe UI" panose="020B0502040204020203" pitchFamily="34" charset="0"/>
                      </a:endParaRPr>
                    </a:p>
                    <a:p>
                      <a:pPr marL="742950" lvl="1" indent="-285750" fontAlgn="t">
                        <a:lnSpc>
                          <a:spcPts val="1500"/>
                        </a:lnSpc>
                        <a:buFont typeface="Arial" panose="020B0604020202020204" pitchFamily="34" charset="0"/>
                        <a:buChar char="•"/>
                      </a:pPr>
                      <a:r>
                        <a:rPr lang="de-DE" sz="1200" b="0" i="0" dirty="0">
                          <a:effectLst/>
                          <a:latin typeface="Segoe UI" panose="020B0502040204020203" pitchFamily="34" charset="0"/>
                        </a:rPr>
                        <a:t>System </a:t>
                      </a:r>
                      <a:r>
                        <a:rPr lang="de-DE" sz="1200" b="0" i="0" dirty="0" err="1">
                          <a:effectLst/>
                          <a:latin typeface="Segoe UI" panose="020B0502040204020203" pitchFamily="34" charset="0"/>
                        </a:rPr>
                        <a:t>validation</a:t>
                      </a:r>
                      <a:endParaRPr lang="de-DE" sz="1200" b="0" i="0" dirty="0">
                        <a:effectLst/>
                        <a:latin typeface="Segoe UI" panose="020B0502040204020203" pitchFamily="34" charset="0"/>
                      </a:endParaRPr>
                    </a:p>
                    <a:p>
                      <a:pPr marL="742950" lvl="1" indent="-285750" fontAlgn="t">
                        <a:lnSpc>
                          <a:spcPts val="1500"/>
                        </a:lnSpc>
                        <a:buFont typeface="Arial" panose="020B0604020202020204" pitchFamily="34" charset="0"/>
                        <a:buChar char="•"/>
                      </a:pPr>
                      <a:r>
                        <a:rPr lang="de-DE" sz="1200" b="0" i="0" dirty="0">
                          <a:effectLst/>
                          <a:latin typeface="Segoe UI" panose="020B0502040204020203" pitchFamily="34" charset="0"/>
                        </a:rPr>
                        <a:t>Electronic </a:t>
                      </a:r>
                      <a:r>
                        <a:rPr lang="de-DE" sz="1200" b="0" i="0" dirty="0" err="1">
                          <a:effectLst/>
                          <a:latin typeface="Segoe UI" panose="020B0502040204020203" pitchFamily="34" charset="0"/>
                        </a:rPr>
                        <a:t>signatures</a:t>
                      </a:r>
                      <a:endParaRPr lang="de-DE" sz="1200" b="0" i="0" dirty="0">
                        <a:effectLst/>
                        <a:latin typeface="Segoe UI" panose="020B0502040204020203" pitchFamily="34" charset="0"/>
                      </a:endParaRPr>
                    </a:p>
                    <a:p>
                      <a:pPr fontAlgn="t">
                        <a:lnSpc>
                          <a:spcPts val="1500"/>
                        </a:lnSpc>
                        <a:buNone/>
                      </a:pPr>
                      <a:br>
                        <a:rPr lang="de-DE" sz="1200" b="0" i="0" dirty="0">
                          <a:effectLst/>
                          <a:latin typeface="Segoe UI" panose="020B0502040204020203" pitchFamily="34" charset="0"/>
                        </a:rPr>
                      </a:br>
                      <a:endParaRPr lang="de-DE" sz="1200" b="0" i="0" dirty="0">
                        <a:effectLst/>
                        <a:latin typeface="Segoe UI" panose="020B0502040204020203" pitchFamily="34" charset="0"/>
                      </a:endParaRPr>
                    </a:p>
                    <a:p>
                      <a:pPr fontAlgn="t">
                        <a:lnSpc>
                          <a:spcPts val="1500"/>
                        </a:lnSpc>
                        <a:buNone/>
                      </a:pPr>
                      <a:r>
                        <a:rPr lang="en-DE" sz="1200" b="1" i="0" dirty="0">
                          <a:effectLst/>
                          <a:latin typeface="Segoe UI" panose="020B0502040204020203" pitchFamily="34" charset="0"/>
                        </a:rPr>
                        <a:t>🇪🇺 </a:t>
                      </a:r>
                      <a:r>
                        <a:rPr lang="de-DE" sz="1200" b="1" i="0" dirty="0">
                          <a:effectLst/>
                          <a:latin typeface="Segoe UI" panose="020B0502040204020203" pitchFamily="34" charset="0"/>
                        </a:rPr>
                        <a:t>EU Annex 11 (GMP Guideline)</a:t>
                      </a:r>
                    </a:p>
                    <a:p>
                      <a:pPr fontAlgn="t">
                        <a:lnSpc>
                          <a:spcPts val="1500"/>
                        </a:lnSpc>
                        <a:buFont typeface="Arial" panose="020B0604020202020204" pitchFamily="34" charset="0"/>
                        <a:buChar char="•"/>
                      </a:pPr>
                      <a:r>
                        <a:rPr lang="de-DE" sz="1200" b="0" i="0" dirty="0" err="1">
                          <a:effectLst/>
                          <a:latin typeface="Segoe UI" panose="020B0502040204020203" pitchFamily="34" charset="0"/>
                        </a:rPr>
                        <a:t>Governs</a:t>
                      </a:r>
                      <a:r>
                        <a:rPr lang="de-DE" sz="1200" b="0" i="0" dirty="0">
                          <a:effectLst/>
                          <a:latin typeface="Segoe UI" panose="020B0502040204020203" pitchFamily="34" charset="0"/>
                        </a:rPr>
                        <a:t> </a:t>
                      </a:r>
                      <a:r>
                        <a:rPr lang="de-DE" sz="1200" b="1" i="0" dirty="0" err="1">
                          <a:effectLst/>
                          <a:latin typeface="Segoe UI" panose="020B0502040204020203" pitchFamily="34" charset="0"/>
                        </a:rPr>
                        <a:t>computerized</a:t>
                      </a:r>
                      <a:r>
                        <a:rPr lang="de-DE" sz="1200" b="1" i="0" dirty="0">
                          <a:effectLst/>
                          <a:latin typeface="Segoe UI" panose="020B0502040204020203" pitchFamily="34" charset="0"/>
                        </a:rPr>
                        <a:t> </a:t>
                      </a:r>
                      <a:r>
                        <a:rPr lang="de-DE" sz="1200" b="1" i="0" dirty="0" err="1">
                          <a:effectLst/>
                          <a:latin typeface="Segoe UI" panose="020B0502040204020203" pitchFamily="34" charset="0"/>
                        </a:rPr>
                        <a:t>systems</a:t>
                      </a:r>
                      <a:r>
                        <a:rPr lang="de-DE" sz="1200" b="1" i="0" dirty="0">
                          <a:effectLst/>
                          <a:latin typeface="Segoe UI" panose="020B0502040204020203" pitchFamily="34" charset="0"/>
                        </a:rPr>
                        <a:t> in GMP </a:t>
                      </a:r>
                      <a:r>
                        <a:rPr lang="de-DE" sz="1200" b="1" i="0" dirty="0" err="1">
                          <a:effectLst/>
                          <a:latin typeface="Segoe UI" panose="020B0502040204020203" pitchFamily="34" charset="0"/>
                        </a:rPr>
                        <a:t>environments</a:t>
                      </a:r>
                      <a:r>
                        <a:rPr lang="de-DE" sz="1200" b="0" i="0" dirty="0">
                          <a:effectLst/>
                          <a:latin typeface="Segoe UI" panose="020B0502040204020203" pitchFamily="34" charset="0"/>
                        </a:rPr>
                        <a:t> </a:t>
                      </a:r>
                      <a:r>
                        <a:rPr lang="de-DE" sz="1200" b="0" i="0" u="none" strike="noStrike" dirty="0">
                          <a:solidFill>
                            <a:srgbClr val="464FEB"/>
                          </a:solidFill>
                          <a:effectLst/>
                          <a:latin typeface="Segoe UI" panose="020B0502040204020203" pitchFamily="34" charset="0"/>
                          <a:hlinkClick r:id="rId3"/>
                        </a:rPr>
                        <a:t>[simplerqms.com]</a:t>
                      </a:r>
                      <a:endParaRPr lang="de-DE" sz="1200" b="0" i="0" dirty="0">
                        <a:effectLst/>
                        <a:latin typeface="Segoe UI" panose="020B0502040204020203" pitchFamily="34" charset="0"/>
                      </a:endParaRPr>
                    </a:p>
                    <a:p>
                      <a:pPr fontAlgn="t">
                        <a:lnSpc>
                          <a:spcPts val="1500"/>
                        </a:lnSpc>
                        <a:buFont typeface="Arial" panose="020B0604020202020204" pitchFamily="34" charset="0"/>
                        <a:buChar char="•"/>
                      </a:pPr>
                      <a:r>
                        <a:rPr lang="de-DE" sz="1200" b="0" i="0" dirty="0">
                          <a:effectLst/>
                          <a:latin typeface="Segoe UI" panose="020B0502040204020203" pitchFamily="34" charset="0"/>
                        </a:rPr>
                        <a:t>Covers </a:t>
                      </a:r>
                      <a:r>
                        <a:rPr lang="de-DE" sz="1200" b="0" i="0" dirty="0" err="1">
                          <a:effectLst/>
                          <a:latin typeface="Segoe UI" panose="020B0502040204020203" pitchFamily="34" charset="0"/>
                        </a:rPr>
                        <a:t>the</a:t>
                      </a:r>
                      <a:r>
                        <a:rPr lang="de-DE" sz="1200" b="0" i="0" dirty="0">
                          <a:effectLst/>
                          <a:latin typeface="Segoe UI" panose="020B0502040204020203" pitchFamily="34" charset="0"/>
                        </a:rPr>
                        <a:t> </a:t>
                      </a:r>
                      <a:r>
                        <a:rPr lang="de-DE" sz="1200" b="1" i="0" dirty="0" err="1">
                          <a:effectLst/>
                          <a:latin typeface="Segoe UI" panose="020B0502040204020203" pitchFamily="34" charset="0"/>
                        </a:rPr>
                        <a:t>full</a:t>
                      </a:r>
                      <a:r>
                        <a:rPr lang="de-DE" sz="1200" b="1" i="0" dirty="0">
                          <a:effectLst/>
                          <a:latin typeface="Segoe UI" panose="020B0502040204020203" pitchFamily="34" charset="0"/>
                        </a:rPr>
                        <a:t> </a:t>
                      </a:r>
                      <a:r>
                        <a:rPr lang="de-DE" sz="1200" b="1" i="0" dirty="0" err="1">
                          <a:effectLst/>
                          <a:latin typeface="Segoe UI" panose="020B0502040204020203" pitchFamily="34" charset="0"/>
                        </a:rPr>
                        <a:t>system</a:t>
                      </a:r>
                      <a:r>
                        <a:rPr lang="de-DE" sz="1200" b="1" i="0" dirty="0">
                          <a:effectLst/>
                          <a:latin typeface="Segoe UI" panose="020B0502040204020203" pitchFamily="34" charset="0"/>
                        </a:rPr>
                        <a:t> </a:t>
                      </a:r>
                      <a:r>
                        <a:rPr lang="de-DE" sz="1200" b="1" i="0" dirty="0" err="1">
                          <a:effectLst/>
                          <a:latin typeface="Segoe UI" panose="020B0502040204020203" pitchFamily="34" charset="0"/>
                        </a:rPr>
                        <a:t>lifecycle</a:t>
                      </a:r>
                      <a:r>
                        <a:rPr lang="de-DE" sz="1200" b="0" i="0" dirty="0">
                          <a:effectLst/>
                          <a:latin typeface="Segoe UI" panose="020B0502040204020203" pitchFamily="34" charset="0"/>
                        </a:rPr>
                        <a:t>: </a:t>
                      </a:r>
                    </a:p>
                    <a:p>
                      <a:pPr marL="742950" lvl="1" indent="-285750" fontAlgn="t">
                        <a:lnSpc>
                          <a:spcPts val="1500"/>
                        </a:lnSpc>
                        <a:buFont typeface="Arial" panose="020B0604020202020204" pitchFamily="34" charset="0"/>
                        <a:buChar char="•"/>
                      </a:pPr>
                      <a:r>
                        <a:rPr lang="de-DE" sz="1200" b="0" i="0" dirty="0">
                          <a:effectLst/>
                          <a:latin typeface="Segoe UI" panose="020B0502040204020203" pitchFamily="34" charset="0"/>
                        </a:rPr>
                        <a:t>Validation &amp; </a:t>
                      </a:r>
                      <a:r>
                        <a:rPr lang="de-DE" sz="1200" b="0" i="0" dirty="0" err="1">
                          <a:effectLst/>
                          <a:latin typeface="Segoe UI" panose="020B0502040204020203" pitchFamily="34" charset="0"/>
                        </a:rPr>
                        <a:t>risk</a:t>
                      </a:r>
                      <a:r>
                        <a:rPr lang="de-DE" sz="1200" b="0" i="0" dirty="0">
                          <a:effectLst/>
                          <a:latin typeface="Segoe UI" panose="020B0502040204020203" pitchFamily="34" charset="0"/>
                        </a:rPr>
                        <a:t> </a:t>
                      </a:r>
                      <a:r>
                        <a:rPr lang="de-DE" sz="1200" b="0" i="0" dirty="0" err="1">
                          <a:effectLst/>
                          <a:latin typeface="Segoe UI" panose="020B0502040204020203" pitchFamily="34" charset="0"/>
                        </a:rPr>
                        <a:t>management</a:t>
                      </a:r>
                      <a:endParaRPr lang="de-DE" sz="1200" b="0" i="0" dirty="0">
                        <a:effectLst/>
                        <a:latin typeface="Segoe UI" panose="020B0502040204020203" pitchFamily="34" charset="0"/>
                      </a:endParaRPr>
                    </a:p>
                    <a:p>
                      <a:pPr marL="742950" lvl="1" indent="-285750" fontAlgn="t">
                        <a:lnSpc>
                          <a:spcPts val="1500"/>
                        </a:lnSpc>
                        <a:buFont typeface="Arial" panose="020B0604020202020204" pitchFamily="34" charset="0"/>
                        <a:buChar char="•"/>
                      </a:pPr>
                      <a:r>
                        <a:rPr lang="de-DE" sz="1200" b="0" i="0" dirty="0">
                          <a:effectLst/>
                          <a:latin typeface="Segoe UI" panose="020B0502040204020203" pitchFamily="34" charset="0"/>
                        </a:rPr>
                        <a:t>Data </a:t>
                      </a:r>
                      <a:r>
                        <a:rPr lang="de-DE" sz="1200" b="0" i="0" dirty="0" err="1">
                          <a:effectLst/>
                          <a:latin typeface="Segoe UI" panose="020B0502040204020203" pitchFamily="34" charset="0"/>
                        </a:rPr>
                        <a:t>integrity</a:t>
                      </a:r>
                      <a:r>
                        <a:rPr lang="de-DE" sz="1200" b="0" i="0" dirty="0">
                          <a:effectLst/>
                          <a:latin typeface="Segoe UI" panose="020B0502040204020203" pitchFamily="34" charset="0"/>
                        </a:rPr>
                        <a:t> (ALCOA+)</a:t>
                      </a:r>
                    </a:p>
                    <a:p>
                      <a:pPr marL="742950" lvl="1" indent="-285750" fontAlgn="t">
                        <a:lnSpc>
                          <a:spcPts val="1500"/>
                        </a:lnSpc>
                        <a:buFont typeface="Arial" panose="020B0604020202020204" pitchFamily="34" charset="0"/>
                        <a:buChar char="•"/>
                      </a:pPr>
                      <a:r>
                        <a:rPr lang="de-DE" sz="1200" b="0" i="0" dirty="0">
                          <a:effectLst/>
                          <a:latin typeface="Segoe UI" panose="020B0502040204020203" pitchFamily="34" charset="0"/>
                        </a:rPr>
                        <a:t>Supplier &amp; </a:t>
                      </a:r>
                      <a:r>
                        <a:rPr lang="de-DE" sz="1200" b="0" i="0" dirty="0" err="1">
                          <a:effectLst/>
                          <a:latin typeface="Segoe UI" panose="020B0502040204020203" pitchFamily="34" charset="0"/>
                        </a:rPr>
                        <a:t>system</a:t>
                      </a:r>
                      <a:r>
                        <a:rPr lang="de-DE" sz="1200" b="0" i="0" dirty="0">
                          <a:effectLst/>
                          <a:latin typeface="Segoe UI" panose="020B0502040204020203" pitchFamily="34" charset="0"/>
                        </a:rPr>
                        <a:t> </a:t>
                      </a:r>
                      <a:r>
                        <a:rPr lang="de-DE" sz="1200" b="0" i="0" dirty="0" err="1">
                          <a:effectLst/>
                          <a:latin typeface="Segoe UI" panose="020B0502040204020203" pitchFamily="34" charset="0"/>
                        </a:rPr>
                        <a:t>governance</a:t>
                      </a:r>
                      <a:endParaRPr lang="de-DE" sz="1200" b="0" i="0" dirty="0">
                        <a:effectLst/>
                        <a:latin typeface="Segoe UI" panose="020B0502040204020203" pitchFamily="34" charset="0"/>
                      </a:endParaRPr>
                    </a:p>
                    <a:p>
                      <a:pPr marL="742950" lvl="1" indent="-285750" fontAlgn="t">
                        <a:lnSpc>
                          <a:spcPts val="1500"/>
                        </a:lnSpc>
                        <a:buFont typeface="Arial" panose="020B0604020202020204" pitchFamily="34" charset="0"/>
                        <a:buChar char="•"/>
                      </a:pPr>
                      <a:r>
                        <a:rPr lang="de-DE" sz="1200" b="0" i="0" dirty="0" err="1">
                          <a:effectLst/>
                          <a:latin typeface="Segoe UI" panose="020B0502040204020203" pitchFamily="34" charset="0"/>
                        </a:rPr>
                        <a:t>Periodic</a:t>
                      </a:r>
                      <a:r>
                        <a:rPr lang="de-DE" sz="1200" b="0" i="0" dirty="0">
                          <a:effectLst/>
                          <a:latin typeface="Segoe UI" panose="020B0502040204020203" pitchFamily="34" charset="0"/>
                        </a:rPr>
                        <a:t> review &amp; </a:t>
                      </a:r>
                      <a:r>
                        <a:rPr lang="de-DE" sz="1200" b="0" i="0" dirty="0" err="1">
                          <a:effectLst/>
                          <a:latin typeface="Segoe UI" panose="020B0502040204020203" pitchFamily="34" charset="0"/>
                        </a:rPr>
                        <a:t>monitoring</a:t>
                      </a:r>
                      <a:r>
                        <a:rPr lang="de-DE" sz="1200" b="0" i="0" dirty="0">
                          <a:effectLst/>
                          <a:latin typeface="Segoe UI" panose="020B0502040204020203" pitchFamily="34" charset="0"/>
                        </a:rPr>
                        <a:t> </a:t>
                      </a:r>
                      <a:r>
                        <a:rPr lang="de-DE" sz="1200" b="0" i="0" u="none" strike="noStrike" dirty="0">
                          <a:solidFill>
                            <a:srgbClr val="464FEB"/>
                          </a:solidFill>
                          <a:effectLst/>
                          <a:latin typeface="Segoe UI" panose="020B0502040204020203" pitchFamily="34" charset="0"/>
                          <a:hlinkClick r:id="rId4"/>
                        </a:rPr>
                        <a:t>[gmpinsiders.com]</a:t>
                      </a:r>
                      <a:endParaRPr lang="de-DE" sz="1200" b="0" i="0" dirty="0">
                        <a:effectLst/>
                        <a:latin typeface="Segoe UI" panose="020B0502040204020203" pitchFamily="34" charset="0"/>
                      </a:endParaRPr>
                    </a:p>
                    <a:p>
                      <a:pPr fontAlgn="t">
                        <a:lnSpc>
                          <a:spcPts val="1500"/>
                        </a:lnSpc>
                        <a:buNone/>
                      </a:pPr>
                      <a:br>
                        <a:rPr lang="de-DE" sz="1200" b="0" i="0" dirty="0">
                          <a:effectLst/>
                          <a:latin typeface="Segoe UI" panose="020B0502040204020203" pitchFamily="34" charset="0"/>
                        </a:rPr>
                      </a:br>
                      <a:endParaRPr lang="de-DE" sz="1200" b="0" i="0" dirty="0">
                        <a:effectLst/>
                        <a:latin typeface="Segoe UI" panose="020B0502040204020203" pitchFamily="34" charset="0"/>
                      </a:endParaRPr>
                    </a:p>
                    <a:p>
                      <a:pPr fontAlgn="t">
                        <a:lnSpc>
                          <a:spcPts val="1500"/>
                        </a:lnSpc>
                        <a:buNone/>
                      </a:pPr>
                      <a:r>
                        <a:rPr lang="en-DE" sz="1200" b="1" i="0" dirty="0">
                          <a:effectLst/>
                          <a:latin typeface="Segoe UI" panose="020B0502040204020203" pitchFamily="34" charset="0"/>
                        </a:rPr>
                        <a:t>🔗 </a:t>
                      </a:r>
                      <a:r>
                        <a:rPr lang="de-DE" sz="1200" b="1" i="0" dirty="0">
                          <a:effectLst/>
                          <a:latin typeface="Segoe UI" panose="020B0502040204020203" pitchFamily="34" charset="0"/>
                        </a:rPr>
                        <a:t>Common Goal</a:t>
                      </a:r>
                    </a:p>
                    <a:p>
                      <a:pPr fontAlgn="t">
                        <a:lnSpc>
                          <a:spcPts val="1500"/>
                        </a:lnSpc>
                        <a:buFont typeface="Arial" panose="020B0604020202020204" pitchFamily="34" charset="0"/>
                        <a:buChar char="•"/>
                      </a:pPr>
                      <a:r>
                        <a:rPr lang="de-DE" sz="1200" b="0" i="0" dirty="0" err="1">
                          <a:effectLst/>
                          <a:latin typeface="Segoe UI" panose="020B0502040204020203" pitchFamily="34" charset="0"/>
                        </a:rPr>
                        <a:t>Ensure</a:t>
                      </a:r>
                      <a:r>
                        <a:rPr lang="de-DE" sz="1200" b="0" i="0" dirty="0">
                          <a:effectLst/>
                          <a:latin typeface="Segoe UI" panose="020B0502040204020203" pitchFamily="34" charset="0"/>
                        </a:rPr>
                        <a:t> </a:t>
                      </a:r>
                      <a:r>
                        <a:rPr lang="de-DE" sz="1200" b="1" i="0" dirty="0" err="1">
                          <a:effectLst/>
                          <a:latin typeface="Segoe UI" panose="020B0502040204020203" pitchFamily="34" charset="0"/>
                        </a:rPr>
                        <a:t>data</a:t>
                      </a:r>
                      <a:r>
                        <a:rPr lang="de-DE" sz="1200" b="1" i="0" dirty="0">
                          <a:effectLst/>
                          <a:latin typeface="Segoe UI" panose="020B0502040204020203" pitchFamily="34" charset="0"/>
                        </a:rPr>
                        <a:t> </a:t>
                      </a:r>
                      <a:r>
                        <a:rPr lang="de-DE" sz="1200" b="1" i="0" dirty="0" err="1">
                          <a:effectLst/>
                          <a:latin typeface="Segoe UI" panose="020B0502040204020203" pitchFamily="34" charset="0"/>
                        </a:rPr>
                        <a:t>integrity</a:t>
                      </a:r>
                      <a:r>
                        <a:rPr lang="de-DE" sz="1200" b="1" i="0" dirty="0">
                          <a:effectLst/>
                          <a:latin typeface="Segoe UI" panose="020B0502040204020203" pitchFamily="34" charset="0"/>
                        </a:rPr>
                        <a:t>, </a:t>
                      </a:r>
                      <a:r>
                        <a:rPr lang="de-DE" sz="1200" b="1" i="0" dirty="0" err="1">
                          <a:effectLst/>
                          <a:latin typeface="Segoe UI" panose="020B0502040204020203" pitchFamily="34" charset="0"/>
                        </a:rPr>
                        <a:t>traceability</a:t>
                      </a:r>
                      <a:r>
                        <a:rPr lang="de-DE" sz="1200" b="1" i="0" dirty="0">
                          <a:effectLst/>
                          <a:latin typeface="Segoe UI" panose="020B0502040204020203" pitchFamily="34" charset="0"/>
                        </a:rPr>
                        <a:t>, and </a:t>
                      </a:r>
                      <a:r>
                        <a:rPr lang="de-DE" sz="1200" b="1" i="0" dirty="0" err="1">
                          <a:effectLst/>
                          <a:latin typeface="Segoe UI" panose="020B0502040204020203" pitchFamily="34" charset="0"/>
                        </a:rPr>
                        <a:t>compliance</a:t>
                      </a:r>
                      <a:endParaRPr lang="de-DE" sz="1200" b="0" i="0" dirty="0">
                        <a:effectLst/>
                        <a:latin typeface="Segoe UI" panose="020B0502040204020203" pitchFamily="34" charset="0"/>
                      </a:endParaRPr>
                    </a:p>
                    <a:p>
                      <a:pPr fontAlgn="t">
                        <a:lnSpc>
                          <a:spcPts val="1500"/>
                        </a:lnSpc>
                        <a:buFont typeface="Arial" panose="020B0604020202020204" pitchFamily="34" charset="0"/>
                        <a:buChar char="•"/>
                      </a:pPr>
                      <a:r>
                        <a:rPr lang="de-DE" sz="1200" b="0" i="0" dirty="0" err="1">
                          <a:effectLst/>
                          <a:latin typeface="Segoe UI" panose="020B0502040204020203" pitchFamily="34" charset="0"/>
                        </a:rPr>
                        <a:t>Enable</a:t>
                      </a:r>
                      <a:r>
                        <a:rPr lang="de-DE" sz="1200" b="0" i="0" dirty="0">
                          <a:effectLst/>
                          <a:latin typeface="Segoe UI" panose="020B0502040204020203" pitchFamily="34" charset="0"/>
                        </a:rPr>
                        <a:t> </a:t>
                      </a:r>
                      <a:r>
                        <a:rPr lang="de-DE" sz="1200" b="1" i="0" dirty="0">
                          <a:effectLst/>
                          <a:latin typeface="Segoe UI" panose="020B0502040204020203" pitchFamily="34" charset="0"/>
                        </a:rPr>
                        <a:t>audit-</a:t>
                      </a:r>
                      <a:r>
                        <a:rPr lang="de-DE" sz="1200" b="1" i="0" dirty="0" err="1">
                          <a:effectLst/>
                          <a:latin typeface="Segoe UI" panose="020B0502040204020203" pitchFamily="34" charset="0"/>
                        </a:rPr>
                        <a:t>ready</a:t>
                      </a:r>
                      <a:r>
                        <a:rPr lang="de-DE" sz="1200" b="1" i="0" dirty="0">
                          <a:effectLst/>
                          <a:latin typeface="Segoe UI" panose="020B0502040204020203" pitchFamily="34" charset="0"/>
                        </a:rPr>
                        <a:t>, reliable digital </a:t>
                      </a:r>
                      <a:r>
                        <a:rPr lang="de-DE" sz="1200" b="1" i="0" dirty="0" err="1">
                          <a:effectLst/>
                          <a:latin typeface="Segoe UI" panose="020B0502040204020203" pitchFamily="34" charset="0"/>
                        </a:rPr>
                        <a:t>processes</a:t>
                      </a:r>
                      <a:r>
                        <a:rPr lang="de-DE" sz="1200" b="0" i="0" dirty="0">
                          <a:effectLst/>
                          <a:latin typeface="Segoe UI" panose="020B0502040204020203" pitchFamily="34" charset="0"/>
                        </a:rPr>
                        <a:t> </a:t>
                      </a:r>
                      <a:r>
                        <a:rPr lang="de-DE" sz="1200" b="0" i="0" dirty="0" err="1">
                          <a:effectLst/>
                          <a:latin typeface="Segoe UI" panose="020B0502040204020203" pitchFamily="34" charset="0"/>
                        </a:rPr>
                        <a:t>instead</a:t>
                      </a:r>
                      <a:r>
                        <a:rPr lang="de-DE" sz="1200" b="0" i="0" dirty="0">
                          <a:effectLst/>
                          <a:latin typeface="Segoe UI" panose="020B0502040204020203" pitchFamily="34" charset="0"/>
                        </a:rPr>
                        <a:t> </a:t>
                      </a:r>
                      <a:r>
                        <a:rPr lang="de-DE" sz="1200" b="0" i="0" dirty="0" err="1">
                          <a:effectLst/>
                          <a:latin typeface="Segoe UI" panose="020B0502040204020203" pitchFamily="34" charset="0"/>
                        </a:rPr>
                        <a:t>of</a:t>
                      </a:r>
                      <a:r>
                        <a:rPr lang="de-DE" sz="1200" b="0" i="0" dirty="0">
                          <a:effectLst/>
                          <a:latin typeface="Segoe UI" panose="020B0502040204020203" pitchFamily="34" charset="0"/>
                        </a:rPr>
                        <a:t> </a:t>
                      </a:r>
                      <a:r>
                        <a:rPr lang="de-DE" sz="1200" b="0" i="0" dirty="0" err="1">
                          <a:effectLst/>
                          <a:latin typeface="Segoe UI" panose="020B0502040204020203" pitchFamily="34" charset="0"/>
                        </a:rPr>
                        <a:t>paper</a:t>
                      </a:r>
                      <a:endParaRPr lang="de-DE" sz="1200" b="0" i="0" dirty="0">
                        <a:effectLst/>
                        <a:latin typeface="Segoe UI" panose="020B0502040204020203" pitchFamily="34" charset="0"/>
                      </a:endParaRPr>
                    </a:p>
                    <a:p>
                      <a:pPr fontAlgn="t">
                        <a:lnSpc>
                          <a:spcPts val="1500"/>
                        </a:lnSpc>
                        <a:buNone/>
                      </a:pPr>
                      <a:br>
                        <a:rPr lang="de-DE" sz="1200" b="0" i="0" dirty="0">
                          <a:effectLst/>
                          <a:latin typeface="Segoe UI" panose="020B0502040204020203" pitchFamily="34" charset="0"/>
                        </a:rPr>
                      </a:br>
                      <a:endParaRPr lang="de-DE" sz="1200" b="0" i="0" dirty="0">
                        <a:effectLst/>
                        <a:latin typeface="Segoe UI" panose="020B0502040204020203" pitchFamily="34" charset="0"/>
                      </a:endParaRPr>
                    </a:p>
                    <a:p>
                      <a:pPr fontAlgn="t">
                        <a:lnSpc>
                          <a:spcPts val="1500"/>
                        </a:lnSpc>
                        <a:buNone/>
                      </a:pPr>
                      <a:r>
                        <a:rPr lang="de-DE" sz="1200" b="1" i="0" dirty="0">
                          <a:effectLst/>
                          <a:latin typeface="Segoe UI" panose="020B0502040204020203" pitchFamily="34" charset="0"/>
                        </a:rPr>
                        <a:t>⚖️ Key </a:t>
                      </a:r>
                      <a:r>
                        <a:rPr lang="de-DE" sz="1200" b="1" i="0" dirty="0" err="1">
                          <a:effectLst/>
                          <a:latin typeface="Segoe UI" panose="020B0502040204020203" pitchFamily="34" charset="0"/>
                        </a:rPr>
                        <a:t>Difference</a:t>
                      </a:r>
                      <a:r>
                        <a:rPr lang="de-DE" sz="1200" b="1" i="0" dirty="0">
                          <a:effectLst/>
                          <a:latin typeface="Segoe UI" panose="020B0502040204020203" pitchFamily="34" charset="0"/>
                        </a:rPr>
                        <a:t> (</a:t>
                      </a:r>
                      <a:r>
                        <a:rPr lang="de-DE" sz="1200" b="1" i="0" dirty="0" err="1">
                          <a:effectLst/>
                          <a:latin typeface="Segoe UI" panose="020B0502040204020203" pitchFamily="34" charset="0"/>
                        </a:rPr>
                        <a:t>One</a:t>
                      </a:r>
                      <a:r>
                        <a:rPr lang="de-DE" sz="1200" b="1" i="0" dirty="0">
                          <a:effectLst/>
                          <a:latin typeface="Segoe UI" panose="020B0502040204020203" pitchFamily="34" charset="0"/>
                        </a:rPr>
                        <a:t>-liner)</a:t>
                      </a:r>
                    </a:p>
                    <a:p>
                      <a:pPr fontAlgn="t">
                        <a:lnSpc>
                          <a:spcPts val="1500"/>
                        </a:lnSpc>
                        <a:buFont typeface="Arial" panose="020B0604020202020204" pitchFamily="34" charset="0"/>
                        <a:buChar char="•"/>
                      </a:pPr>
                      <a:r>
                        <a:rPr lang="de-DE" sz="1200" b="1" i="0" dirty="0">
                          <a:effectLst/>
                          <a:latin typeface="Segoe UI" panose="020B0502040204020203" pitchFamily="34" charset="0"/>
                        </a:rPr>
                        <a:t>Part 11 = “Are electronic </a:t>
                      </a:r>
                      <a:r>
                        <a:rPr lang="de-DE" sz="1200" b="1" i="0" dirty="0" err="1">
                          <a:effectLst/>
                          <a:latin typeface="Segoe UI" panose="020B0502040204020203" pitchFamily="34" charset="0"/>
                        </a:rPr>
                        <a:t>records</a:t>
                      </a:r>
                      <a:r>
                        <a:rPr lang="de-DE" sz="1200" b="1" i="0" dirty="0">
                          <a:effectLst/>
                          <a:latin typeface="Segoe UI" panose="020B0502040204020203" pitchFamily="34" charset="0"/>
                        </a:rPr>
                        <a:t> &amp; </a:t>
                      </a:r>
                      <a:r>
                        <a:rPr lang="de-DE" sz="1200" b="1" i="0" dirty="0" err="1">
                          <a:effectLst/>
                          <a:latin typeface="Segoe UI" panose="020B0502040204020203" pitchFamily="34" charset="0"/>
                        </a:rPr>
                        <a:t>signatures</a:t>
                      </a:r>
                      <a:r>
                        <a:rPr lang="de-DE" sz="1200" b="1" i="0" dirty="0">
                          <a:effectLst/>
                          <a:latin typeface="Segoe UI" panose="020B0502040204020203" pitchFamily="34" charset="0"/>
                        </a:rPr>
                        <a:t> </a:t>
                      </a:r>
                      <a:r>
                        <a:rPr lang="de-DE" sz="1200" b="1" i="0" dirty="0" err="1">
                          <a:effectLst/>
                          <a:latin typeface="Segoe UI" panose="020B0502040204020203" pitchFamily="34" charset="0"/>
                        </a:rPr>
                        <a:t>trustworthy</a:t>
                      </a:r>
                      <a:r>
                        <a:rPr lang="de-DE" sz="1200" b="1" i="0" dirty="0">
                          <a:effectLst/>
                          <a:latin typeface="Segoe UI" panose="020B0502040204020203" pitchFamily="34" charset="0"/>
                        </a:rPr>
                        <a:t>?”</a:t>
                      </a:r>
                      <a:endParaRPr lang="de-DE" sz="1200" b="0" i="0" dirty="0">
                        <a:effectLst/>
                        <a:latin typeface="Segoe UI" panose="020B0502040204020203" pitchFamily="34" charset="0"/>
                      </a:endParaRPr>
                    </a:p>
                    <a:p>
                      <a:pPr fontAlgn="t">
                        <a:lnSpc>
                          <a:spcPts val="1500"/>
                        </a:lnSpc>
                        <a:buFont typeface="Arial" panose="020B0604020202020204" pitchFamily="34" charset="0"/>
                        <a:buChar char="•"/>
                      </a:pPr>
                      <a:r>
                        <a:rPr lang="de-DE" sz="1200" b="1" i="0" dirty="0">
                          <a:effectLst/>
                          <a:latin typeface="Segoe UI" panose="020B0502040204020203" pitchFamily="34" charset="0"/>
                        </a:rPr>
                        <a:t>Annex 11 = “</a:t>
                      </a:r>
                      <a:r>
                        <a:rPr lang="de-DE" sz="1200" b="1" i="0" dirty="0" err="1">
                          <a:effectLst/>
                          <a:latin typeface="Segoe UI" panose="020B0502040204020203" pitchFamily="34" charset="0"/>
                        </a:rPr>
                        <a:t>Is</a:t>
                      </a:r>
                      <a:r>
                        <a:rPr lang="de-DE" sz="1200" b="1" i="0" dirty="0">
                          <a:effectLst/>
                          <a:latin typeface="Segoe UI" panose="020B0502040204020203" pitchFamily="34" charset="0"/>
                        </a:rPr>
                        <a:t> </a:t>
                      </a:r>
                      <a:r>
                        <a:rPr lang="de-DE" sz="1200" b="1" i="0" dirty="0" err="1">
                          <a:effectLst/>
                          <a:latin typeface="Segoe UI" panose="020B0502040204020203" pitchFamily="34" charset="0"/>
                        </a:rPr>
                        <a:t>the</a:t>
                      </a:r>
                      <a:r>
                        <a:rPr lang="de-DE" sz="1200" b="1" i="0" dirty="0">
                          <a:effectLst/>
                          <a:latin typeface="Segoe UI" panose="020B0502040204020203" pitchFamily="34" charset="0"/>
                        </a:rPr>
                        <a:t> </a:t>
                      </a:r>
                      <a:r>
                        <a:rPr lang="de-DE" sz="1200" b="1" i="0" dirty="0" err="1">
                          <a:effectLst/>
                          <a:latin typeface="Segoe UI" panose="020B0502040204020203" pitchFamily="34" charset="0"/>
                        </a:rPr>
                        <a:t>entire</a:t>
                      </a:r>
                      <a:r>
                        <a:rPr lang="de-DE" sz="1200" b="1" i="0" dirty="0">
                          <a:effectLst/>
                          <a:latin typeface="Segoe UI" panose="020B0502040204020203" pitchFamily="34" charset="0"/>
                        </a:rPr>
                        <a:t> </a:t>
                      </a:r>
                      <a:r>
                        <a:rPr lang="de-DE" sz="1200" b="1" i="0" dirty="0" err="1">
                          <a:effectLst/>
                          <a:latin typeface="Segoe UI" panose="020B0502040204020203" pitchFamily="34" charset="0"/>
                        </a:rPr>
                        <a:t>system</a:t>
                      </a:r>
                      <a:r>
                        <a:rPr lang="de-DE" sz="1200" b="1" i="0" dirty="0">
                          <a:effectLst/>
                          <a:latin typeface="Segoe UI" panose="020B0502040204020203" pitchFamily="34" charset="0"/>
                        </a:rPr>
                        <a:t> </a:t>
                      </a:r>
                      <a:r>
                        <a:rPr lang="de-DE" sz="1200" b="1" i="0" dirty="0" err="1">
                          <a:effectLst/>
                          <a:latin typeface="Segoe UI" panose="020B0502040204020203" pitchFamily="34" charset="0"/>
                        </a:rPr>
                        <a:t>validated</a:t>
                      </a:r>
                      <a:r>
                        <a:rPr lang="de-DE" sz="1200" b="1" i="0" dirty="0">
                          <a:effectLst/>
                          <a:latin typeface="Segoe UI" panose="020B0502040204020203" pitchFamily="34" charset="0"/>
                        </a:rPr>
                        <a:t>, </a:t>
                      </a:r>
                      <a:r>
                        <a:rPr lang="de-DE" sz="1200" b="1" i="0" dirty="0" err="1">
                          <a:effectLst/>
                          <a:latin typeface="Segoe UI" panose="020B0502040204020203" pitchFamily="34" charset="0"/>
                        </a:rPr>
                        <a:t>controlled</a:t>
                      </a:r>
                      <a:r>
                        <a:rPr lang="de-DE" sz="1200" b="1" i="0" dirty="0">
                          <a:effectLst/>
                          <a:latin typeface="Segoe UI" panose="020B0502040204020203" pitchFamily="34" charset="0"/>
                        </a:rPr>
                        <a:t>, and </a:t>
                      </a:r>
                      <a:r>
                        <a:rPr lang="de-DE" sz="1200" b="1" i="0" dirty="0" err="1">
                          <a:effectLst/>
                          <a:latin typeface="Segoe UI" panose="020B0502040204020203" pitchFamily="34" charset="0"/>
                        </a:rPr>
                        <a:t>compliant</a:t>
                      </a:r>
                      <a:r>
                        <a:rPr lang="de-DE" sz="1200" b="1" i="0" dirty="0">
                          <a:effectLst/>
                          <a:latin typeface="Segoe UI" panose="020B0502040204020203" pitchFamily="34" charset="0"/>
                        </a:rPr>
                        <a:t>?”</a:t>
                      </a:r>
                      <a:endParaRPr lang="de-DE" sz="1200" b="0" i="0" dirty="0">
                        <a:effectLst/>
                        <a:latin typeface="Segoe UI" panose="020B0502040204020203" pitchFamily="34" charset="0"/>
                      </a:endParaRPr>
                    </a:p>
                    <a:p>
                      <a:pPr fontAlgn="t">
                        <a:lnSpc>
                          <a:spcPts val="1500"/>
                        </a:lnSpc>
                        <a:buNone/>
                      </a:pPr>
                      <a:br>
                        <a:rPr lang="de-DE" sz="1200" b="0" i="0" dirty="0">
                          <a:effectLst/>
                          <a:latin typeface="Segoe UI" panose="020B0502040204020203" pitchFamily="34" charset="0"/>
                        </a:rPr>
                      </a:br>
                      <a:endParaRPr lang="de-DE" sz="1200" b="0" i="0" dirty="0">
                        <a:effectLst/>
                        <a:latin typeface="Segoe UI" panose="020B0502040204020203" pitchFamily="34" charset="0"/>
                      </a:endParaRPr>
                    </a:p>
                    <a:p>
                      <a:pPr fontAlgn="t">
                        <a:lnSpc>
                          <a:spcPts val="1500"/>
                        </a:lnSpc>
                        <a:buNone/>
                      </a:pPr>
                      <a:r>
                        <a:rPr lang="en-DE" sz="1200" b="1" i="0" dirty="0">
                          <a:effectLst/>
                          <a:latin typeface="Segoe UI" panose="020B0502040204020203" pitchFamily="34" charset="0"/>
                        </a:rPr>
                        <a:t>🎯 </a:t>
                      </a:r>
                      <a:r>
                        <a:rPr lang="de-DE" sz="1200" b="1" i="0" dirty="0">
                          <a:effectLst/>
                          <a:latin typeface="Segoe UI" panose="020B0502040204020203" pitchFamily="34" charset="0"/>
                        </a:rPr>
                        <a:t>Takeaway</a:t>
                      </a:r>
                    </a:p>
                    <a:p>
                      <a:pPr fontAlgn="t">
                        <a:lnSpc>
                          <a:spcPts val="1500"/>
                        </a:lnSpc>
                        <a:buNone/>
                      </a:pPr>
                      <a:r>
                        <a:rPr lang="de-DE" sz="1200" b="1" i="0" dirty="0">
                          <a:effectLst/>
                          <a:latin typeface="Segoe UI" panose="020B0502040204020203" pitchFamily="34" charset="0"/>
                        </a:rPr>
                        <a:t>Both </a:t>
                      </a:r>
                      <a:r>
                        <a:rPr lang="de-DE" sz="1200" b="1" i="0" dirty="0" err="1">
                          <a:effectLst/>
                          <a:latin typeface="Segoe UI" panose="020B0502040204020203" pitchFamily="34" charset="0"/>
                        </a:rPr>
                        <a:t>regulations</a:t>
                      </a:r>
                      <a:r>
                        <a:rPr lang="de-DE" sz="1200" b="1" i="0" dirty="0">
                          <a:effectLst/>
                          <a:latin typeface="Segoe UI" panose="020B0502040204020203" pitchFamily="34" charset="0"/>
                        </a:rPr>
                        <a:t> </a:t>
                      </a:r>
                      <a:r>
                        <a:rPr lang="de-DE" sz="1200" b="1" i="0" dirty="0" err="1">
                          <a:effectLst/>
                          <a:latin typeface="Segoe UI" panose="020B0502040204020203" pitchFamily="34" charset="0"/>
                        </a:rPr>
                        <a:t>ensure</a:t>
                      </a:r>
                      <a:r>
                        <a:rPr lang="de-DE" sz="1200" b="1" i="0" dirty="0">
                          <a:effectLst/>
                          <a:latin typeface="Segoe UI" panose="020B0502040204020203" pitchFamily="34" charset="0"/>
                        </a:rPr>
                        <a:t> </a:t>
                      </a:r>
                      <a:r>
                        <a:rPr lang="de-DE" sz="1200" b="1" i="0" dirty="0" err="1">
                          <a:effectLst/>
                          <a:latin typeface="Segoe UI" panose="020B0502040204020203" pitchFamily="34" charset="0"/>
                        </a:rPr>
                        <a:t>that</a:t>
                      </a:r>
                      <a:r>
                        <a:rPr lang="de-DE" sz="1200" b="1" i="0" dirty="0">
                          <a:effectLst/>
                          <a:latin typeface="Segoe UI" panose="020B0502040204020203" pitchFamily="34" charset="0"/>
                        </a:rPr>
                        <a:t> digital GMP </a:t>
                      </a:r>
                      <a:r>
                        <a:rPr lang="de-DE" sz="1200" b="1" i="0" dirty="0" err="1">
                          <a:effectLst/>
                          <a:latin typeface="Segoe UI" panose="020B0502040204020203" pitchFamily="34" charset="0"/>
                        </a:rPr>
                        <a:t>data</a:t>
                      </a:r>
                      <a:r>
                        <a:rPr lang="de-DE" sz="1200" b="1" i="0" dirty="0">
                          <a:effectLst/>
                          <a:latin typeface="Segoe UI" panose="020B0502040204020203" pitchFamily="34" charset="0"/>
                        </a:rPr>
                        <a:t> </a:t>
                      </a:r>
                      <a:r>
                        <a:rPr lang="de-DE" sz="1200" b="1" i="0" dirty="0" err="1">
                          <a:effectLst/>
                          <a:latin typeface="Segoe UI" panose="020B0502040204020203" pitchFamily="34" charset="0"/>
                        </a:rPr>
                        <a:t>is</a:t>
                      </a:r>
                      <a:r>
                        <a:rPr lang="de-DE" sz="1200" b="1" i="0" dirty="0">
                          <a:effectLst/>
                          <a:latin typeface="Segoe UI" panose="020B0502040204020203" pitchFamily="34" charset="0"/>
                        </a:rPr>
                        <a:t> </a:t>
                      </a:r>
                      <a:r>
                        <a:rPr lang="de-DE" sz="1200" b="1" i="0" dirty="0" err="1">
                          <a:effectLst/>
                          <a:latin typeface="Segoe UI" panose="020B0502040204020203" pitchFamily="34" charset="0"/>
                        </a:rPr>
                        <a:t>trustworthy</a:t>
                      </a:r>
                      <a:r>
                        <a:rPr lang="de-DE" sz="1200" b="1" i="0" dirty="0">
                          <a:effectLst/>
                          <a:latin typeface="Segoe UI" panose="020B0502040204020203" pitchFamily="34" charset="0"/>
                        </a:rPr>
                        <a:t>, </a:t>
                      </a:r>
                      <a:r>
                        <a:rPr lang="de-DE" sz="1200" b="1" i="0" dirty="0" err="1">
                          <a:effectLst/>
                          <a:latin typeface="Segoe UI" panose="020B0502040204020203" pitchFamily="34" charset="0"/>
                        </a:rPr>
                        <a:t>auditable</a:t>
                      </a:r>
                      <a:r>
                        <a:rPr lang="de-DE" sz="1200" b="1" i="0" dirty="0">
                          <a:effectLst/>
                          <a:latin typeface="Segoe UI" panose="020B0502040204020203" pitchFamily="34" charset="0"/>
                        </a:rPr>
                        <a:t>, and </a:t>
                      </a:r>
                      <a:r>
                        <a:rPr lang="de-DE" sz="1200" b="1" i="0" dirty="0" err="1">
                          <a:effectLst/>
                          <a:latin typeface="Segoe UI" panose="020B0502040204020203" pitchFamily="34" charset="0"/>
                        </a:rPr>
                        <a:t>compliant</a:t>
                      </a:r>
                      <a:r>
                        <a:rPr lang="de-DE" sz="1200" b="1" i="0" dirty="0">
                          <a:effectLst/>
                          <a:latin typeface="Segoe UI" panose="020B0502040204020203" pitchFamily="34" charset="0"/>
                        </a:rPr>
                        <a:t>—</a:t>
                      </a:r>
                      <a:r>
                        <a:rPr lang="de-DE" sz="1200" b="1" i="0" dirty="0" err="1">
                          <a:effectLst/>
                          <a:latin typeface="Segoe UI" panose="020B0502040204020203" pitchFamily="34" charset="0"/>
                        </a:rPr>
                        <a:t>across</a:t>
                      </a:r>
                      <a:r>
                        <a:rPr lang="de-DE" sz="1200" b="1" i="0" dirty="0">
                          <a:effectLst/>
                          <a:latin typeface="Segoe UI" panose="020B0502040204020203" pitchFamily="34" charset="0"/>
                        </a:rPr>
                        <a:t> </a:t>
                      </a:r>
                      <a:r>
                        <a:rPr lang="de-DE" sz="1200" b="1" i="0" dirty="0" err="1">
                          <a:effectLst/>
                          <a:latin typeface="Segoe UI" panose="020B0502040204020203" pitchFamily="34" charset="0"/>
                        </a:rPr>
                        <a:t>systems</a:t>
                      </a:r>
                      <a:r>
                        <a:rPr lang="de-DE" sz="1200" b="1" i="0" dirty="0">
                          <a:effectLst/>
                          <a:latin typeface="Segoe UI" panose="020B0502040204020203" pitchFamily="34" charset="0"/>
                        </a:rPr>
                        <a:t>, </a:t>
                      </a:r>
                      <a:r>
                        <a:rPr lang="de-DE" sz="1200" b="1" i="0" dirty="0" err="1">
                          <a:effectLst/>
                          <a:latin typeface="Segoe UI" panose="020B0502040204020203" pitchFamily="34" charset="0"/>
                        </a:rPr>
                        <a:t>processes</a:t>
                      </a:r>
                      <a:r>
                        <a:rPr lang="de-DE" sz="1200" b="1" i="0" dirty="0">
                          <a:effectLst/>
                          <a:latin typeface="Segoe UI" panose="020B0502040204020203" pitchFamily="34" charset="0"/>
                        </a:rPr>
                        <a:t>, and </a:t>
                      </a:r>
                      <a:r>
                        <a:rPr lang="de-DE" sz="1200" b="1" i="0" dirty="0" err="1">
                          <a:effectLst/>
                          <a:latin typeface="Segoe UI" panose="020B0502040204020203" pitchFamily="34" charset="0"/>
                        </a:rPr>
                        <a:t>the</a:t>
                      </a:r>
                      <a:r>
                        <a:rPr lang="de-DE" sz="1200" b="1" i="0" dirty="0">
                          <a:effectLst/>
                          <a:latin typeface="Segoe UI" panose="020B0502040204020203" pitchFamily="34" charset="0"/>
                        </a:rPr>
                        <a:t> </a:t>
                      </a:r>
                      <a:r>
                        <a:rPr lang="de-DE" sz="1200" b="1" i="0" dirty="0" err="1">
                          <a:effectLst/>
                          <a:latin typeface="Segoe UI" panose="020B0502040204020203" pitchFamily="34" charset="0"/>
                        </a:rPr>
                        <a:t>full</a:t>
                      </a:r>
                      <a:r>
                        <a:rPr lang="de-DE" sz="1200" b="1" i="0" dirty="0">
                          <a:effectLst/>
                          <a:latin typeface="Segoe UI" panose="020B0502040204020203" pitchFamily="34" charset="0"/>
                        </a:rPr>
                        <a:t> </a:t>
                      </a:r>
                      <a:r>
                        <a:rPr lang="de-DE" sz="1200" b="1" i="0" dirty="0" err="1">
                          <a:effectLst/>
                          <a:latin typeface="Segoe UI" panose="020B0502040204020203" pitchFamily="34" charset="0"/>
                        </a:rPr>
                        <a:t>data</a:t>
                      </a:r>
                      <a:r>
                        <a:rPr lang="de-DE" sz="1200" b="1" i="0" dirty="0">
                          <a:effectLst/>
                          <a:latin typeface="Segoe UI" panose="020B0502040204020203" pitchFamily="34" charset="0"/>
                        </a:rPr>
                        <a:t> </a:t>
                      </a:r>
                      <a:r>
                        <a:rPr lang="de-DE" sz="1200" b="1" i="0" dirty="0" err="1">
                          <a:effectLst/>
                          <a:latin typeface="Segoe UI" panose="020B0502040204020203" pitchFamily="34" charset="0"/>
                        </a:rPr>
                        <a:t>lifecycle</a:t>
                      </a:r>
                      <a:r>
                        <a:rPr lang="de-DE" sz="1200" b="1" i="0" dirty="0">
                          <a:effectLst/>
                          <a:latin typeface="Segoe UI" panose="020B0502040204020203" pitchFamily="34" charset="0"/>
                        </a:rPr>
                        <a:t>.</a:t>
                      </a:r>
                      <a:endParaRPr lang="de-DE" sz="1200" b="0" i="0" dirty="0">
                        <a:effectLst/>
                        <a:latin typeface="Segoe UI" panose="020B0502040204020203" pitchFamily="34" charset="0"/>
                      </a:endParaRPr>
                    </a:p>
                  </a:txBody>
                  <a:tcPr marL="58840" marR="58840" marT="29420" marB="29420">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911631290"/>
                  </a:ext>
                </a:extLst>
              </a:tr>
              <a:tr h="235359">
                <a:tc>
                  <a:txBody>
                    <a:bodyPr/>
                    <a:lstStyle/>
                    <a:p>
                      <a:endParaRPr lang="en-DE" sz="1200" dirty="0"/>
                    </a:p>
                  </a:txBody>
                  <a:tcPr marL="58840" marR="58840" marT="29420" marB="29420">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970714875"/>
                  </a:ext>
                </a:extLst>
              </a:tr>
            </a:tbl>
          </a:graphicData>
        </a:graphic>
      </p:graphicFrame>
    </p:spTree>
    <p:extLst>
      <p:ext uri="{BB962C8B-B14F-4D97-AF65-F5344CB8AC3E}">
        <p14:creationId xmlns:p14="http://schemas.microsoft.com/office/powerpoint/2010/main" val="1232628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9BBB8-0D44-5754-EFD2-BB908E5E54CE}"/>
              </a:ext>
            </a:extLst>
          </p:cNvPr>
          <p:cNvSpPr>
            <a:spLocks noGrp="1"/>
          </p:cNvSpPr>
          <p:nvPr>
            <p:ph type="title"/>
          </p:nvPr>
        </p:nvSpPr>
        <p:spPr/>
        <p:txBody>
          <a:bodyPr/>
          <a:lstStyle/>
          <a:p>
            <a:r>
              <a:rPr lang="en-US" dirty="0"/>
              <a:t>GMP Requirements for </a:t>
            </a:r>
            <a:r>
              <a:rPr lang="en-US" dirty="0" err="1"/>
              <a:t>IIoT</a:t>
            </a:r>
            <a:r>
              <a:rPr lang="en-US" dirty="0"/>
              <a:t> Data</a:t>
            </a:r>
            <a:endParaRPr lang="en-DE" dirty="0"/>
          </a:p>
        </p:txBody>
      </p:sp>
      <p:sp>
        <p:nvSpPr>
          <p:cNvPr id="3" name="Content Placeholder 2">
            <a:extLst>
              <a:ext uri="{FF2B5EF4-FFF2-40B4-BE49-F238E27FC236}">
                <a16:creationId xmlns:a16="http://schemas.microsoft.com/office/drawing/2014/main" id="{9037E9B9-BD25-DF18-8B0F-5858A1291770}"/>
              </a:ext>
            </a:extLst>
          </p:cNvPr>
          <p:cNvSpPr>
            <a:spLocks noGrp="1"/>
          </p:cNvSpPr>
          <p:nvPr>
            <p:ph idx="1"/>
          </p:nvPr>
        </p:nvSpPr>
        <p:spPr/>
        <p:txBody>
          <a:bodyPr/>
          <a:lstStyle/>
          <a:p>
            <a:r>
              <a:rPr lang="en-US" dirty="0"/>
              <a:t>ALCOA+ principles explained</a:t>
            </a:r>
          </a:p>
          <a:p>
            <a:r>
              <a:rPr lang="en-US" dirty="0"/>
              <a:t>Audit Trail, Electronic Records, Electronic Signatures</a:t>
            </a:r>
          </a:p>
          <a:p>
            <a:r>
              <a:rPr lang="en-US" dirty="0"/>
              <a:t>Time‑series data challenges in GMP (sampling frequency, compression, lineage)</a:t>
            </a:r>
          </a:p>
          <a:p>
            <a:r>
              <a:rPr lang="en-US" dirty="0"/>
              <a:t>Why traditional historians struggle or are expensive</a:t>
            </a:r>
            <a:endParaRPr lang="en-DE" dirty="0"/>
          </a:p>
        </p:txBody>
      </p:sp>
    </p:spTree>
    <p:extLst>
      <p:ext uri="{BB962C8B-B14F-4D97-AF65-F5344CB8AC3E}">
        <p14:creationId xmlns:p14="http://schemas.microsoft.com/office/powerpoint/2010/main" val="496629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E4A2E-948C-4470-208B-D40EBE9B3423}"/>
              </a:ext>
            </a:extLst>
          </p:cNvPr>
          <p:cNvSpPr>
            <a:spLocks noGrp="1"/>
          </p:cNvSpPr>
          <p:nvPr>
            <p:ph type="title"/>
          </p:nvPr>
        </p:nvSpPr>
        <p:spPr/>
        <p:txBody>
          <a:bodyPr/>
          <a:lstStyle/>
          <a:p>
            <a:r>
              <a:rPr lang="de-DE" dirty="0" err="1"/>
              <a:t>What</a:t>
            </a:r>
            <a:r>
              <a:rPr lang="de-DE" dirty="0"/>
              <a:t> </a:t>
            </a:r>
            <a:r>
              <a:rPr lang="de-DE" dirty="0" err="1"/>
              <a:t>is</a:t>
            </a:r>
            <a:r>
              <a:rPr lang="de-DE" dirty="0"/>
              <a:t> ALCOA++ ?</a:t>
            </a:r>
            <a:endParaRPr lang="en-DE" dirty="0"/>
          </a:p>
        </p:txBody>
      </p:sp>
      <p:sp>
        <p:nvSpPr>
          <p:cNvPr id="3" name="Content Placeholder 2">
            <a:extLst>
              <a:ext uri="{FF2B5EF4-FFF2-40B4-BE49-F238E27FC236}">
                <a16:creationId xmlns:a16="http://schemas.microsoft.com/office/drawing/2014/main" id="{F9FC48E4-CCBB-6E3C-6473-C2BDAD2944A5}"/>
              </a:ext>
            </a:extLst>
          </p:cNvPr>
          <p:cNvSpPr>
            <a:spLocks noGrp="1"/>
          </p:cNvSpPr>
          <p:nvPr>
            <p:ph idx="1"/>
          </p:nvPr>
        </p:nvSpPr>
        <p:spPr/>
        <p:txBody>
          <a:bodyPr/>
          <a:lstStyle/>
          <a:p>
            <a:pPr marL="0" indent="0">
              <a:buNone/>
            </a:pPr>
            <a:r>
              <a:rPr lang="en-US" dirty="0"/>
              <a:t>ALCOA+ is a gold standard framework for ensuring data integrity—the accuracy, consistency, and reliability of data—especially in highly regulated industries like pharmaceuticals, biotechnology, and clinical research. </a:t>
            </a:r>
          </a:p>
          <a:p>
            <a:pPr marL="0" indent="0">
              <a:buNone/>
            </a:pPr>
            <a:endParaRPr lang="en-US" dirty="0"/>
          </a:p>
          <a:p>
            <a:pPr marL="0" indent="0">
              <a:buNone/>
            </a:pPr>
            <a:r>
              <a:rPr lang="en-US" dirty="0"/>
              <a:t>It builds on the original ALCOA principles (Attributable, Legible, Contemporaneous, Original, Accurate) by adding four more: Complete, Consistent, Enduring, and Available. </a:t>
            </a:r>
          </a:p>
          <a:p>
            <a:pPr marL="0" indent="0">
              <a:buNone/>
            </a:pPr>
            <a:endParaRPr lang="en-US" dirty="0"/>
          </a:p>
          <a:p>
            <a:pPr marL="0" indent="0">
              <a:buNone/>
            </a:pPr>
            <a:r>
              <a:rPr lang="en-US" dirty="0"/>
              <a:t>Together, these principles provide a comprehensive guide for organizations to maintain trustworthy, auditable, and compliant data throughout its lifecycle.</a:t>
            </a:r>
            <a:endParaRPr lang="en-DE" dirty="0"/>
          </a:p>
        </p:txBody>
      </p:sp>
    </p:spTree>
    <p:extLst>
      <p:ext uri="{BB962C8B-B14F-4D97-AF65-F5344CB8AC3E}">
        <p14:creationId xmlns:p14="http://schemas.microsoft.com/office/powerpoint/2010/main" val="1277036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1660-8F15-5AD2-2256-C6AE9CA21C3E}"/>
              </a:ext>
            </a:extLst>
          </p:cNvPr>
          <p:cNvSpPr>
            <a:spLocks noGrp="1"/>
          </p:cNvSpPr>
          <p:nvPr>
            <p:ph type="title"/>
          </p:nvPr>
        </p:nvSpPr>
        <p:spPr/>
        <p:txBody>
          <a:bodyPr/>
          <a:lstStyle/>
          <a:p>
            <a:r>
              <a:rPr lang="de-DE" dirty="0"/>
              <a:t>The 9 ALCOA+ </a:t>
            </a:r>
            <a:r>
              <a:rPr lang="de-DE" dirty="0" err="1"/>
              <a:t>Principles</a:t>
            </a:r>
            <a:endParaRPr lang="en-DE" dirty="0"/>
          </a:p>
        </p:txBody>
      </p:sp>
      <p:sp>
        <p:nvSpPr>
          <p:cNvPr id="3" name="Content Placeholder 2">
            <a:extLst>
              <a:ext uri="{FF2B5EF4-FFF2-40B4-BE49-F238E27FC236}">
                <a16:creationId xmlns:a16="http://schemas.microsoft.com/office/drawing/2014/main" id="{E7C218E2-0F3B-E8EA-7408-E124F02C648C}"/>
              </a:ext>
            </a:extLst>
          </p:cNvPr>
          <p:cNvSpPr>
            <a:spLocks noGrp="1"/>
          </p:cNvSpPr>
          <p:nvPr>
            <p:ph idx="1"/>
          </p:nvPr>
        </p:nvSpPr>
        <p:spPr/>
        <p:txBody>
          <a:bodyPr>
            <a:normAutofit fontScale="92500" lnSpcReduction="20000"/>
          </a:bodyPr>
          <a:lstStyle/>
          <a:p>
            <a:pPr marL="0" indent="0">
              <a:buNone/>
            </a:pPr>
            <a:r>
              <a:rPr lang="en-US" b="1" dirty="0"/>
              <a:t>Principle</a:t>
            </a:r>
            <a:r>
              <a:rPr lang="en-US" dirty="0"/>
              <a:t>		</a:t>
            </a:r>
            <a:r>
              <a:rPr lang="en-US" b="1" dirty="0"/>
              <a:t>Definition</a:t>
            </a:r>
          </a:p>
          <a:p>
            <a:r>
              <a:rPr lang="en-US" dirty="0"/>
              <a:t>Attributable	Data must be clearly linked to the person who generated or modified it.</a:t>
            </a:r>
          </a:p>
          <a:p>
            <a:r>
              <a:rPr lang="en-US" dirty="0"/>
              <a:t>Legible	Data must be readable, permanent, and accessible throughout its lifecycle.</a:t>
            </a:r>
          </a:p>
          <a:p>
            <a:r>
              <a:rPr lang="en-US" dirty="0"/>
              <a:t>Contemporaneous	Data must be recorded at the time of the activity, not retrospectively.</a:t>
            </a:r>
          </a:p>
          <a:p>
            <a:r>
              <a:rPr lang="en-US" dirty="0"/>
              <a:t>Original	Data must be the first capture of the information, not a transcription or copy.</a:t>
            </a:r>
          </a:p>
          <a:p>
            <a:r>
              <a:rPr lang="en-US" dirty="0"/>
              <a:t>Accurate	Data must be correct, truthful, and free from errors or tampering.</a:t>
            </a:r>
          </a:p>
          <a:p>
            <a:r>
              <a:rPr lang="en-US" dirty="0"/>
              <a:t>Complete	All data, including deletions or modifications, must be retained and traceable.</a:t>
            </a:r>
          </a:p>
          <a:p>
            <a:r>
              <a:rPr lang="en-US" dirty="0"/>
              <a:t>Consistent	Data must be reliable, reproducible, and aligned with expected patterns or trends.</a:t>
            </a:r>
          </a:p>
          <a:p>
            <a:r>
              <a:rPr lang="en-US" dirty="0"/>
              <a:t>Enduring	Data must be stored on durable media and remain accessible for the required retention period.</a:t>
            </a:r>
          </a:p>
          <a:p>
            <a:r>
              <a:rPr lang="en-US" dirty="0"/>
              <a:t>Available	Data must be readily accessible to authorized personnel when needed.</a:t>
            </a:r>
            <a:endParaRPr lang="en-DE" dirty="0"/>
          </a:p>
        </p:txBody>
      </p:sp>
    </p:spTree>
    <p:extLst>
      <p:ext uri="{BB962C8B-B14F-4D97-AF65-F5344CB8AC3E}">
        <p14:creationId xmlns:p14="http://schemas.microsoft.com/office/powerpoint/2010/main" val="683167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F6D91-ABAA-98EC-F1DC-A82A9D8A161D}"/>
              </a:ext>
            </a:extLst>
          </p:cNvPr>
          <p:cNvSpPr>
            <a:spLocks noGrp="1"/>
          </p:cNvSpPr>
          <p:nvPr>
            <p:ph type="title"/>
          </p:nvPr>
        </p:nvSpPr>
        <p:spPr/>
        <p:txBody>
          <a:bodyPr/>
          <a:lstStyle/>
          <a:p>
            <a:endParaRPr lang="en-DE"/>
          </a:p>
        </p:txBody>
      </p:sp>
      <p:sp>
        <p:nvSpPr>
          <p:cNvPr id="3" name="Content Placeholder 2">
            <a:extLst>
              <a:ext uri="{FF2B5EF4-FFF2-40B4-BE49-F238E27FC236}">
                <a16:creationId xmlns:a16="http://schemas.microsoft.com/office/drawing/2014/main" id="{6C69BFBF-D37A-9A9F-5E88-A699C5A3B44A}"/>
              </a:ext>
            </a:extLst>
          </p:cNvPr>
          <p:cNvSpPr>
            <a:spLocks noGrp="1"/>
          </p:cNvSpPr>
          <p:nvPr>
            <p:ph idx="1"/>
          </p:nvPr>
        </p:nvSpPr>
        <p:spPr/>
        <p:txBody>
          <a:bodyPr/>
          <a:lstStyle/>
          <a:p>
            <a:endParaRPr lang="en-DE"/>
          </a:p>
        </p:txBody>
      </p:sp>
      <p:sp>
        <p:nvSpPr>
          <p:cNvPr id="5" name="TextBox 4">
            <a:extLst>
              <a:ext uri="{FF2B5EF4-FFF2-40B4-BE49-F238E27FC236}">
                <a16:creationId xmlns:a16="http://schemas.microsoft.com/office/drawing/2014/main" id="{42420B2A-142B-6480-C2FD-82F5E058D5D7}"/>
              </a:ext>
            </a:extLst>
          </p:cNvPr>
          <p:cNvSpPr txBox="1"/>
          <p:nvPr/>
        </p:nvSpPr>
        <p:spPr>
          <a:xfrm>
            <a:off x="5541472" y="91440"/>
            <a:ext cx="6095306" cy="646331"/>
          </a:xfrm>
          <a:prstGeom prst="rect">
            <a:avLst/>
          </a:prstGeom>
          <a:noFill/>
        </p:spPr>
        <p:txBody>
          <a:bodyPr wrap="square">
            <a:spAutoFit/>
          </a:bodyPr>
          <a:lstStyle/>
          <a:p>
            <a:r>
              <a:rPr lang="en-DE" dirty="0">
                <a:hlinkClick r:id="rId2"/>
              </a:rPr>
              <a:t>https://www.pharmaguideline.com/2018/12/alcoa-to-alcoa-plus-for-data-integrity.html</a:t>
            </a:r>
            <a:r>
              <a:rPr lang="de-DE" dirty="0"/>
              <a:t> </a:t>
            </a:r>
            <a:endParaRPr lang="en-DE" dirty="0"/>
          </a:p>
        </p:txBody>
      </p:sp>
      <p:pic>
        <p:nvPicPr>
          <p:cNvPr id="7" name="Picture 6">
            <a:extLst>
              <a:ext uri="{FF2B5EF4-FFF2-40B4-BE49-F238E27FC236}">
                <a16:creationId xmlns:a16="http://schemas.microsoft.com/office/drawing/2014/main" id="{8733FBD0-13DE-7171-3FE9-545CBF73441F}"/>
              </a:ext>
            </a:extLst>
          </p:cNvPr>
          <p:cNvPicPr>
            <a:picLocks noChangeAspect="1"/>
          </p:cNvPicPr>
          <p:nvPr/>
        </p:nvPicPr>
        <p:blipFill>
          <a:blip r:embed="rId3"/>
          <a:stretch>
            <a:fillRect/>
          </a:stretch>
        </p:blipFill>
        <p:spPr>
          <a:xfrm>
            <a:off x="2395021" y="899759"/>
            <a:ext cx="7401958" cy="5058481"/>
          </a:xfrm>
          <a:prstGeom prst="rect">
            <a:avLst/>
          </a:prstGeom>
        </p:spPr>
      </p:pic>
    </p:spTree>
    <p:extLst>
      <p:ext uri="{BB962C8B-B14F-4D97-AF65-F5344CB8AC3E}">
        <p14:creationId xmlns:p14="http://schemas.microsoft.com/office/powerpoint/2010/main" val="4061289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C0B31-B89D-CF7A-FE70-6C03F320AC0E}"/>
              </a:ext>
            </a:extLst>
          </p:cNvPr>
          <p:cNvSpPr>
            <a:spLocks noGrp="1"/>
          </p:cNvSpPr>
          <p:nvPr>
            <p:ph type="title"/>
          </p:nvPr>
        </p:nvSpPr>
        <p:spPr/>
        <p:txBody>
          <a:bodyPr/>
          <a:lstStyle/>
          <a:p>
            <a:endParaRPr lang="en-DE"/>
          </a:p>
        </p:txBody>
      </p:sp>
      <p:sp>
        <p:nvSpPr>
          <p:cNvPr id="3" name="Content Placeholder 2">
            <a:extLst>
              <a:ext uri="{FF2B5EF4-FFF2-40B4-BE49-F238E27FC236}">
                <a16:creationId xmlns:a16="http://schemas.microsoft.com/office/drawing/2014/main" id="{6BA18A75-FE9A-FC39-2B6B-15582F617325}"/>
              </a:ext>
            </a:extLst>
          </p:cNvPr>
          <p:cNvSpPr>
            <a:spLocks noGrp="1"/>
          </p:cNvSpPr>
          <p:nvPr>
            <p:ph idx="1"/>
          </p:nvPr>
        </p:nvSpPr>
        <p:spPr/>
        <p:txBody>
          <a:bodyPr/>
          <a:lstStyle/>
          <a:p>
            <a:endParaRPr lang="en-DE"/>
          </a:p>
        </p:txBody>
      </p:sp>
      <p:sp>
        <p:nvSpPr>
          <p:cNvPr id="5" name="TextBox 4">
            <a:extLst>
              <a:ext uri="{FF2B5EF4-FFF2-40B4-BE49-F238E27FC236}">
                <a16:creationId xmlns:a16="http://schemas.microsoft.com/office/drawing/2014/main" id="{B4889FE6-D526-72EB-1BAA-6B107E3D3F8F}"/>
              </a:ext>
            </a:extLst>
          </p:cNvPr>
          <p:cNvSpPr txBox="1"/>
          <p:nvPr/>
        </p:nvSpPr>
        <p:spPr>
          <a:xfrm>
            <a:off x="5479127" y="347472"/>
            <a:ext cx="6095306" cy="646331"/>
          </a:xfrm>
          <a:prstGeom prst="rect">
            <a:avLst/>
          </a:prstGeom>
          <a:noFill/>
        </p:spPr>
        <p:txBody>
          <a:bodyPr wrap="square">
            <a:spAutoFit/>
          </a:bodyPr>
          <a:lstStyle/>
          <a:p>
            <a:r>
              <a:rPr lang="en-DE" dirty="0">
                <a:hlinkClick r:id="rId2"/>
              </a:rPr>
              <a:t>https://www.pharmaguideline.com/2025/11/21-cfr-part-11-requirements-for-laboratories.html#gsc.tab=0</a:t>
            </a:r>
            <a:r>
              <a:rPr lang="de-DE" dirty="0"/>
              <a:t> </a:t>
            </a:r>
            <a:endParaRPr lang="en-DE" dirty="0"/>
          </a:p>
        </p:txBody>
      </p:sp>
      <p:pic>
        <p:nvPicPr>
          <p:cNvPr id="7" name="Picture 6">
            <a:extLst>
              <a:ext uri="{FF2B5EF4-FFF2-40B4-BE49-F238E27FC236}">
                <a16:creationId xmlns:a16="http://schemas.microsoft.com/office/drawing/2014/main" id="{BCB54C45-8FFE-4FD5-BC2F-DF9CB6F3EBEF}"/>
              </a:ext>
            </a:extLst>
          </p:cNvPr>
          <p:cNvPicPr>
            <a:picLocks noChangeAspect="1"/>
          </p:cNvPicPr>
          <p:nvPr/>
        </p:nvPicPr>
        <p:blipFill>
          <a:blip r:embed="rId3"/>
          <a:stretch>
            <a:fillRect/>
          </a:stretch>
        </p:blipFill>
        <p:spPr>
          <a:xfrm>
            <a:off x="2332584" y="1136247"/>
            <a:ext cx="7468642" cy="4934639"/>
          </a:xfrm>
          <a:prstGeom prst="rect">
            <a:avLst/>
          </a:prstGeom>
        </p:spPr>
      </p:pic>
    </p:spTree>
    <p:extLst>
      <p:ext uri="{BB962C8B-B14F-4D97-AF65-F5344CB8AC3E}">
        <p14:creationId xmlns:p14="http://schemas.microsoft.com/office/powerpoint/2010/main" val="1037372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3353D-68B2-6D52-C309-E575077F42D5}"/>
              </a:ext>
            </a:extLst>
          </p:cNvPr>
          <p:cNvSpPr>
            <a:spLocks noGrp="1"/>
          </p:cNvSpPr>
          <p:nvPr>
            <p:ph type="title"/>
          </p:nvPr>
        </p:nvSpPr>
        <p:spPr/>
        <p:txBody>
          <a:bodyPr/>
          <a:lstStyle/>
          <a:p>
            <a:r>
              <a:rPr lang="de-DE" dirty="0"/>
              <a:t>Annex 11 Computer System Validation</a:t>
            </a:r>
            <a:endParaRPr lang="en-DE" dirty="0"/>
          </a:p>
        </p:txBody>
      </p:sp>
      <p:pic>
        <p:nvPicPr>
          <p:cNvPr id="5" name="Content Placeholder 4">
            <a:extLst>
              <a:ext uri="{FF2B5EF4-FFF2-40B4-BE49-F238E27FC236}">
                <a16:creationId xmlns:a16="http://schemas.microsoft.com/office/drawing/2014/main" id="{D04DBC67-CBB7-6920-14F2-734F72913D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7150" y="1563688"/>
            <a:ext cx="6858000" cy="4572000"/>
          </a:xfrm>
          <a:prstGeom prst="rect">
            <a:avLst/>
          </a:prstGeom>
        </p:spPr>
      </p:pic>
    </p:spTree>
    <p:extLst>
      <p:ext uri="{BB962C8B-B14F-4D97-AF65-F5344CB8AC3E}">
        <p14:creationId xmlns:p14="http://schemas.microsoft.com/office/powerpoint/2010/main" val="1144672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61A954B2-10D4-C5F5-FCC7-5BF515EB5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329" y="-13447"/>
            <a:ext cx="10327341" cy="6884894"/>
          </a:xfrm>
          <a:prstGeom prst="rect">
            <a:avLst/>
          </a:prstGeom>
        </p:spPr>
      </p:pic>
    </p:spTree>
    <p:extLst>
      <p:ext uri="{BB962C8B-B14F-4D97-AF65-F5344CB8AC3E}">
        <p14:creationId xmlns:p14="http://schemas.microsoft.com/office/powerpoint/2010/main" val="1561033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82BB7-B942-A845-6CAB-9560C1FD590C}"/>
              </a:ext>
            </a:extLst>
          </p:cNvPr>
          <p:cNvSpPr>
            <a:spLocks noGrp="1"/>
          </p:cNvSpPr>
          <p:nvPr>
            <p:ph type="title"/>
          </p:nvPr>
        </p:nvSpPr>
        <p:spPr/>
        <p:txBody>
          <a:bodyPr>
            <a:normAutofit fontScale="90000"/>
          </a:bodyPr>
          <a:lstStyle/>
          <a:p>
            <a:r>
              <a:rPr lang="en-US" dirty="0"/>
              <a:t>Why Traditional Historians Struggle &amp; Are Expensive</a:t>
            </a:r>
            <a:endParaRPr lang="en-DE" dirty="0"/>
          </a:p>
        </p:txBody>
      </p:sp>
      <p:sp>
        <p:nvSpPr>
          <p:cNvPr id="3" name="Content Placeholder 2">
            <a:extLst>
              <a:ext uri="{FF2B5EF4-FFF2-40B4-BE49-F238E27FC236}">
                <a16:creationId xmlns:a16="http://schemas.microsoft.com/office/drawing/2014/main" id="{15E4E7DE-F9AE-7C38-F130-FE799836E426}"/>
              </a:ext>
            </a:extLst>
          </p:cNvPr>
          <p:cNvSpPr>
            <a:spLocks noGrp="1"/>
          </p:cNvSpPr>
          <p:nvPr>
            <p:ph idx="1"/>
          </p:nvPr>
        </p:nvSpPr>
        <p:spPr>
          <a:xfrm>
            <a:off x="7675140" y="1563624"/>
            <a:ext cx="2981776" cy="4572000"/>
          </a:xfrm>
        </p:spPr>
        <p:txBody>
          <a:bodyPr/>
          <a:lstStyle/>
          <a:p>
            <a:pPr marL="0" indent="0">
              <a:buNone/>
            </a:pPr>
            <a:r>
              <a:rPr lang="de-DE" b="1" dirty="0"/>
              <a:t>Commercial Constraints</a:t>
            </a:r>
          </a:p>
          <a:p>
            <a:r>
              <a:rPr lang="de-DE" dirty="0" err="1"/>
              <a:t>Proprietary</a:t>
            </a:r>
            <a:r>
              <a:rPr lang="de-DE" dirty="0"/>
              <a:t> </a:t>
            </a:r>
            <a:r>
              <a:rPr lang="de-DE" dirty="0" err="1"/>
              <a:t>licensing</a:t>
            </a:r>
            <a:r>
              <a:rPr lang="de-DE" dirty="0"/>
              <a:t> (tags / </a:t>
            </a:r>
            <a:r>
              <a:rPr lang="de-DE" dirty="0" err="1"/>
              <a:t>volume-based</a:t>
            </a:r>
            <a:r>
              <a:rPr lang="de-DE" dirty="0"/>
              <a:t>)</a:t>
            </a:r>
          </a:p>
          <a:p>
            <a:r>
              <a:rPr lang="it-IT" dirty="0" err="1"/>
              <a:t>Vendor</a:t>
            </a:r>
            <a:r>
              <a:rPr lang="it-IT" dirty="0"/>
              <a:t> lock-in &amp; limited </a:t>
            </a:r>
            <a:r>
              <a:rPr lang="it-IT" dirty="0" err="1"/>
              <a:t>extensibility</a:t>
            </a:r>
            <a:endParaRPr lang="it-IT" dirty="0"/>
          </a:p>
          <a:p>
            <a:r>
              <a:rPr lang="it-IT" dirty="0" err="1"/>
              <a:t>Expensive</a:t>
            </a:r>
            <a:r>
              <a:rPr lang="it-IT" dirty="0"/>
              <a:t> scaling (storage, HA, </a:t>
            </a:r>
            <a:r>
              <a:rPr lang="it-IT" dirty="0" err="1"/>
              <a:t>retention</a:t>
            </a:r>
            <a:r>
              <a:rPr lang="it-IT" dirty="0"/>
              <a:t>)</a:t>
            </a:r>
          </a:p>
          <a:p>
            <a:r>
              <a:rPr lang="en-US" dirty="0"/>
              <a:t>High validation &amp; customization effort (GAMP 5 context)</a:t>
            </a:r>
            <a:endParaRPr lang="it-IT" dirty="0"/>
          </a:p>
        </p:txBody>
      </p:sp>
      <p:sp>
        <p:nvSpPr>
          <p:cNvPr id="5" name="Content Placeholder 2">
            <a:extLst>
              <a:ext uri="{FF2B5EF4-FFF2-40B4-BE49-F238E27FC236}">
                <a16:creationId xmlns:a16="http://schemas.microsoft.com/office/drawing/2014/main" id="{CC1C154F-16FC-B0BA-F6FD-86B2B349A178}"/>
              </a:ext>
            </a:extLst>
          </p:cNvPr>
          <p:cNvSpPr txBox="1">
            <a:spLocks/>
          </p:cNvSpPr>
          <p:nvPr/>
        </p:nvSpPr>
        <p:spPr>
          <a:xfrm>
            <a:off x="3795868" y="1563624"/>
            <a:ext cx="3843528" cy="457200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b="1" dirty="0"/>
              <a:t>Traditional </a:t>
            </a:r>
            <a:r>
              <a:rPr lang="de-DE" b="1" dirty="0" err="1"/>
              <a:t>Historian</a:t>
            </a:r>
            <a:r>
              <a:rPr lang="de-DE" b="1" dirty="0"/>
              <a:t> </a:t>
            </a:r>
            <a:r>
              <a:rPr lang="de-DE" b="1" dirty="0" err="1"/>
              <a:t>Limitations</a:t>
            </a:r>
            <a:endParaRPr lang="de-DE" b="1" dirty="0"/>
          </a:p>
          <a:p>
            <a:r>
              <a:rPr lang="en-US" dirty="0"/>
              <a:t>Scaling constraints </a:t>
            </a:r>
            <a:br>
              <a:rPr lang="en-US" dirty="0"/>
            </a:br>
            <a:r>
              <a:rPr lang="en-US" dirty="0"/>
              <a:t>→ not built for </a:t>
            </a:r>
            <a:r>
              <a:rPr lang="en-US" dirty="0" err="1"/>
              <a:t>IIoT</a:t>
            </a:r>
            <a:r>
              <a:rPr lang="en-US" dirty="0"/>
              <a:t> data velocity</a:t>
            </a:r>
          </a:p>
          <a:p>
            <a:r>
              <a:rPr lang="it-IT" dirty="0" err="1"/>
              <a:t>Rigid</a:t>
            </a:r>
            <a:r>
              <a:rPr lang="it-IT" dirty="0"/>
              <a:t> data model </a:t>
            </a:r>
            <a:br>
              <a:rPr lang="it-IT" dirty="0"/>
            </a:br>
            <a:r>
              <a:rPr lang="it-IT" dirty="0"/>
              <a:t>→ limited metadata, </a:t>
            </a:r>
            <a:r>
              <a:rPr lang="it-IT" dirty="0" err="1"/>
              <a:t>lineage</a:t>
            </a:r>
            <a:r>
              <a:rPr lang="it-IT" dirty="0"/>
              <a:t>, </a:t>
            </a:r>
            <a:r>
              <a:rPr lang="it-IT" dirty="0" err="1"/>
              <a:t>reproducibility</a:t>
            </a:r>
            <a:endParaRPr lang="it-IT" dirty="0"/>
          </a:p>
          <a:p>
            <a:r>
              <a:rPr lang="en-US" dirty="0"/>
              <a:t>Weak audit capabilities </a:t>
            </a:r>
            <a:br>
              <a:rPr lang="en-US" dirty="0"/>
            </a:br>
            <a:r>
              <a:rPr lang="en-US" dirty="0"/>
              <a:t>→ heavy customization for ALCOA+</a:t>
            </a:r>
          </a:p>
          <a:p>
            <a:r>
              <a:rPr lang="en-US" dirty="0"/>
              <a:t>Siloed architecture </a:t>
            </a:r>
            <a:br>
              <a:rPr lang="en-US" dirty="0"/>
            </a:br>
            <a:r>
              <a:rPr lang="en-US" dirty="0"/>
              <a:t>→ poor integration with streaming &amp; analytics</a:t>
            </a:r>
            <a:endParaRPr lang="it-IT" dirty="0"/>
          </a:p>
        </p:txBody>
      </p:sp>
      <p:sp>
        <p:nvSpPr>
          <p:cNvPr id="7" name="Content Placeholder 2">
            <a:extLst>
              <a:ext uri="{FF2B5EF4-FFF2-40B4-BE49-F238E27FC236}">
                <a16:creationId xmlns:a16="http://schemas.microsoft.com/office/drawing/2014/main" id="{58537FA9-E37A-B23E-1404-5E6E11F65DF1}"/>
              </a:ext>
            </a:extLst>
          </p:cNvPr>
          <p:cNvSpPr txBox="1">
            <a:spLocks/>
          </p:cNvSpPr>
          <p:nvPr/>
        </p:nvSpPr>
        <p:spPr>
          <a:xfrm>
            <a:off x="1185672" y="1563624"/>
            <a:ext cx="2574452" cy="457200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b="1" dirty="0"/>
              <a:t>Industrial Data Reality</a:t>
            </a:r>
          </a:p>
          <a:p>
            <a:r>
              <a:rPr lang="de-DE" dirty="0"/>
              <a:t>High-</a:t>
            </a:r>
            <a:r>
              <a:rPr lang="de-DE" dirty="0" err="1"/>
              <a:t>frequency</a:t>
            </a:r>
            <a:r>
              <a:rPr lang="de-DE" dirty="0"/>
              <a:t> </a:t>
            </a:r>
            <a:r>
              <a:rPr lang="de-DE" dirty="0" err="1"/>
              <a:t>sensor</a:t>
            </a:r>
            <a:r>
              <a:rPr lang="de-DE" dirty="0"/>
              <a:t> &amp; PLC </a:t>
            </a:r>
            <a:r>
              <a:rPr lang="de-DE" dirty="0" err="1"/>
              <a:t>data</a:t>
            </a:r>
            <a:endParaRPr lang="de-DE" dirty="0"/>
          </a:p>
          <a:p>
            <a:r>
              <a:rPr lang="it-IT" dirty="0"/>
              <a:t>Rapid data </a:t>
            </a:r>
            <a:r>
              <a:rPr lang="it-IT" dirty="0" err="1"/>
              <a:t>ingestion</a:t>
            </a:r>
            <a:r>
              <a:rPr lang="it-IT" dirty="0"/>
              <a:t> &amp; massive volume</a:t>
            </a:r>
          </a:p>
          <a:p>
            <a:r>
              <a:rPr lang="de-DE" dirty="0" err="1"/>
              <a:t>Strict</a:t>
            </a:r>
            <a:r>
              <a:rPr lang="de-DE" dirty="0"/>
              <a:t> ALCOA+ / </a:t>
            </a:r>
            <a:r>
              <a:rPr lang="de-DE" dirty="0" err="1"/>
              <a:t>audit</a:t>
            </a:r>
            <a:r>
              <a:rPr lang="de-DE" dirty="0"/>
              <a:t> </a:t>
            </a:r>
            <a:r>
              <a:rPr lang="de-DE" dirty="0" err="1"/>
              <a:t>requirements</a:t>
            </a:r>
            <a:endParaRPr lang="en-DE" dirty="0"/>
          </a:p>
        </p:txBody>
      </p:sp>
    </p:spTree>
    <p:extLst>
      <p:ext uri="{BB962C8B-B14F-4D97-AF65-F5344CB8AC3E}">
        <p14:creationId xmlns:p14="http://schemas.microsoft.com/office/powerpoint/2010/main" val="2199208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2820-BEA3-AE96-612F-BDA953DBCAF0}"/>
              </a:ext>
            </a:extLst>
          </p:cNvPr>
          <p:cNvSpPr>
            <a:spLocks noGrp="1"/>
          </p:cNvSpPr>
          <p:nvPr>
            <p:ph type="title"/>
          </p:nvPr>
        </p:nvSpPr>
        <p:spPr/>
        <p:txBody>
          <a:bodyPr>
            <a:normAutofit fontScale="90000"/>
          </a:bodyPr>
          <a:lstStyle/>
          <a:p>
            <a:r>
              <a:rPr lang="en-US" dirty="0"/>
              <a:t>The Role of Open Source in Regulated Environments</a:t>
            </a:r>
            <a:endParaRPr lang="en-DE" dirty="0"/>
          </a:p>
        </p:txBody>
      </p:sp>
      <p:sp>
        <p:nvSpPr>
          <p:cNvPr id="3" name="Content Placeholder 2">
            <a:extLst>
              <a:ext uri="{FF2B5EF4-FFF2-40B4-BE49-F238E27FC236}">
                <a16:creationId xmlns:a16="http://schemas.microsoft.com/office/drawing/2014/main" id="{F99289C0-FAD6-1554-26DF-B0A326A630C3}"/>
              </a:ext>
            </a:extLst>
          </p:cNvPr>
          <p:cNvSpPr>
            <a:spLocks noGrp="1"/>
          </p:cNvSpPr>
          <p:nvPr>
            <p:ph idx="1"/>
          </p:nvPr>
        </p:nvSpPr>
        <p:spPr/>
        <p:txBody>
          <a:bodyPr/>
          <a:lstStyle/>
          <a:p>
            <a:r>
              <a:rPr lang="en-US" dirty="0"/>
              <a:t>Benefits: transparency, extensibility, interoperability, vendor independence</a:t>
            </a:r>
          </a:p>
          <a:p>
            <a:r>
              <a:rPr lang="en-US" dirty="0"/>
              <a:t>ASF as a trusted ecosystem</a:t>
            </a:r>
          </a:p>
          <a:p>
            <a:r>
              <a:rPr lang="en-US" dirty="0"/>
              <a:t>Community governance = reduced vendor lock‑in risk</a:t>
            </a:r>
            <a:endParaRPr lang="en-DE" dirty="0"/>
          </a:p>
        </p:txBody>
      </p:sp>
    </p:spTree>
    <p:extLst>
      <p:ext uri="{BB962C8B-B14F-4D97-AF65-F5344CB8AC3E}">
        <p14:creationId xmlns:p14="http://schemas.microsoft.com/office/powerpoint/2010/main" val="13778017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CC9D7-7E42-1157-3DAB-246BCB939710}"/>
              </a:ext>
            </a:extLst>
          </p:cNvPr>
          <p:cNvSpPr>
            <a:spLocks noGrp="1"/>
          </p:cNvSpPr>
          <p:nvPr>
            <p:ph type="title"/>
          </p:nvPr>
        </p:nvSpPr>
        <p:spPr/>
        <p:txBody>
          <a:bodyPr/>
          <a:lstStyle/>
          <a:p>
            <a:r>
              <a:rPr lang="de-DE" dirty="0"/>
              <a:t>Open Infrastructure Data Commons (OIDC)</a:t>
            </a:r>
            <a:endParaRPr lang="en-DE" dirty="0"/>
          </a:p>
        </p:txBody>
      </p:sp>
      <p:sp>
        <p:nvSpPr>
          <p:cNvPr id="3" name="Content Placeholder 2">
            <a:extLst>
              <a:ext uri="{FF2B5EF4-FFF2-40B4-BE49-F238E27FC236}">
                <a16:creationId xmlns:a16="http://schemas.microsoft.com/office/drawing/2014/main" id="{E2104E24-7A70-8876-8994-D61F28228D5B}"/>
              </a:ext>
            </a:extLst>
          </p:cNvPr>
          <p:cNvSpPr>
            <a:spLocks noGrp="1"/>
          </p:cNvSpPr>
          <p:nvPr>
            <p:ph idx="1"/>
          </p:nvPr>
        </p:nvSpPr>
        <p:spPr/>
        <p:txBody>
          <a:bodyPr/>
          <a:lstStyle/>
          <a:p>
            <a:r>
              <a:rPr lang="en-US" dirty="0"/>
              <a:t>An open-source software platform for real-time monitoring, data preservation and cross-sector analysis of energy, transport and water infrastructure in low-resource settings.</a:t>
            </a:r>
          </a:p>
          <a:p>
            <a:r>
              <a:rPr lang="en-US" dirty="0">
                <a:hlinkClick r:id="rId2"/>
              </a:rPr>
              <a:t>2026 STI Solutions Book (5)-compressed.pdf</a:t>
            </a:r>
            <a:endParaRPr lang="en-DE" dirty="0"/>
          </a:p>
        </p:txBody>
      </p:sp>
      <p:pic>
        <p:nvPicPr>
          <p:cNvPr id="5" name="Picture 4">
            <a:extLst>
              <a:ext uri="{FF2B5EF4-FFF2-40B4-BE49-F238E27FC236}">
                <a16:creationId xmlns:a16="http://schemas.microsoft.com/office/drawing/2014/main" id="{0655253C-807F-58B2-ED09-E80F7943E873}"/>
              </a:ext>
            </a:extLst>
          </p:cNvPr>
          <p:cNvPicPr>
            <a:picLocks noChangeAspect="1"/>
          </p:cNvPicPr>
          <p:nvPr/>
        </p:nvPicPr>
        <p:blipFill>
          <a:blip r:embed="rId3"/>
          <a:stretch>
            <a:fillRect/>
          </a:stretch>
        </p:blipFill>
        <p:spPr>
          <a:xfrm>
            <a:off x="1459992" y="2782356"/>
            <a:ext cx="8078327" cy="3353268"/>
          </a:xfrm>
          <a:prstGeom prst="rect">
            <a:avLst/>
          </a:prstGeom>
        </p:spPr>
      </p:pic>
    </p:spTree>
    <p:extLst>
      <p:ext uri="{BB962C8B-B14F-4D97-AF65-F5344CB8AC3E}">
        <p14:creationId xmlns:p14="http://schemas.microsoft.com/office/powerpoint/2010/main" val="596654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9B8B-6F60-74AB-621A-74D285A01F87}"/>
              </a:ext>
            </a:extLst>
          </p:cNvPr>
          <p:cNvSpPr>
            <a:spLocks noGrp="1"/>
          </p:cNvSpPr>
          <p:nvPr>
            <p:ph type="title"/>
          </p:nvPr>
        </p:nvSpPr>
        <p:spPr/>
        <p:txBody>
          <a:bodyPr/>
          <a:lstStyle/>
          <a:p>
            <a:r>
              <a:rPr lang="de-DE" dirty="0"/>
              <a:t>Apache </a:t>
            </a:r>
            <a:r>
              <a:rPr lang="de-DE" dirty="0" err="1"/>
              <a:t>IoTDB</a:t>
            </a:r>
            <a:r>
              <a:rPr lang="de-DE" dirty="0"/>
              <a:t> </a:t>
            </a:r>
            <a:r>
              <a:rPr lang="de-DE" dirty="0" err="1"/>
              <a:t>as</a:t>
            </a:r>
            <a:r>
              <a:rPr lang="de-DE" dirty="0"/>
              <a:t> a GMP‑</a:t>
            </a:r>
            <a:r>
              <a:rPr lang="de-DE" dirty="0" err="1"/>
              <a:t>Compliant</a:t>
            </a:r>
            <a:r>
              <a:rPr lang="de-DE" dirty="0"/>
              <a:t> </a:t>
            </a:r>
            <a:r>
              <a:rPr lang="de-DE" dirty="0" err="1"/>
              <a:t>IIoT</a:t>
            </a:r>
            <a:r>
              <a:rPr lang="de-DE" dirty="0"/>
              <a:t> </a:t>
            </a:r>
            <a:r>
              <a:rPr lang="de-DE" dirty="0" err="1"/>
              <a:t>Historian</a:t>
            </a:r>
            <a:endParaRPr lang="en-DE" dirty="0"/>
          </a:p>
        </p:txBody>
      </p:sp>
      <p:sp>
        <p:nvSpPr>
          <p:cNvPr id="3" name="Content Placeholder 2">
            <a:extLst>
              <a:ext uri="{FF2B5EF4-FFF2-40B4-BE49-F238E27FC236}">
                <a16:creationId xmlns:a16="http://schemas.microsoft.com/office/drawing/2014/main" id="{B7F5BC89-9C1D-9362-A367-58EC76626CBC}"/>
              </a:ext>
            </a:extLst>
          </p:cNvPr>
          <p:cNvSpPr>
            <a:spLocks noGrp="1"/>
          </p:cNvSpPr>
          <p:nvPr>
            <p:ph idx="1"/>
          </p:nvPr>
        </p:nvSpPr>
        <p:spPr/>
        <p:txBody>
          <a:bodyPr/>
          <a:lstStyle/>
          <a:p>
            <a:r>
              <a:rPr lang="de-DE" dirty="0" err="1"/>
              <a:t>What</a:t>
            </a:r>
            <a:r>
              <a:rPr lang="de-DE" dirty="0"/>
              <a:t> </a:t>
            </a:r>
            <a:r>
              <a:rPr lang="de-DE" dirty="0" err="1"/>
              <a:t>IoTDB</a:t>
            </a:r>
            <a:r>
              <a:rPr lang="de-DE" dirty="0"/>
              <a:t> </a:t>
            </a:r>
            <a:r>
              <a:rPr lang="de-DE" dirty="0" err="1"/>
              <a:t>is</a:t>
            </a:r>
            <a:r>
              <a:rPr lang="de-DE" dirty="0"/>
              <a:t> (</a:t>
            </a:r>
            <a:r>
              <a:rPr lang="de-DE" dirty="0" err="1"/>
              <a:t>purpose</a:t>
            </a:r>
            <a:r>
              <a:rPr lang="de-DE" dirty="0"/>
              <a:t>, </a:t>
            </a:r>
            <a:r>
              <a:rPr lang="de-DE" dirty="0" err="1"/>
              <a:t>architecture</a:t>
            </a:r>
            <a:r>
              <a:rPr lang="de-DE" dirty="0"/>
              <a:t>, </a:t>
            </a:r>
            <a:r>
              <a:rPr lang="de-DE" dirty="0" err="1"/>
              <a:t>performance</a:t>
            </a:r>
            <a:r>
              <a:rPr lang="de-DE" dirty="0"/>
              <a:t>)</a:t>
            </a:r>
          </a:p>
          <a:p>
            <a:r>
              <a:rPr lang="de-DE" dirty="0"/>
              <a:t>Data </a:t>
            </a:r>
            <a:r>
              <a:rPr lang="de-DE" dirty="0" err="1"/>
              <a:t>model</a:t>
            </a:r>
            <a:r>
              <a:rPr lang="de-DE" dirty="0"/>
              <a:t> </a:t>
            </a:r>
            <a:r>
              <a:rPr lang="de-DE" dirty="0" err="1"/>
              <a:t>for</a:t>
            </a:r>
            <a:r>
              <a:rPr lang="de-DE" dirty="0"/>
              <a:t> </a:t>
            </a:r>
            <a:r>
              <a:rPr lang="de-DE" dirty="0" err="1"/>
              <a:t>industrial</a:t>
            </a:r>
            <a:r>
              <a:rPr lang="de-DE" dirty="0"/>
              <a:t> </a:t>
            </a:r>
            <a:r>
              <a:rPr lang="de-DE" dirty="0" err="1"/>
              <a:t>sensor</a:t>
            </a:r>
            <a:r>
              <a:rPr lang="de-DE" dirty="0"/>
              <a:t> &amp; PLC </a:t>
            </a:r>
            <a:r>
              <a:rPr lang="de-DE" dirty="0" err="1"/>
              <a:t>data</a:t>
            </a:r>
            <a:endParaRPr lang="de-DE" dirty="0"/>
          </a:p>
          <a:p>
            <a:r>
              <a:rPr lang="de-DE" dirty="0"/>
              <a:t>Audit </a:t>
            </a:r>
            <a:r>
              <a:rPr lang="de-DE" dirty="0" err="1"/>
              <a:t>trail</a:t>
            </a:r>
            <a:r>
              <a:rPr lang="de-DE" dirty="0"/>
              <a:t> </a:t>
            </a:r>
            <a:r>
              <a:rPr lang="de-DE" dirty="0" err="1"/>
              <a:t>capabilities</a:t>
            </a:r>
            <a:r>
              <a:rPr lang="de-DE" dirty="0"/>
              <a:t> and </a:t>
            </a:r>
            <a:r>
              <a:rPr lang="de-DE" dirty="0" err="1"/>
              <a:t>versioning</a:t>
            </a:r>
            <a:endParaRPr lang="de-DE" dirty="0"/>
          </a:p>
          <a:p>
            <a:r>
              <a:rPr lang="de-DE" dirty="0"/>
              <a:t>Authentication, </a:t>
            </a:r>
            <a:r>
              <a:rPr lang="de-DE" dirty="0" err="1"/>
              <a:t>authorization</a:t>
            </a:r>
            <a:r>
              <a:rPr lang="de-DE" dirty="0"/>
              <a:t>, </a:t>
            </a:r>
            <a:r>
              <a:rPr lang="de-DE" dirty="0" err="1"/>
              <a:t>encryption</a:t>
            </a:r>
            <a:r>
              <a:rPr lang="de-DE" dirty="0"/>
              <a:t>, </a:t>
            </a:r>
            <a:r>
              <a:rPr lang="de-DE" dirty="0" err="1"/>
              <a:t>retention</a:t>
            </a:r>
            <a:r>
              <a:rPr lang="de-DE" dirty="0"/>
              <a:t> </a:t>
            </a:r>
            <a:r>
              <a:rPr lang="de-DE" dirty="0" err="1"/>
              <a:t>management</a:t>
            </a:r>
            <a:endParaRPr lang="de-DE" dirty="0"/>
          </a:p>
          <a:p>
            <a:r>
              <a:rPr lang="de-DE" dirty="0"/>
              <a:t>Industrial </a:t>
            </a:r>
            <a:r>
              <a:rPr lang="de-DE" dirty="0" err="1"/>
              <a:t>communication</a:t>
            </a:r>
            <a:r>
              <a:rPr lang="de-DE" dirty="0"/>
              <a:t> </a:t>
            </a:r>
            <a:r>
              <a:rPr lang="de-DE" dirty="0" err="1"/>
              <a:t>integration</a:t>
            </a:r>
            <a:r>
              <a:rPr lang="de-DE" dirty="0"/>
              <a:t> (MQTT, OPC-UA via </a:t>
            </a:r>
            <a:r>
              <a:rPr lang="de-DE" dirty="0" err="1"/>
              <a:t>connectors</a:t>
            </a:r>
            <a:r>
              <a:rPr lang="de-DE" dirty="0"/>
              <a:t>)</a:t>
            </a:r>
            <a:endParaRPr lang="en-DE" dirty="0"/>
          </a:p>
        </p:txBody>
      </p:sp>
    </p:spTree>
    <p:extLst>
      <p:ext uri="{BB962C8B-B14F-4D97-AF65-F5344CB8AC3E}">
        <p14:creationId xmlns:p14="http://schemas.microsoft.com/office/powerpoint/2010/main" val="2972855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5FDFE-F387-11C3-AACC-E954D37FDB75}"/>
              </a:ext>
            </a:extLst>
          </p:cNvPr>
          <p:cNvSpPr>
            <a:spLocks noGrp="1"/>
          </p:cNvSpPr>
          <p:nvPr>
            <p:ph type="title"/>
          </p:nvPr>
        </p:nvSpPr>
        <p:spPr/>
        <p:txBody>
          <a:bodyPr>
            <a:normAutofit fontScale="90000"/>
          </a:bodyPr>
          <a:lstStyle/>
          <a:p>
            <a:r>
              <a:rPr lang="en-US" dirty="0"/>
              <a:t>Apache </a:t>
            </a:r>
            <a:r>
              <a:rPr lang="en-US" dirty="0" err="1"/>
              <a:t>IoTDB</a:t>
            </a:r>
            <a:r>
              <a:rPr lang="en-US" dirty="0"/>
              <a:t> Selected as One of the Top 60 Global Innovation Cases by the United Nations STI Forum</a:t>
            </a:r>
            <a:endParaRPr lang="en-DE" dirty="0"/>
          </a:p>
        </p:txBody>
      </p:sp>
      <p:sp>
        <p:nvSpPr>
          <p:cNvPr id="3" name="Content Placeholder 2">
            <a:extLst>
              <a:ext uri="{FF2B5EF4-FFF2-40B4-BE49-F238E27FC236}">
                <a16:creationId xmlns:a16="http://schemas.microsoft.com/office/drawing/2014/main" id="{0AF4C7BC-6E9F-53E9-E3FC-0468004C275A}"/>
              </a:ext>
            </a:extLst>
          </p:cNvPr>
          <p:cNvSpPr>
            <a:spLocks noGrp="1"/>
          </p:cNvSpPr>
          <p:nvPr>
            <p:ph idx="1"/>
          </p:nvPr>
        </p:nvSpPr>
        <p:spPr/>
        <p:txBody>
          <a:bodyPr/>
          <a:lstStyle/>
          <a:p>
            <a:r>
              <a:rPr lang="de-DE" dirty="0">
                <a:hlinkClick r:id="rId2"/>
              </a:rPr>
              <a:t>https://www.linkedin.com/pulse/apache-iotdb-selected-one-top-60-global-innovation-cases-o3cdc/?trackingId=FyCa%2FjGICjK2eKBbL7ZHgQ%3D%3D</a:t>
            </a:r>
            <a:r>
              <a:rPr lang="de-DE" dirty="0"/>
              <a:t> </a:t>
            </a:r>
          </a:p>
          <a:p>
            <a:r>
              <a:rPr lang="de-DE" dirty="0">
                <a:hlinkClick r:id="rId3"/>
              </a:rPr>
              <a:t>https://sdgs.un.org/tfm/STIForum2026/Solutionsbook</a:t>
            </a:r>
            <a:r>
              <a:rPr lang="de-DE" dirty="0"/>
              <a:t> </a:t>
            </a:r>
            <a:endParaRPr lang="en-DE" dirty="0"/>
          </a:p>
        </p:txBody>
      </p:sp>
    </p:spTree>
    <p:extLst>
      <p:ext uri="{BB962C8B-B14F-4D97-AF65-F5344CB8AC3E}">
        <p14:creationId xmlns:p14="http://schemas.microsoft.com/office/powerpoint/2010/main" val="3346874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55DE-6519-2E7D-A06C-142A2A1BFD36}"/>
              </a:ext>
            </a:extLst>
          </p:cNvPr>
          <p:cNvSpPr>
            <a:spLocks noGrp="1"/>
          </p:cNvSpPr>
          <p:nvPr>
            <p:ph type="title"/>
          </p:nvPr>
        </p:nvSpPr>
        <p:spPr/>
        <p:txBody>
          <a:bodyPr/>
          <a:lstStyle/>
          <a:p>
            <a:r>
              <a:rPr lang="de-DE" dirty="0"/>
              <a:t>Core </a:t>
            </a:r>
            <a:r>
              <a:rPr lang="de-DE" dirty="0" err="1"/>
              <a:t>Enabler</a:t>
            </a:r>
            <a:r>
              <a:rPr lang="de-DE" dirty="0"/>
              <a:t>: Apache </a:t>
            </a:r>
            <a:r>
              <a:rPr lang="de-DE" dirty="0" err="1"/>
              <a:t>TSFile</a:t>
            </a:r>
            <a:endParaRPr lang="en-DE" dirty="0"/>
          </a:p>
        </p:txBody>
      </p:sp>
      <p:sp>
        <p:nvSpPr>
          <p:cNvPr id="3" name="Content Placeholder 2">
            <a:extLst>
              <a:ext uri="{FF2B5EF4-FFF2-40B4-BE49-F238E27FC236}">
                <a16:creationId xmlns:a16="http://schemas.microsoft.com/office/drawing/2014/main" id="{6539C9A8-B691-0EA2-FBE1-2BAE56F2339B}"/>
              </a:ext>
            </a:extLst>
          </p:cNvPr>
          <p:cNvSpPr>
            <a:spLocks noGrp="1"/>
          </p:cNvSpPr>
          <p:nvPr>
            <p:ph idx="1"/>
          </p:nvPr>
        </p:nvSpPr>
        <p:spPr/>
        <p:txBody>
          <a:bodyPr/>
          <a:lstStyle/>
          <a:p>
            <a:r>
              <a:rPr lang="de-DE" dirty="0" err="1"/>
              <a:t>What</a:t>
            </a:r>
            <a:r>
              <a:rPr lang="de-DE" dirty="0"/>
              <a:t> </a:t>
            </a:r>
            <a:r>
              <a:rPr lang="de-DE" dirty="0" err="1"/>
              <a:t>is</a:t>
            </a:r>
            <a:r>
              <a:rPr lang="de-DE" dirty="0"/>
              <a:t> </a:t>
            </a:r>
            <a:r>
              <a:rPr lang="de-DE" dirty="0" err="1"/>
              <a:t>TSFile</a:t>
            </a:r>
            <a:r>
              <a:rPr lang="de-DE" dirty="0"/>
              <a:t>?</a:t>
            </a:r>
          </a:p>
          <a:p>
            <a:r>
              <a:rPr lang="de-DE" dirty="0" err="1"/>
              <a:t>TSFile</a:t>
            </a:r>
            <a:r>
              <a:rPr lang="de-DE" dirty="0"/>
              <a:t> </a:t>
            </a:r>
            <a:r>
              <a:rPr lang="de-DE" dirty="0" err="1"/>
              <a:t>for</a:t>
            </a:r>
            <a:r>
              <a:rPr lang="de-DE" dirty="0"/>
              <a:t> Compliance</a:t>
            </a:r>
          </a:p>
          <a:p>
            <a:pPr lvl="1"/>
            <a:r>
              <a:rPr lang="en-US" dirty="0"/>
              <a:t>Immutable design patterns for auditability / Data segmentation enabling efficient validation &amp; review</a:t>
            </a:r>
          </a:p>
          <a:p>
            <a:r>
              <a:rPr lang="de-DE" dirty="0" err="1"/>
              <a:t>TSFile</a:t>
            </a:r>
            <a:r>
              <a:rPr lang="de-DE" dirty="0"/>
              <a:t> + Apache </a:t>
            </a:r>
            <a:r>
              <a:rPr lang="de-DE" dirty="0" err="1"/>
              <a:t>Iceberg</a:t>
            </a:r>
            <a:endParaRPr lang="de-DE" dirty="0"/>
          </a:p>
          <a:p>
            <a:r>
              <a:rPr lang="de-DE" dirty="0"/>
              <a:t>Hybrid Architecture: </a:t>
            </a:r>
            <a:r>
              <a:rPr lang="de-DE" dirty="0" err="1"/>
              <a:t>IoTDB</a:t>
            </a:r>
            <a:r>
              <a:rPr lang="de-DE" dirty="0"/>
              <a:t> → </a:t>
            </a:r>
            <a:r>
              <a:rPr lang="de-DE" dirty="0" err="1"/>
              <a:t>TSFile</a:t>
            </a:r>
            <a:r>
              <a:rPr lang="de-DE" dirty="0"/>
              <a:t> → </a:t>
            </a:r>
            <a:r>
              <a:rPr lang="de-DE" dirty="0" err="1"/>
              <a:t>Iceberg</a:t>
            </a:r>
            <a:r>
              <a:rPr lang="de-DE" dirty="0"/>
              <a:t> Catalog → Data Lake Analytics</a:t>
            </a:r>
          </a:p>
          <a:p>
            <a:r>
              <a:rPr lang="de-DE" dirty="0"/>
              <a:t>Advantages </a:t>
            </a:r>
            <a:r>
              <a:rPr lang="de-DE" dirty="0" err="1"/>
              <a:t>for</a:t>
            </a:r>
            <a:r>
              <a:rPr lang="de-DE" dirty="0"/>
              <a:t> GMP: </a:t>
            </a:r>
            <a:r>
              <a:rPr lang="de-DE" dirty="0" err="1"/>
              <a:t>reproducible</a:t>
            </a:r>
            <a:r>
              <a:rPr lang="de-DE" dirty="0"/>
              <a:t> </a:t>
            </a:r>
            <a:r>
              <a:rPr lang="de-DE" dirty="0" err="1"/>
              <a:t>queries</a:t>
            </a:r>
            <a:r>
              <a:rPr lang="de-DE" dirty="0"/>
              <a:t>, </a:t>
            </a:r>
            <a:r>
              <a:rPr lang="de-DE" dirty="0" err="1"/>
              <a:t>tamper</a:t>
            </a:r>
            <a:r>
              <a:rPr lang="de-DE" dirty="0"/>
              <a:t>‑evident </a:t>
            </a:r>
            <a:r>
              <a:rPr lang="de-DE" dirty="0" err="1"/>
              <a:t>storage</a:t>
            </a:r>
            <a:r>
              <a:rPr lang="de-DE" dirty="0"/>
              <a:t>, </a:t>
            </a:r>
            <a:r>
              <a:rPr lang="de-DE" dirty="0" err="1"/>
              <a:t>lineage</a:t>
            </a:r>
            <a:endParaRPr lang="en-DE" dirty="0"/>
          </a:p>
        </p:txBody>
      </p:sp>
    </p:spTree>
    <p:extLst>
      <p:ext uri="{BB962C8B-B14F-4D97-AF65-F5344CB8AC3E}">
        <p14:creationId xmlns:p14="http://schemas.microsoft.com/office/powerpoint/2010/main" val="3113862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21888-4D22-3D67-289D-74C67BF1A476}"/>
              </a:ext>
            </a:extLst>
          </p:cNvPr>
          <p:cNvSpPr>
            <a:spLocks noGrp="1"/>
          </p:cNvSpPr>
          <p:nvPr>
            <p:ph type="title"/>
          </p:nvPr>
        </p:nvSpPr>
        <p:spPr/>
        <p:txBody>
          <a:bodyPr/>
          <a:lstStyle/>
          <a:p>
            <a:r>
              <a:rPr lang="en-US" dirty="0"/>
              <a:t>Apache Projects for an End‑to‑End </a:t>
            </a:r>
            <a:r>
              <a:rPr lang="en-US" dirty="0" err="1"/>
              <a:t>IIoT</a:t>
            </a:r>
            <a:r>
              <a:rPr lang="en-US" dirty="0"/>
              <a:t> Pipeline</a:t>
            </a:r>
            <a:endParaRPr lang="en-DE" dirty="0"/>
          </a:p>
        </p:txBody>
      </p:sp>
      <p:sp>
        <p:nvSpPr>
          <p:cNvPr id="3" name="Content Placeholder 2">
            <a:extLst>
              <a:ext uri="{FF2B5EF4-FFF2-40B4-BE49-F238E27FC236}">
                <a16:creationId xmlns:a16="http://schemas.microsoft.com/office/drawing/2014/main" id="{06900F0C-8F02-893B-7599-44269898B59B}"/>
              </a:ext>
            </a:extLst>
          </p:cNvPr>
          <p:cNvSpPr>
            <a:spLocks noGrp="1"/>
          </p:cNvSpPr>
          <p:nvPr>
            <p:ph idx="1"/>
          </p:nvPr>
        </p:nvSpPr>
        <p:spPr/>
        <p:txBody>
          <a:bodyPr>
            <a:normAutofit lnSpcReduction="10000"/>
          </a:bodyPr>
          <a:lstStyle/>
          <a:p>
            <a:r>
              <a:rPr lang="de-DE" dirty="0"/>
              <a:t>Messaging &amp; Ingestion</a:t>
            </a:r>
          </a:p>
          <a:p>
            <a:pPr lvl="1"/>
            <a:r>
              <a:rPr lang="de-DE" dirty="0"/>
              <a:t>Apache Kafka</a:t>
            </a:r>
          </a:p>
          <a:p>
            <a:pPr lvl="1"/>
            <a:r>
              <a:rPr lang="de-DE" dirty="0"/>
              <a:t>Apache </a:t>
            </a:r>
            <a:r>
              <a:rPr lang="de-DE" dirty="0" err="1"/>
              <a:t>BifroMQ</a:t>
            </a:r>
            <a:endParaRPr lang="de-DE" dirty="0"/>
          </a:p>
          <a:p>
            <a:r>
              <a:rPr lang="de-DE" dirty="0"/>
              <a:t>Stream Processing &amp; Validation</a:t>
            </a:r>
          </a:p>
          <a:p>
            <a:pPr lvl="1"/>
            <a:r>
              <a:rPr lang="de-DE" dirty="0"/>
              <a:t>Apache Flink</a:t>
            </a:r>
          </a:p>
          <a:p>
            <a:pPr lvl="1"/>
            <a:r>
              <a:rPr lang="de-DE" dirty="0"/>
              <a:t>Apache Beam</a:t>
            </a:r>
          </a:p>
          <a:p>
            <a:r>
              <a:rPr lang="de-DE" dirty="0"/>
              <a:t>Data Integration &amp; Edge</a:t>
            </a:r>
          </a:p>
          <a:p>
            <a:pPr lvl="1"/>
            <a:r>
              <a:rPr lang="de-DE" dirty="0"/>
              <a:t>Apache </a:t>
            </a:r>
            <a:r>
              <a:rPr lang="de-DE" dirty="0" err="1"/>
              <a:t>NiFi</a:t>
            </a:r>
            <a:endParaRPr lang="de-DE" dirty="0"/>
          </a:p>
          <a:p>
            <a:pPr lvl="1"/>
            <a:r>
              <a:rPr lang="de-DE" dirty="0"/>
              <a:t>Apache PLC4X</a:t>
            </a:r>
          </a:p>
          <a:p>
            <a:r>
              <a:rPr lang="de-DE" dirty="0"/>
              <a:t>Data Analytics</a:t>
            </a:r>
          </a:p>
          <a:p>
            <a:pPr lvl="1"/>
            <a:r>
              <a:rPr lang="de-DE" dirty="0"/>
              <a:t>Apache </a:t>
            </a:r>
            <a:r>
              <a:rPr lang="de-DE" dirty="0" err="1"/>
              <a:t>StreamPipes</a:t>
            </a:r>
            <a:endParaRPr lang="de-DE" dirty="0"/>
          </a:p>
          <a:p>
            <a:pPr lvl="1"/>
            <a:r>
              <a:rPr lang="de-DE" dirty="0"/>
              <a:t>Apache </a:t>
            </a:r>
            <a:r>
              <a:rPr lang="de-DE" dirty="0" err="1"/>
              <a:t>Superset</a:t>
            </a:r>
            <a:endParaRPr lang="en-DE" dirty="0"/>
          </a:p>
        </p:txBody>
      </p:sp>
    </p:spTree>
    <p:extLst>
      <p:ext uri="{BB962C8B-B14F-4D97-AF65-F5344CB8AC3E}">
        <p14:creationId xmlns:p14="http://schemas.microsoft.com/office/powerpoint/2010/main" val="1306956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8A513-343D-AF1A-D12A-859E30874B22}"/>
              </a:ext>
            </a:extLst>
          </p:cNvPr>
          <p:cNvSpPr>
            <a:spLocks noGrp="1"/>
          </p:cNvSpPr>
          <p:nvPr>
            <p:ph type="title"/>
          </p:nvPr>
        </p:nvSpPr>
        <p:spPr/>
        <p:txBody>
          <a:bodyPr/>
          <a:lstStyle/>
          <a:p>
            <a:r>
              <a:rPr lang="de-DE" dirty="0"/>
              <a:t>Reference Architecture</a:t>
            </a:r>
            <a:endParaRPr lang="en-DE" dirty="0"/>
          </a:p>
        </p:txBody>
      </p:sp>
      <p:sp>
        <p:nvSpPr>
          <p:cNvPr id="3" name="Content Placeholder 2">
            <a:extLst>
              <a:ext uri="{FF2B5EF4-FFF2-40B4-BE49-F238E27FC236}">
                <a16:creationId xmlns:a16="http://schemas.microsoft.com/office/drawing/2014/main" id="{F78D807B-1CA7-2FFF-861F-E11F4EC8EB97}"/>
              </a:ext>
            </a:extLst>
          </p:cNvPr>
          <p:cNvSpPr>
            <a:spLocks noGrp="1"/>
          </p:cNvSpPr>
          <p:nvPr>
            <p:ph idx="1"/>
          </p:nvPr>
        </p:nvSpPr>
        <p:spPr/>
        <p:txBody>
          <a:bodyPr/>
          <a:lstStyle/>
          <a:p>
            <a:r>
              <a:rPr lang="de-DE" dirty="0"/>
              <a:t>A </a:t>
            </a:r>
            <a:r>
              <a:rPr lang="de-DE" dirty="0" err="1"/>
              <a:t>full</a:t>
            </a:r>
            <a:r>
              <a:rPr lang="de-DE" dirty="0"/>
              <a:t> </a:t>
            </a:r>
            <a:r>
              <a:rPr lang="de-DE" dirty="0" err="1"/>
              <a:t>IIoT</a:t>
            </a:r>
            <a:r>
              <a:rPr lang="de-DE" dirty="0"/>
              <a:t> + GMP </a:t>
            </a:r>
            <a:r>
              <a:rPr lang="de-DE" dirty="0" err="1"/>
              <a:t>reference</a:t>
            </a:r>
            <a:r>
              <a:rPr lang="de-DE" dirty="0"/>
              <a:t> </a:t>
            </a:r>
            <a:r>
              <a:rPr lang="de-DE" dirty="0" err="1"/>
              <a:t>architecture</a:t>
            </a:r>
            <a:r>
              <a:rPr lang="de-DE" dirty="0"/>
              <a:t> </a:t>
            </a:r>
            <a:r>
              <a:rPr lang="de-DE" dirty="0" err="1"/>
              <a:t>combining</a:t>
            </a:r>
            <a:r>
              <a:rPr lang="de-DE" dirty="0"/>
              <a:t> Apache </a:t>
            </a:r>
            <a:r>
              <a:rPr lang="de-DE" dirty="0" err="1"/>
              <a:t>projects</a:t>
            </a:r>
            <a:r>
              <a:rPr lang="de-DE" dirty="0"/>
              <a:t>:</a:t>
            </a:r>
          </a:p>
          <a:p>
            <a:r>
              <a:rPr lang="de-DE" dirty="0"/>
              <a:t>Sensors / PLCs / Edge</a:t>
            </a:r>
          </a:p>
          <a:p>
            <a:pPr marL="0" indent="0">
              <a:buNone/>
            </a:pPr>
            <a:r>
              <a:rPr lang="de-DE" dirty="0"/>
              <a:t>→ </a:t>
            </a:r>
            <a:r>
              <a:rPr lang="de-DE" dirty="0" err="1"/>
              <a:t>BifroMQ</a:t>
            </a:r>
            <a:r>
              <a:rPr lang="de-DE" dirty="0"/>
              <a:t> (MQTT) / PLC4X→ Kafka → Flink/Beam </a:t>
            </a:r>
            <a:r>
              <a:rPr lang="de-DE" dirty="0" err="1"/>
              <a:t>processing</a:t>
            </a:r>
            <a:r>
              <a:rPr lang="de-DE" dirty="0"/>
              <a:t>→ </a:t>
            </a:r>
            <a:r>
              <a:rPr lang="de-DE" dirty="0" err="1"/>
              <a:t>IoTDB</a:t>
            </a:r>
            <a:r>
              <a:rPr lang="de-DE" dirty="0"/>
              <a:t> (</a:t>
            </a:r>
            <a:r>
              <a:rPr lang="de-DE" dirty="0" err="1"/>
              <a:t>hot</a:t>
            </a:r>
            <a:r>
              <a:rPr lang="de-DE" dirty="0"/>
              <a:t> </a:t>
            </a:r>
            <a:r>
              <a:rPr lang="de-DE" dirty="0" err="1"/>
              <a:t>historian</a:t>
            </a:r>
            <a:r>
              <a:rPr lang="de-DE" dirty="0"/>
              <a:t>, </a:t>
            </a:r>
            <a:r>
              <a:rPr lang="de-DE" dirty="0" err="1"/>
              <a:t>TSFile</a:t>
            </a:r>
            <a:r>
              <a:rPr lang="de-DE" dirty="0"/>
              <a:t>)→ </a:t>
            </a:r>
            <a:r>
              <a:rPr lang="de-DE" dirty="0" err="1"/>
              <a:t>Iceberg</a:t>
            </a:r>
            <a:r>
              <a:rPr lang="de-DE" dirty="0"/>
              <a:t> (</a:t>
            </a:r>
            <a:r>
              <a:rPr lang="de-DE" dirty="0" err="1"/>
              <a:t>cold</a:t>
            </a:r>
            <a:r>
              <a:rPr lang="de-DE" dirty="0"/>
              <a:t> </a:t>
            </a:r>
            <a:r>
              <a:rPr lang="de-DE" dirty="0" err="1"/>
              <a:t>compliant</a:t>
            </a:r>
            <a:r>
              <a:rPr lang="de-DE" dirty="0"/>
              <a:t> </a:t>
            </a:r>
            <a:r>
              <a:rPr lang="de-DE" dirty="0" err="1"/>
              <a:t>archive</a:t>
            </a:r>
            <a:r>
              <a:rPr lang="de-DE" dirty="0"/>
              <a:t>)→ </a:t>
            </a:r>
            <a:r>
              <a:rPr lang="de-DE" dirty="0" err="1"/>
              <a:t>Superset</a:t>
            </a:r>
            <a:r>
              <a:rPr lang="de-DE" dirty="0"/>
              <a:t> / BI </a:t>
            </a:r>
            <a:r>
              <a:rPr lang="de-DE" dirty="0" err="1"/>
              <a:t>tools</a:t>
            </a:r>
            <a:endParaRPr lang="de-DE" dirty="0"/>
          </a:p>
          <a:p>
            <a:pPr marL="0" indent="0">
              <a:buNone/>
            </a:pPr>
            <a:endParaRPr lang="de-DE" dirty="0"/>
          </a:p>
          <a:p>
            <a:pPr marL="0" indent="0">
              <a:buNone/>
            </a:pPr>
            <a:r>
              <a:rPr lang="de-DE" dirty="0"/>
              <a:t>Include </a:t>
            </a:r>
            <a:r>
              <a:rPr lang="de-DE" dirty="0" err="1"/>
              <a:t>data</a:t>
            </a:r>
            <a:r>
              <a:rPr lang="de-DE" dirty="0"/>
              <a:t> </a:t>
            </a:r>
            <a:r>
              <a:rPr lang="de-DE" dirty="0" err="1"/>
              <a:t>governance</a:t>
            </a:r>
            <a:r>
              <a:rPr lang="de-DE" dirty="0"/>
              <a:t>, </a:t>
            </a:r>
            <a:r>
              <a:rPr lang="de-DE" dirty="0" err="1"/>
              <a:t>audit</a:t>
            </a:r>
            <a:r>
              <a:rPr lang="de-DE" dirty="0"/>
              <a:t> </a:t>
            </a:r>
            <a:r>
              <a:rPr lang="de-DE" dirty="0" err="1"/>
              <a:t>trail</a:t>
            </a:r>
            <a:r>
              <a:rPr lang="de-DE" dirty="0"/>
              <a:t> </a:t>
            </a:r>
            <a:r>
              <a:rPr lang="de-DE" dirty="0" err="1"/>
              <a:t>storage</a:t>
            </a:r>
            <a:r>
              <a:rPr lang="de-DE" dirty="0"/>
              <a:t>, </a:t>
            </a:r>
            <a:r>
              <a:rPr lang="de-DE" dirty="0" err="1"/>
              <a:t>retention</a:t>
            </a:r>
            <a:r>
              <a:rPr lang="de-DE" dirty="0"/>
              <a:t> </a:t>
            </a:r>
            <a:r>
              <a:rPr lang="de-DE" dirty="0" err="1"/>
              <a:t>policies</a:t>
            </a:r>
            <a:r>
              <a:rPr lang="de-DE" dirty="0"/>
              <a:t>.</a:t>
            </a:r>
            <a:endParaRPr lang="en-DE" dirty="0"/>
          </a:p>
        </p:txBody>
      </p:sp>
      <p:pic>
        <p:nvPicPr>
          <p:cNvPr id="6" name="Picture 5">
            <a:extLst>
              <a:ext uri="{FF2B5EF4-FFF2-40B4-BE49-F238E27FC236}">
                <a16:creationId xmlns:a16="http://schemas.microsoft.com/office/drawing/2014/main" id="{647695AD-4DE9-16D9-DAB5-E31AAADDEDBC}"/>
              </a:ext>
            </a:extLst>
          </p:cNvPr>
          <p:cNvPicPr>
            <a:picLocks noChangeAspect="1"/>
          </p:cNvPicPr>
          <p:nvPr/>
        </p:nvPicPr>
        <p:blipFill>
          <a:blip r:embed="rId3"/>
          <a:stretch>
            <a:fillRect/>
          </a:stretch>
        </p:blipFill>
        <p:spPr>
          <a:xfrm>
            <a:off x="7747869" y="3429000"/>
            <a:ext cx="4142984" cy="2761989"/>
          </a:xfrm>
          <a:prstGeom prst="rect">
            <a:avLst/>
          </a:prstGeom>
        </p:spPr>
      </p:pic>
    </p:spTree>
    <p:extLst>
      <p:ext uri="{BB962C8B-B14F-4D97-AF65-F5344CB8AC3E}">
        <p14:creationId xmlns:p14="http://schemas.microsoft.com/office/powerpoint/2010/main" val="3233857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9DC5E-BF33-357E-1E02-938C6DB62156}"/>
              </a:ext>
            </a:extLst>
          </p:cNvPr>
          <p:cNvSpPr>
            <a:spLocks noGrp="1"/>
          </p:cNvSpPr>
          <p:nvPr>
            <p:ph type="title"/>
          </p:nvPr>
        </p:nvSpPr>
        <p:spPr/>
        <p:txBody>
          <a:bodyPr/>
          <a:lstStyle/>
          <a:p>
            <a:r>
              <a:rPr lang="de-DE" dirty="0"/>
              <a:t>Compliance </a:t>
            </a:r>
            <a:r>
              <a:rPr lang="de-DE" dirty="0" err="1"/>
              <a:t>Considerations</a:t>
            </a:r>
            <a:endParaRPr lang="en-DE" dirty="0"/>
          </a:p>
        </p:txBody>
      </p:sp>
      <p:sp>
        <p:nvSpPr>
          <p:cNvPr id="3" name="Content Placeholder 2">
            <a:extLst>
              <a:ext uri="{FF2B5EF4-FFF2-40B4-BE49-F238E27FC236}">
                <a16:creationId xmlns:a16="http://schemas.microsoft.com/office/drawing/2014/main" id="{D2106BFF-F355-8868-BD2F-11E4F22236BA}"/>
              </a:ext>
            </a:extLst>
          </p:cNvPr>
          <p:cNvSpPr>
            <a:spLocks noGrp="1"/>
          </p:cNvSpPr>
          <p:nvPr>
            <p:ph idx="1"/>
          </p:nvPr>
        </p:nvSpPr>
        <p:spPr/>
        <p:txBody>
          <a:bodyPr/>
          <a:lstStyle/>
          <a:p>
            <a:r>
              <a:rPr lang="de-DE" dirty="0"/>
              <a:t>Annex 11 </a:t>
            </a:r>
            <a:r>
              <a:rPr lang="de-DE" dirty="0" err="1"/>
              <a:t>chapter</a:t>
            </a:r>
            <a:r>
              <a:rPr lang="de-DE" dirty="0"/>
              <a:t> </a:t>
            </a:r>
            <a:r>
              <a:rPr lang="de-DE" dirty="0" err="1"/>
              <a:t>mapping</a:t>
            </a:r>
            <a:r>
              <a:rPr lang="de-DE" dirty="0"/>
              <a:t> </a:t>
            </a:r>
            <a:r>
              <a:rPr lang="de-DE" dirty="0" err="1"/>
              <a:t>to</a:t>
            </a:r>
            <a:r>
              <a:rPr lang="de-DE" dirty="0"/>
              <a:t> open-source </a:t>
            </a:r>
            <a:r>
              <a:rPr lang="de-DE" dirty="0" err="1"/>
              <a:t>capabilities</a:t>
            </a:r>
            <a:endParaRPr lang="de-DE" dirty="0"/>
          </a:p>
          <a:p>
            <a:r>
              <a:rPr lang="de-DE" dirty="0"/>
              <a:t>21 CFR Part 11 </a:t>
            </a:r>
            <a:r>
              <a:rPr lang="de-DE" dirty="0" err="1"/>
              <a:t>mapping</a:t>
            </a:r>
            <a:r>
              <a:rPr lang="de-DE" dirty="0"/>
              <a:t> (</a:t>
            </a:r>
            <a:r>
              <a:rPr lang="de-DE" dirty="0" err="1"/>
              <a:t>audit</a:t>
            </a:r>
            <a:r>
              <a:rPr lang="de-DE" dirty="0"/>
              <a:t> </a:t>
            </a:r>
            <a:r>
              <a:rPr lang="de-DE" dirty="0" err="1"/>
              <a:t>trails</a:t>
            </a:r>
            <a:r>
              <a:rPr lang="de-DE" dirty="0"/>
              <a:t>, </a:t>
            </a:r>
            <a:r>
              <a:rPr lang="de-DE" dirty="0" err="1"/>
              <a:t>user</a:t>
            </a:r>
            <a:r>
              <a:rPr lang="de-DE" dirty="0"/>
              <a:t> </a:t>
            </a:r>
            <a:r>
              <a:rPr lang="de-DE" dirty="0" err="1"/>
              <a:t>controls</a:t>
            </a:r>
            <a:r>
              <a:rPr lang="de-DE" dirty="0"/>
              <a:t>, </a:t>
            </a:r>
            <a:r>
              <a:rPr lang="de-DE" dirty="0" err="1"/>
              <a:t>signature</a:t>
            </a:r>
            <a:r>
              <a:rPr lang="de-DE" dirty="0"/>
              <a:t> </a:t>
            </a:r>
            <a:r>
              <a:rPr lang="de-DE" dirty="0" err="1"/>
              <a:t>concepts</a:t>
            </a:r>
            <a:r>
              <a:rPr lang="de-DE" dirty="0"/>
              <a:t>)</a:t>
            </a:r>
          </a:p>
          <a:p>
            <a:r>
              <a:rPr lang="de-DE" dirty="0"/>
              <a:t>Validation </a:t>
            </a:r>
            <a:r>
              <a:rPr lang="de-DE" dirty="0" err="1"/>
              <a:t>strategy</a:t>
            </a:r>
            <a:r>
              <a:rPr lang="de-DE" dirty="0"/>
              <a:t> (GAMP 5, </a:t>
            </a:r>
            <a:r>
              <a:rPr lang="de-DE" dirty="0" err="1"/>
              <a:t>system</a:t>
            </a:r>
            <a:r>
              <a:rPr lang="de-DE" dirty="0"/>
              <a:t> </a:t>
            </a:r>
            <a:r>
              <a:rPr lang="de-DE" dirty="0" err="1"/>
              <a:t>boundaries</a:t>
            </a:r>
            <a:r>
              <a:rPr lang="de-DE" dirty="0"/>
              <a:t>, IQ/OQ/PQ)</a:t>
            </a:r>
            <a:endParaRPr lang="en-DE" dirty="0"/>
          </a:p>
        </p:txBody>
      </p:sp>
    </p:spTree>
    <p:extLst>
      <p:ext uri="{BB962C8B-B14F-4D97-AF65-F5344CB8AC3E}">
        <p14:creationId xmlns:p14="http://schemas.microsoft.com/office/powerpoint/2010/main" val="2727455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BE0BF-D645-0E9E-E039-EB894E90246F}"/>
              </a:ext>
            </a:extLst>
          </p:cNvPr>
          <p:cNvSpPr>
            <a:spLocks noGrp="1"/>
          </p:cNvSpPr>
          <p:nvPr>
            <p:ph type="title"/>
          </p:nvPr>
        </p:nvSpPr>
        <p:spPr/>
        <p:txBody>
          <a:bodyPr/>
          <a:lstStyle/>
          <a:p>
            <a:r>
              <a:rPr lang="de-DE" dirty="0"/>
              <a:t>Case </a:t>
            </a:r>
            <a:r>
              <a:rPr lang="de-DE" dirty="0" err="1"/>
              <a:t>Example</a:t>
            </a:r>
            <a:endParaRPr lang="en-DE" dirty="0"/>
          </a:p>
        </p:txBody>
      </p:sp>
      <p:sp>
        <p:nvSpPr>
          <p:cNvPr id="3" name="Content Placeholder 2">
            <a:extLst>
              <a:ext uri="{FF2B5EF4-FFF2-40B4-BE49-F238E27FC236}">
                <a16:creationId xmlns:a16="http://schemas.microsoft.com/office/drawing/2014/main" id="{9BCED0C5-6307-F89F-FD54-9CD8E66F584D}"/>
              </a:ext>
            </a:extLst>
          </p:cNvPr>
          <p:cNvSpPr>
            <a:spLocks noGrp="1"/>
          </p:cNvSpPr>
          <p:nvPr>
            <p:ph idx="1"/>
          </p:nvPr>
        </p:nvSpPr>
        <p:spPr/>
        <p:txBody>
          <a:bodyPr/>
          <a:lstStyle/>
          <a:p>
            <a:endParaRPr lang="en-DE"/>
          </a:p>
        </p:txBody>
      </p:sp>
    </p:spTree>
    <p:extLst>
      <p:ext uri="{BB962C8B-B14F-4D97-AF65-F5344CB8AC3E}">
        <p14:creationId xmlns:p14="http://schemas.microsoft.com/office/powerpoint/2010/main" val="2654195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C4F4C-D566-2700-7332-4FC7E0D6D815}"/>
              </a:ext>
            </a:extLst>
          </p:cNvPr>
          <p:cNvSpPr>
            <a:spLocks noGrp="1"/>
          </p:cNvSpPr>
          <p:nvPr>
            <p:ph type="title"/>
          </p:nvPr>
        </p:nvSpPr>
        <p:spPr/>
        <p:txBody>
          <a:bodyPr/>
          <a:lstStyle/>
          <a:p>
            <a:r>
              <a:rPr lang="de-DE" dirty="0"/>
              <a:t>Key Takeaways</a:t>
            </a:r>
            <a:endParaRPr lang="en-DE" dirty="0"/>
          </a:p>
        </p:txBody>
      </p:sp>
      <p:sp>
        <p:nvSpPr>
          <p:cNvPr id="3" name="Content Placeholder 2">
            <a:extLst>
              <a:ext uri="{FF2B5EF4-FFF2-40B4-BE49-F238E27FC236}">
                <a16:creationId xmlns:a16="http://schemas.microsoft.com/office/drawing/2014/main" id="{1213D7FD-708E-9D08-5438-0C1826F7D0F3}"/>
              </a:ext>
            </a:extLst>
          </p:cNvPr>
          <p:cNvSpPr>
            <a:spLocks noGrp="1"/>
          </p:cNvSpPr>
          <p:nvPr>
            <p:ph idx="1"/>
          </p:nvPr>
        </p:nvSpPr>
        <p:spPr/>
        <p:txBody>
          <a:bodyPr/>
          <a:lstStyle/>
          <a:p>
            <a:r>
              <a:rPr lang="de-DE" dirty="0"/>
              <a:t>Apache </a:t>
            </a:r>
            <a:r>
              <a:rPr lang="de-DE" dirty="0" err="1"/>
              <a:t>ecosystem</a:t>
            </a:r>
            <a:r>
              <a:rPr lang="de-DE" dirty="0"/>
              <a:t> </a:t>
            </a:r>
            <a:r>
              <a:rPr lang="de-DE" dirty="0" err="1"/>
              <a:t>can</a:t>
            </a:r>
            <a:r>
              <a:rPr lang="de-DE" dirty="0"/>
              <a:t> support </a:t>
            </a:r>
            <a:r>
              <a:rPr lang="de-DE" dirty="0" err="1"/>
              <a:t>compliant</a:t>
            </a:r>
            <a:r>
              <a:rPr lang="de-DE" dirty="0"/>
              <a:t> Industrial Data </a:t>
            </a:r>
            <a:r>
              <a:rPr lang="de-DE" dirty="0" err="1"/>
              <a:t>Platforms</a:t>
            </a:r>
            <a:endParaRPr lang="de-DE" dirty="0"/>
          </a:p>
          <a:p>
            <a:r>
              <a:rPr lang="de-DE" dirty="0" err="1"/>
              <a:t>TSFile</a:t>
            </a:r>
            <a:r>
              <a:rPr lang="de-DE" dirty="0"/>
              <a:t> + </a:t>
            </a:r>
            <a:r>
              <a:rPr lang="de-DE" dirty="0" err="1"/>
              <a:t>Iceberg</a:t>
            </a:r>
            <a:r>
              <a:rPr lang="de-DE" dirty="0"/>
              <a:t> = powerful </a:t>
            </a:r>
            <a:r>
              <a:rPr lang="de-DE" dirty="0" err="1"/>
              <a:t>future</a:t>
            </a:r>
            <a:r>
              <a:rPr lang="de-DE" dirty="0"/>
              <a:t> </a:t>
            </a:r>
            <a:r>
              <a:rPr lang="de-DE" dirty="0" err="1"/>
              <a:t>for</a:t>
            </a:r>
            <a:r>
              <a:rPr lang="de-DE" dirty="0"/>
              <a:t> </a:t>
            </a:r>
            <a:r>
              <a:rPr lang="de-DE" dirty="0" err="1"/>
              <a:t>audit‑ready</a:t>
            </a:r>
            <a:r>
              <a:rPr lang="de-DE" dirty="0"/>
              <a:t> </a:t>
            </a:r>
            <a:r>
              <a:rPr lang="de-DE" dirty="0" err="1"/>
              <a:t>data</a:t>
            </a:r>
            <a:r>
              <a:rPr lang="de-DE" dirty="0"/>
              <a:t> </a:t>
            </a:r>
            <a:r>
              <a:rPr lang="de-DE" dirty="0" err="1"/>
              <a:t>lakes</a:t>
            </a:r>
            <a:endParaRPr lang="de-DE" dirty="0"/>
          </a:p>
          <a:p>
            <a:r>
              <a:rPr lang="de-DE" dirty="0"/>
              <a:t>Open source </a:t>
            </a:r>
            <a:r>
              <a:rPr lang="de-DE" dirty="0" err="1"/>
              <a:t>enables</a:t>
            </a:r>
            <a:r>
              <a:rPr lang="de-DE" dirty="0"/>
              <a:t> </a:t>
            </a:r>
            <a:r>
              <a:rPr lang="de-DE" dirty="0" err="1"/>
              <a:t>scalable</a:t>
            </a:r>
            <a:r>
              <a:rPr lang="de-DE" dirty="0"/>
              <a:t>, transparent, </a:t>
            </a:r>
            <a:r>
              <a:rPr lang="de-DE" dirty="0" err="1"/>
              <a:t>vendor</a:t>
            </a:r>
            <a:r>
              <a:rPr lang="de-DE" dirty="0"/>
              <a:t>‑neutral GMP </a:t>
            </a:r>
            <a:r>
              <a:rPr lang="de-DE" dirty="0" err="1"/>
              <a:t>architectures</a:t>
            </a:r>
            <a:endParaRPr lang="en-DE" dirty="0"/>
          </a:p>
        </p:txBody>
      </p:sp>
    </p:spTree>
    <p:extLst>
      <p:ext uri="{BB962C8B-B14F-4D97-AF65-F5344CB8AC3E}">
        <p14:creationId xmlns:p14="http://schemas.microsoft.com/office/powerpoint/2010/main" val="829590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EA191-DE4B-E565-0BB4-D075C440F1EE}"/>
              </a:ext>
            </a:extLst>
          </p:cNvPr>
          <p:cNvSpPr>
            <a:spLocks noGrp="1"/>
          </p:cNvSpPr>
          <p:nvPr>
            <p:ph type="ctrTitle"/>
          </p:nvPr>
        </p:nvSpPr>
        <p:spPr>
          <a:xfrm>
            <a:off x="731520" y="585216"/>
            <a:ext cx="6858000" cy="3200400"/>
          </a:xfrm>
        </p:spPr>
        <p:txBody>
          <a:bodyPr anchor="b">
            <a:normAutofit/>
          </a:bodyPr>
          <a:lstStyle/>
          <a:p>
            <a:r>
              <a:rPr lang="de-DE" dirty="0"/>
              <a:t>Q&amp;A</a:t>
            </a:r>
            <a:endParaRPr lang="en-DE" dirty="0"/>
          </a:p>
        </p:txBody>
      </p:sp>
      <p:sp>
        <p:nvSpPr>
          <p:cNvPr id="8" name="Subtitle 2">
            <a:extLst>
              <a:ext uri="{FF2B5EF4-FFF2-40B4-BE49-F238E27FC236}">
                <a16:creationId xmlns:a16="http://schemas.microsoft.com/office/drawing/2014/main" id="{9DBA2BD8-1159-C004-91AD-8A8ACE287AE1}"/>
              </a:ext>
            </a:extLst>
          </p:cNvPr>
          <p:cNvSpPr>
            <a:spLocks noGrp="1"/>
          </p:cNvSpPr>
          <p:nvPr>
            <p:ph type="subTitle" idx="1"/>
          </p:nvPr>
        </p:nvSpPr>
        <p:spPr>
          <a:xfrm>
            <a:off x="731520" y="4965192"/>
            <a:ext cx="6391656" cy="1490472"/>
          </a:xfrm>
        </p:spPr>
        <p:txBody>
          <a:bodyPr/>
          <a:lstStyle/>
          <a:p>
            <a:endParaRPr lang="en-US"/>
          </a:p>
        </p:txBody>
      </p:sp>
    </p:spTree>
    <p:extLst>
      <p:ext uri="{BB962C8B-B14F-4D97-AF65-F5344CB8AC3E}">
        <p14:creationId xmlns:p14="http://schemas.microsoft.com/office/powerpoint/2010/main" val="215976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037ED-E347-A2AD-29C0-9470684E2678}"/>
              </a:ext>
            </a:extLst>
          </p:cNvPr>
          <p:cNvSpPr>
            <a:spLocks noGrp="1"/>
          </p:cNvSpPr>
          <p:nvPr>
            <p:ph type="ctrTitle"/>
          </p:nvPr>
        </p:nvSpPr>
        <p:spPr>
          <a:xfrm>
            <a:off x="3557016" y="987552"/>
            <a:ext cx="7644384" cy="2944368"/>
          </a:xfrm>
        </p:spPr>
        <p:txBody>
          <a:bodyPr anchor="b">
            <a:normAutofit/>
          </a:bodyPr>
          <a:lstStyle/>
          <a:p>
            <a:r>
              <a:rPr lang="de-DE" dirty="0" err="1"/>
              <a:t>Thank</a:t>
            </a:r>
            <a:r>
              <a:rPr lang="de-DE" dirty="0"/>
              <a:t> </a:t>
            </a:r>
            <a:r>
              <a:rPr lang="de-DE" dirty="0" err="1"/>
              <a:t>you</a:t>
            </a:r>
            <a:r>
              <a:rPr lang="de-DE" dirty="0"/>
              <a:t>!</a:t>
            </a:r>
            <a:endParaRPr lang="en-DE" dirty="0"/>
          </a:p>
        </p:txBody>
      </p:sp>
      <p:sp>
        <p:nvSpPr>
          <p:cNvPr id="8" name="Subtitle 2">
            <a:extLst>
              <a:ext uri="{FF2B5EF4-FFF2-40B4-BE49-F238E27FC236}">
                <a16:creationId xmlns:a16="http://schemas.microsoft.com/office/drawing/2014/main" id="{EC32A7E5-700D-EF34-D978-13FB1F147B0B}"/>
              </a:ext>
            </a:extLst>
          </p:cNvPr>
          <p:cNvSpPr>
            <a:spLocks noGrp="1"/>
          </p:cNvSpPr>
          <p:nvPr>
            <p:ph type="subTitle" idx="1"/>
          </p:nvPr>
        </p:nvSpPr>
        <p:spPr>
          <a:xfrm>
            <a:off x="3538728" y="5294376"/>
            <a:ext cx="7644384" cy="1078992"/>
          </a:xfrm>
        </p:spPr>
        <p:txBody>
          <a:bodyPr/>
          <a:lstStyle/>
          <a:p>
            <a:endParaRPr lang="en-US"/>
          </a:p>
        </p:txBody>
      </p:sp>
    </p:spTree>
    <p:extLst>
      <p:ext uri="{BB962C8B-B14F-4D97-AF65-F5344CB8AC3E}">
        <p14:creationId xmlns:p14="http://schemas.microsoft.com/office/powerpoint/2010/main" val="3971863718"/>
      </p:ext>
    </p:extLst>
  </p:cSld>
  <p:clrMapOvr>
    <a:masterClrMapping/>
  </p:clrMapOvr>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Custom 3">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2640</Words>
  <Application>Microsoft Office PowerPoint</Application>
  <PresentationFormat>Widescreen</PresentationFormat>
  <Paragraphs>277</Paragraphs>
  <Slides>30</Slides>
  <Notes>11</Notes>
  <HiddenSlides>7</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Aptos</vt:lpstr>
      <vt:lpstr>Arial</vt:lpstr>
      <vt:lpstr>Avenir Next LT Pro</vt:lpstr>
      <vt:lpstr>Avenir Next LT Pro Light</vt:lpstr>
      <vt:lpstr>Neue Haas Grotesk Text Pro</vt:lpstr>
      <vt:lpstr>Segoe UI</vt:lpstr>
      <vt:lpstr>GradientRise</vt:lpstr>
      <vt:lpstr>Open Source for Regulated Manufacturing: GMP‑Compliant IIoT Data Logging</vt:lpstr>
      <vt:lpstr>Abstract</vt:lpstr>
      <vt:lpstr>Act 1:  The Inciting Incident – The Regulatory Storm of 2026</vt:lpstr>
      <vt:lpstr>Act 2: The Core Conflict – Mapping ALCOA++ to Data Architecture</vt:lpstr>
      <vt:lpstr>Act 3: The Hero Appears – Apache IoTDB &amp; The Compliant Architecture</vt:lpstr>
      <vt:lpstr>Act 4: The Proof – The GAMP 5 Validation Strategy &amp; Takeaways</vt:lpstr>
      <vt:lpstr>PowerPoint Presentation</vt:lpstr>
      <vt:lpstr>Big Pharma Update: Annex 11 &amp; 22 are Here!</vt:lpstr>
      <vt:lpstr>Introduction </vt:lpstr>
      <vt:lpstr>Annex 11 &amp; FDA 21 CFR Part 11 in 60 Seconds</vt:lpstr>
      <vt:lpstr>GMP Requirements for IIoT Data</vt:lpstr>
      <vt:lpstr>What is ALCOA++ ?</vt:lpstr>
      <vt:lpstr>The 9 ALCOA+ Principles</vt:lpstr>
      <vt:lpstr>PowerPoint Presentation</vt:lpstr>
      <vt:lpstr>PowerPoint Presentation</vt:lpstr>
      <vt:lpstr>Annex 11 Computer System Validation</vt:lpstr>
      <vt:lpstr>PowerPoint Presentation</vt:lpstr>
      <vt:lpstr>Why Traditional Historians Struggle &amp; Are Expensive</vt:lpstr>
      <vt:lpstr>The Role of Open Source in Regulated Environments</vt:lpstr>
      <vt:lpstr>Open Infrastructure Data Commons (OIDC)</vt:lpstr>
      <vt:lpstr>Apache IoTDB as a GMP‑Compliant IIoT Historian</vt:lpstr>
      <vt:lpstr>Apache IoTDB Selected as One of the Top 60 Global Innovation Cases by the United Nations STI Forum</vt:lpstr>
      <vt:lpstr>Core Enabler: Apache TSFile</vt:lpstr>
      <vt:lpstr>Apache Projects for an End‑to‑End IIoT Pipeline</vt:lpstr>
      <vt:lpstr>Reference Architecture</vt:lpstr>
      <vt:lpstr>Compliance Considerations</vt:lpstr>
      <vt:lpstr>Case Example</vt:lpstr>
      <vt:lpstr>Key Takeaways</vt:lpstr>
      <vt:lpstr>Q&amp;A</vt:lpstr>
      <vt:lpstr>Thank you!</vt:lpstr>
    </vt:vector>
  </TitlesOfParts>
  <Company>B. Braun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Lukas Ott</dc:creator>
  <cp:lastModifiedBy>Lukas Ott</cp:lastModifiedBy>
  <cp:revision>1</cp:revision>
  <dcterms:created xsi:type="dcterms:W3CDTF">2026-03-20T11:56:52Z</dcterms:created>
  <dcterms:modified xsi:type="dcterms:W3CDTF">2026-06-19T09:55:22Z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8de25a8-ef47-40a7-b7ec-c38f3edc2acf_Enabled">
    <vt:lpwstr>true</vt:lpwstr>
  </property>
  <property fmtid="{D5CDD505-2E9C-101B-9397-08002B2CF9AE}" pid="3" name="MSIP_Label_a8de25a8-ef47-40a7-b7ec-c38f3edc2acf_SetDate">
    <vt:lpwstr>2026-03-20T11:57:01Z</vt:lpwstr>
  </property>
  <property fmtid="{D5CDD505-2E9C-101B-9397-08002B2CF9AE}" pid="4" name="MSIP_Label_a8de25a8-ef47-40a7-b7ec-c38f3edc2acf_Method">
    <vt:lpwstr>Standard</vt:lpwstr>
  </property>
  <property fmtid="{D5CDD505-2E9C-101B-9397-08002B2CF9AE}" pid="5" name="MSIP_Label_a8de25a8-ef47-40a7-b7ec-c38f3edc2acf_Name">
    <vt:lpwstr>a8de25a8-ef47-40a7-b7ec-c38f3edc2acf</vt:lpwstr>
  </property>
  <property fmtid="{D5CDD505-2E9C-101B-9397-08002B2CF9AE}" pid="6" name="MSIP_Label_a8de25a8-ef47-40a7-b7ec-c38f3edc2acf_SiteId">
    <vt:lpwstr>15d1bef2-0a6a-46f9-be4c-023279325e51</vt:lpwstr>
  </property>
  <property fmtid="{D5CDD505-2E9C-101B-9397-08002B2CF9AE}" pid="7" name="MSIP_Label_a8de25a8-ef47-40a7-b7ec-c38f3edc2acf_ActionId">
    <vt:lpwstr>15d90c93-e104-4021-a51f-3d87532bbe7f</vt:lpwstr>
  </property>
  <property fmtid="{D5CDD505-2E9C-101B-9397-08002B2CF9AE}" pid="8" name="MSIP_Label_a8de25a8-ef47-40a7-b7ec-c38f3edc2acf_ContentBits">
    <vt:lpwstr>0</vt:lpwstr>
  </property>
  <property fmtid="{D5CDD505-2E9C-101B-9397-08002B2CF9AE}" pid="9" name="MSIP_Label_a8de25a8-ef47-40a7-b7ec-c38f3edc2acf_Tag">
    <vt:lpwstr>10, 3, 0, 1</vt:lpwstr>
  </property>
</Properties>
</file>